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tesis en dos frases y detenerse un segundo. Todo lo que sigue prueba estas dos frases: el equipo pasó de operar portabilidad a responder por 18 reportes normativos, y la escala con que se valora sigue siendo la de 2020. Hoy no se pide dinero; se pide un mandato.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Poner la decisión al inicio evita que la conversación derive en montos. Si preguntan "¿por qué ahora?": porque desde abril de 2026 el equipo envía reportes diarios del Registro de Deuda Consolidada, cuyo incumplimiento puede bloquear el acceso del banco a información de la CMF, y porque el rediseño de 2024 dejó pendiente el pesaje de remuneración.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brecha entre 4.608 solicitudes proyectadas y 18 reales explica el origen de la escala: se diseñó para un proceso operativo. El equipo no se disolvió; absorbió la reportería normativa con la misma dotación. Ese es el hecho central de toda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no es la cantidad de códigos sino la frecuencia: dos reportes diarios y tres semanales significan que el equipo no tiene días sin obligación regulatoria. Objeción: "ya está automatizado". Respuesta: la ejecución puede estarlo; la validación, la respuesta a observaciones y cada cambio normativo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Argumento técnico: la escala actual trata todos los reportes como tareas equivalentes, pero la mitad del perímetro está en cuadrantes que exigen un responsable con grado de jefatura y controles formales. Objeción: "los puntajes son subjetivos". Respuesta: por eso la fase 1 de la propuesta es una valoración formal con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riesgo de bloqueo de acceso convierte un problema de cumplimiento en un problema de negocio: afecta la originación. Los precedentes muestran que la CMF sanciona el criterio de inclusión, no solo el atraso; esa decisión la toma hoy un analista del equipo. Objeción: "nunca nos ha pasado". Respuesta: la eficacia de 98,78 % se logró con la mitad de los reportes y sin frecuencias diarias.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de síntesis. Arriba: qué era el cargo y qué es hoy, con seis indicadores. Centro: el salto de nivel por competencia (gris 2020, azul hoy) y, a la derecha, todo lo que se sumó al cargo sin retirar lo anterior. Abajo: la escala es lo único que no cambió. Objeción probable: "el perfil ya se actualizó en 2024"; respuesta: se actualizaron funciones y requisitos y el pesaje de remuneración quedó pendiente en ese mismo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que debe quedar: hoy la cadena la sostienen seis personas en cargos pensados para otra función. Objeción: "esto es crear jefaturas". Respuesta: es reconocer las que ya se ejercen de hecho y formalizar quién firma y quién respalda.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Mantener cualitativo. Si piden cifras: existen rangos públicos para cargos contables genéricos (Robert Half, Buk) que el área puede compartir por separado; el diagnóstico los validará con una encuesta 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permite aprobar hoy sin comprometer presupuesto: la fase 1 no tiene costo externo relevante y produce la evidencia que el comité va a pedir. Objeción: "primero automaticen". Respuesta: la automatización reduce la rutina, no la responsabilidad de firmar ante el regulador; y quien automatiza es el perfil que hay que retener.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el contraste sin dramatizar: son probabilidades, no certezas. Si preguntan por la probabilidad de rotación, usar el dato interno de rotación y vacantes si existe; si no, la escasez del perfil en el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Terminar pidiendo explícitamente la decisión y la fecha. Si el comité no está listo para decidir, pedir al menos el patrocinador y la fecha de retorno.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consulta. Nombres verificados en fuentes públicas de la CMF y del SERNAC donde se indica; confirmar R05, E23, T01 y D51 con 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280160"/>
            <a:ext cx="182880" cy="182880"/>
          </a:xfrm>
          <a:prstGeom prst="rect">
            <a:avLst/>
          </a:prstGeom>
          <a:solidFill>
            <a:srgbClr val="6A9B6E"/>
          </a:solidFill>
          <a:ln w="12700">
            <a:solidFill>
              <a:srgbClr val="6A9B6E"/>
            </a:solidFill>
            <a:prstDash val="solid"/>
          </a:ln>
        </p:spPr>
      </p:sp>
      <p:sp>
        <p:nvSpPr>
          <p:cNvPr id="3" name="Shape 1"/>
          <p:cNvSpPr/>
          <p:nvPr/>
        </p:nvSpPr>
        <p:spPr>
          <a:xfrm>
            <a:off x="822960" y="1280160"/>
            <a:ext cx="182880" cy="182880"/>
          </a:xfrm>
          <a:prstGeom prst="rect">
            <a:avLst/>
          </a:prstGeom>
          <a:solidFill>
            <a:srgbClr val="B85C55"/>
          </a:solidFill>
          <a:ln w="12700">
            <a:solidFill>
              <a:srgbClr val="B85C55"/>
            </a:solidFill>
            <a:prstDash val="solid"/>
          </a:ln>
        </p:spPr>
      </p:sp>
      <p:sp>
        <p:nvSpPr>
          <p:cNvPr id="4" name="Shape 2"/>
          <p:cNvSpPr/>
          <p:nvPr/>
        </p:nvSpPr>
        <p:spPr>
          <a:xfrm>
            <a:off x="1097280" y="1280160"/>
            <a:ext cx="182880" cy="182880"/>
          </a:xfrm>
          <a:prstGeom prst="rect">
            <a:avLst/>
          </a:prstGeom>
          <a:solidFill>
            <a:srgbClr val="4A6FA5"/>
          </a:solidFill>
          <a:ln w="12700">
            <a:solidFill>
              <a:srgbClr val="4A6FA5"/>
            </a:solidFill>
            <a:prstDash val="solid"/>
          </a:ln>
        </p:spPr>
      </p:sp>
      <p:sp>
        <p:nvSpPr>
          <p:cNvPr id="5" name="Shape 3"/>
          <p:cNvSpPr/>
          <p:nvPr/>
        </p:nvSpPr>
        <p:spPr>
          <a:xfrm>
            <a:off x="1371600" y="1280160"/>
            <a:ext cx="182880" cy="182880"/>
          </a:xfrm>
          <a:prstGeom prst="rect">
            <a:avLst/>
          </a:prstGeom>
          <a:solidFill>
            <a:srgbClr val="C9B458"/>
          </a:solidFill>
          <a:ln w="12700">
            <a:solidFill>
              <a:srgbClr val="C9B458"/>
            </a:solidFill>
            <a:prstDash val="solid"/>
          </a:ln>
        </p:spPr>
      </p:sp>
      <p:sp>
        <p:nvSpPr>
          <p:cNvPr id="6" name="Text 4"/>
          <p:cNvSpPr txBox="1"/>
          <p:nvPr/>
        </p:nvSpPr>
        <p:spPr>
          <a:xfrm>
            <a:off x="548640" y="1828800"/>
            <a:ext cx="10058400" cy="914400"/>
          </a:xfrm>
          <a:prstGeom prst="rect">
            <a:avLst/>
          </a:prstGeom>
          <a:noFill/>
          <a:ln/>
        </p:spPr>
        <p:txBody>
          <a:bodyPr wrap="square" lIns="0" tIns="0" rIns="0" bIns="0" rtlCol="0" anchor="ctr"/>
          <a:lstStyle/>
          <a:p>
            <a:pPr indent="0" marL="0">
              <a:buNone/>
            </a:pPr>
            <a:r>
              <a:rPr lang="en-US" sz="4800" b="1" dirty="0">
                <a:solidFill>
                  <a:srgbClr val="2B2F36"/>
                </a:solidFill>
                <a:latin typeface="Cambria" pitchFamily="34" charset="0"/>
                <a:ea typeface="Cambria" pitchFamily="34" charset="-122"/>
                <a:cs typeface="Cambria" pitchFamily="34" charset="-120"/>
              </a:rPr>
              <a:t>El trabajo cambió.</a:t>
            </a:r>
            <a:endParaRPr lang="en-US" sz="4800" dirty="0"/>
          </a:p>
        </p:txBody>
      </p:sp>
      <p:sp>
        <p:nvSpPr>
          <p:cNvPr id="7" name="Text 5"/>
          <p:cNvSpPr txBox="1"/>
          <p:nvPr/>
        </p:nvSpPr>
        <p:spPr>
          <a:xfrm>
            <a:off x="548640" y="2697480"/>
            <a:ext cx="10058400" cy="914400"/>
          </a:xfrm>
          <a:prstGeom prst="rect">
            <a:avLst/>
          </a:prstGeom>
          <a:noFill/>
          <a:ln/>
        </p:spPr>
        <p:txBody>
          <a:bodyPr wrap="square" lIns="0" tIns="0" rIns="0" bIns="0" rtlCol="0" anchor="ctr"/>
          <a:lstStyle/>
          <a:p>
            <a:pPr indent="0" marL="0">
              <a:buNone/>
            </a:pPr>
            <a:r>
              <a:rPr lang="en-US" sz="4800" b="1" dirty="0">
                <a:solidFill>
                  <a:srgbClr val="4A6FA5"/>
                </a:solidFill>
                <a:latin typeface="Cambria" pitchFamily="34" charset="0"/>
                <a:ea typeface="Cambria" pitchFamily="34" charset="-122"/>
                <a:cs typeface="Cambria" pitchFamily="34" charset="-120"/>
              </a:rPr>
              <a:t>La escala no.</a:t>
            </a:r>
            <a:endParaRPr lang="en-US" sz="4800" dirty="0"/>
          </a:p>
        </p:txBody>
      </p:sp>
      <p:sp>
        <p:nvSpPr>
          <p:cNvPr id="8" name="Text 6"/>
          <p:cNvSpPr txBox="1"/>
          <p:nvPr/>
        </p:nvSpPr>
        <p:spPr>
          <a:xfrm>
            <a:off x="548640" y="3886200"/>
            <a:ext cx="7863840" cy="822960"/>
          </a:xfrm>
          <a:prstGeom prst="rect">
            <a:avLst/>
          </a:prstGeom>
          <a:noFill/>
          <a:ln/>
        </p:spPr>
        <p:txBody>
          <a:bodyPr wrap="square" lIns="0" tIns="0" rIns="0" bIns="0" rtlCol="0" anchor="ctr"/>
          <a:lstStyle/>
          <a:p>
            <a:pPr indent="0" marL="0">
              <a:buNone/>
            </a:pPr>
            <a:r>
              <a:rPr lang="en-US" sz="1500" dirty="0">
                <a:solidFill>
                  <a:srgbClr val="5B6470"/>
                </a:solidFill>
                <a:latin typeface="Calibri" pitchFamily="34" charset="0"/>
                <a:ea typeface="Calibri" pitchFamily="34" charset="-122"/>
                <a:cs typeface="Calibri" pitchFamily="34" charset="-120"/>
              </a:rPr>
              <a:t>Por qué la escala de cargos del equipo que genera, valida y envía los reportes normativos a la CMF y al SERNAC debe reevaluarse</a:t>
            </a:r>
            <a:endParaRPr lang="en-US" sz="1500" dirty="0"/>
          </a:p>
        </p:txBody>
      </p:sp>
      <p:sp>
        <p:nvSpPr>
          <p:cNvPr id="9" name="Text 7"/>
          <p:cNvSpPr txBox="1"/>
          <p:nvPr/>
        </p:nvSpPr>
        <p:spPr>
          <a:xfrm>
            <a:off x="548640" y="5943600"/>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Propuesta cualitativa para el comité directivo · Septiembre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LA DECISIÓN</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2</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Lo que se pide hoy son tres acuerdos, ninguno con monto</a:t>
            </a:r>
            <a:endParaRPr lang="en-US" sz="2600" dirty="0"/>
          </a:p>
        </p:txBody>
      </p:sp>
      <p:sp>
        <p:nvSpPr>
          <p:cNvPr id="9" name="Shape 7"/>
          <p:cNvSpPr/>
          <p:nvPr/>
        </p:nvSpPr>
        <p:spPr>
          <a:xfrm>
            <a:off x="548640" y="2011680"/>
            <a:ext cx="3566160" cy="2926080"/>
          </a:xfrm>
          <a:prstGeom prst="roundRect">
            <a:avLst>
              <a:gd name="adj" fmla="val 1875"/>
            </a:avLst>
          </a:prstGeom>
          <a:solidFill>
            <a:srgbClr val="E8F0E8"/>
          </a:solidFill>
          <a:ln w="9525">
            <a:solidFill>
              <a:srgbClr val="E8F0E8"/>
            </a:solidFill>
            <a:prstDash val="solid"/>
          </a:ln>
        </p:spPr>
      </p:sp>
      <p:sp>
        <p:nvSpPr>
          <p:cNvPr id="10" name="Text 8"/>
          <p:cNvSpPr txBox="1"/>
          <p:nvPr/>
        </p:nvSpPr>
        <p:spPr>
          <a:xfrm>
            <a:off x="822960" y="2194560"/>
            <a:ext cx="914400" cy="640080"/>
          </a:xfrm>
          <a:prstGeom prst="rect">
            <a:avLst/>
          </a:prstGeom>
          <a:noFill/>
          <a:ln/>
        </p:spPr>
        <p:txBody>
          <a:bodyPr wrap="square" lIns="0" tIns="0" rIns="0" bIns="0" rtlCol="0" anchor="ctr"/>
          <a:lstStyle/>
          <a:p>
            <a:pPr indent="0" marL="0">
              <a:buNone/>
            </a:pPr>
            <a:r>
              <a:rPr lang="en-US" sz="4000" b="1" dirty="0">
                <a:solidFill>
                  <a:srgbClr val="6A9B6E"/>
                </a:solidFill>
                <a:latin typeface="Cambria" pitchFamily="34" charset="0"/>
                <a:ea typeface="Cambria" pitchFamily="34" charset="-122"/>
                <a:cs typeface="Cambria" pitchFamily="34" charset="-120"/>
              </a:rPr>
              <a:t>1</a:t>
            </a:r>
            <a:endParaRPr lang="en-US" sz="4000" dirty="0"/>
          </a:p>
        </p:txBody>
      </p:sp>
      <p:sp>
        <p:nvSpPr>
          <p:cNvPr id="11" name="Text 9"/>
          <p:cNvSpPr txBox="1"/>
          <p:nvPr/>
        </p:nvSpPr>
        <p:spPr>
          <a:xfrm>
            <a:off x="822960" y="2880360"/>
            <a:ext cx="3017520" cy="365760"/>
          </a:xfrm>
          <a:prstGeom prst="rect">
            <a:avLst/>
          </a:prstGeom>
          <a:noFill/>
          <a:ln/>
        </p:spPr>
        <p:txBody>
          <a:bodyPr wrap="square" lIns="0" tIns="0" rIns="0" bIns="0" rtlCol="0" anchor="ctr"/>
          <a:lstStyle/>
          <a:p>
            <a:pPr indent="0" marL="0">
              <a:buNone/>
            </a:pPr>
            <a:r>
              <a:rPr lang="en-US" sz="1800" b="1" dirty="0">
                <a:solidFill>
                  <a:srgbClr val="2B2F36"/>
                </a:solidFill>
                <a:latin typeface="Calibri" pitchFamily="34" charset="0"/>
                <a:ea typeface="Calibri" pitchFamily="34" charset="-122"/>
                <a:cs typeface="Calibri" pitchFamily="34" charset="-120"/>
              </a:rPr>
              <a:t>Mandato</a:t>
            </a:r>
            <a:endParaRPr lang="en-US" sz="1800" dirty="0"/>
          </a:p>
        </p:txBody>
      </p:sp>
      <p:sp>
        <p:nvSpPr>
          <p:cNvPr id="12" name="Text 10"/>
          <p:cNvSpPr txBox="1"/>
          <p:nvPr/>
        </p:nvSpPr>
        <p:spPr>
          <a:xfrm>
            <a:off x="822960" y="3291840"/>
            <a:ext cx="3017520" cy="14630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Que Personas y la gerencia realicen una valoración formal de los cargos del equipo de reportes normativos, con la rúbrica de alcance de este documento.</a:t>
            </a:r>
            <a:endParaRPr lang="en-US" sz="1200" dirty="0"/>
          </a:p>
        </p:txBody>
      </p:sp>
      <p:sp>
        <p:nvSpPr>
          <p:cNvPr id="13" name="Shape 11"/>
          <p:cNvSpPr/>
          <p:nvPr/>
        </p:nvSpPr>
        <p:spPr>
          <a:xfrm>
            <a:off x="4297680" y="2011680"/>
            <a:ext cx="3566160" cy="2926080"/>
          </a:xfrm>
          <a:prstGeom prst="roundRect">
            <a:avLst>
              <a:gd name="adj" fmla="val 1875"/>
            </a:avLst>
          </a:prstGeom>
          <a:solidFill>
            <a:srgbClr val="E8F0E8"/>
          </a:solidFill>
          <a:ln w="9525">
            <a:solidFill>
              <a:srgbClr val="E8F0E8"/>
            </a:solidFill>
            <a:prstDash val="solid"/>
          </a:ln>
        </p:spPr>
      </p:sp>
      <p:sp>
        <p:nvSpPr>
          <p:cNvPr id="14" name="Text 12"/>
          <p:cNvSpPr txBox="1"/>
          <p:nvPr/>
        </p:nvSpPr>
        <p:spPr>
          <a:xfrm>
            <a:off x="4572000" y="2194560"/>
            <a:ext cx="914400" cy="640080"/>
          </a:xfrm>
          <a:prstGeom prst="rect">
            <a:avLst/>
          </a:prstGeom>
          <a:noFill/>
          <a:ln/>
        </p:spPr>
        <p:txBody>
          <a:bodyPr wrap="square" lIns="0" tIns="0" rIns="0" bIns="0" rtlCol="0" anchor="ctr"/>
          <a:lstStyle/>
          <a:p>
            <a:pPr indent="0" marL="0">
              <a:buNone/>
            </a:pPr>
            <a:r>
              <a:rPr lang="en-US" sz="4000" b="1" dirty="0">
                <a:solidFill>
                  <a:srgbClr val="6A9B6E"/>
                </a:solidFill>
                <a:latin typeface="Cambria" pitchFamily="34" charset="0"/>
                <a:ea typeface="Cambria" pitchFamily="34" charset="-122"/>
                <a:cs typeface="Cambria" pitchFamily="34" charset="-120"/>
              </a:rPr>
              <a:t>2</a:t>
            </a:r>
            <a:endParaRPr lang="en-US" sz="4000" dirty="0"/>
          </a:p>
        </p:txBody>
      </p:sp>
      <p:sp>
        <p:nvSpPr>
          <p:cNvPr id="15" name="Text 13"/>
          <p:cNvSpPr txBox="1"/>
          <p:nvPr/>
        </p:nvSpPr>
        <p:spPr>
          <a:xfrm>
            <a:off x="4572000" y="2880360"/>
            <a:ext cx="3017520" cy="365760"/>
          </a:xfrm>
          <a:prstGeom prst="rect">
            <a:avLst/>
          </a:prstGeom>
          <a:noFill/>
          <a:ln/>
        </p:spPr>
        <p:txBody>
          <a:bodyPr wrap="square" lIns="0" tIns="0" rIns="0" bIns="0" rtlCol="0" anchor="ctr"/>
          <a:lstStyle/>
          <a:p>
            <a:pPr indent="0" marL="0">
              <a:buNone/>
            </a:pPr>
            <a:r>
              <a:rPr lang="en-US" sz="1800" b="1" dirty="0">
                <a:solidFill>
                  <a:srgbClr val="2B2F36"/>
                </a:solidFill>
                <a:latin typeface="Calibri" pitchFamily="34" charset="0"/>
                <a:ea typeface="Calibri" pitchFamily="34" charset="-122"/>
                <a:cs typeface="Calibri" pitchFamily="34" charset="-120"/>
              </a:rPr>
              <a:t>Reconocimiento</a:t>
            </a:r>
            <a:endParaRPr lang="en-US" sz="1800" dirty="0"/>
          </a:p>
        </p:txBody>
      </p:sp>
      <p:sp>
        <p:nvSpPr>
          <p:cNvPr id="16" name="Text 14"/>
          <p:cNvSpPr txBox="1"/>
          <p:nvPr/>
        </p:nvSpPr>
        <p:spPr>
          <a:xfrm>
            <a:off x="4572000" y="3291840"/>
            <a:ext cx="3017520" cy="14630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Formalizar que generar, validar y enviar reportes normativos es una función de control del banco, no una tarea operativa de un producto.</a:t>
            </a:r>
            <a:endParaRPr lang="en-US" sz="1200" dirty="0"/>
          </a:p>
        </p:txBody>
      </p:sp>
      <p:sp>
        <p:nvSpPr>
          <p:cNvPr id="17" name="Shape 15"/>
          <p:cNvSpPr/>
          <p:nvPr/>
        </p:nvSpPr>
        <p:spPr>
          <a:xfrm>
            <a:off x="8046720" y="2011680"/>
            <a:ext cx="3566160" cy="2926080"/>
          </a:xfrm>
          <a:prstGeom prst="roundRect">
            <a:avLst>
              <a:gd name="adj" fmla="val 1875"/>
            </a:avLst>
          </a:prstGeom>
          <a:solidFill>
            <a:srgbClr val="E8F0E8"/>
          </a:solidFill>
          <a:ln w="9525">
            <a:solidFill>
              <a:srgbClr val="E8F0E8"/>
            </a:solidFill>
            <a:prstDash val="solid"/>
          </a:ln>
        </p:spPr>
      </p:sp>
      <p:sp>
        <p:nvSpPr>
          <p:cNvPr id="18" name="Text 16"/>
          <p:cNvSpPr txBox="1"/>
          <p:nvPr/>
        </p:nvSpPr>
        <p:spPr>
          <a:xfrm>
            <a:off x="8321040" y="2194560"/>
            <a:ext cx="914400" cy="640080"/>
          </a:xfrm>
          <a:prstGeom prst="rect">
            <a:avLst/>
          </a:prstGeom>
          <a:noFill/>
          <a:ln/>
        </p:spPr>
        <p:txBody>
          <a:bodyPr wrap="square" lIns="0" tIns="0" rIns="0" bIns="0" rtlCol="0" anchor="ctr"/>
          <a:lstStyle/>
          <a:p>
            <a:pPr indent="0" marL="0">
              <a:buNone/>
            </a:pPr>
            <a:r>
              <a:rPr lang="en-US" sz="4000" b="1" dirty="0">
                <a:solidFill>
                  <a:srgbClr val="6A9B6E"/>
                </a:solidFill>
                <a:latin typeface="Cambria" pitchFamily="34" charset="0"/>
                <a:ea typeface="Cambria" pitchFamily="34" charset="-122"/>
                <a:cs typeface="Cambria" pitchFamily="34" charset="-120"/>
              </a:rPr>
              <a:t>3</a:t>
            </a:r>
            <a:endParaRPr lang="en-US" sz="4000" dirty="0"/>
          </a:p>
        </p:txBody>
      </p:sp>
      <p:sp>
        <p:nvSpPr>
          <p:cNvPr id="19" name="Text 17"/>
          <p:cNvSpPr txBox="1"/>
          <p:nvPr/>
        </p:nvSpPr>
        <p:spPr>
          <a:xfrm>
            <a:off x="8321040" y="2880360"/>
            <a:ext cx="3017520" cy="365760"/>
          </a:xfrm>
          <a:prstGeom prst="rect">
            <a:avLst/>
          </a:prstGeom>
          <a:noFill/>
          <a:ln/>
        </p:spPr>
        <p:txBody>
          <a:bodyPr wrap="square" lIns="0" tIns="0" rIns="0" bIns="0" rtlCol="0" anchor="ctr"/>
          <a:lstStyle/>
          <a:p>
            <a:pPr indent="0" marL="0">
              <a:buNone/>
            </a:pPr>
            <a:r>
              <a:rPr lang="en-US" sz="1800" b="1" dirty="0">
                <a:solidFill>
                  <a:srgbClr val="2B2F36"/>
                </a:solidFill>
                <a:latin typeface="Calibri" pitchFamily="34" charset="0"/>
                <a:ea typeface="Calibri" pitchFamily="34" charset="-122"/>
                <a:cs typeface="Calibri" pitchFamily="34" charset="-120"/>
              </a:rPr>
              <a:t>Patrocinio</a:t>
            </a:r>
            <a:endParaRPr lang="en-US" sz="1800" dirty="0"/>
          </a:p>
        </p:txBody>
      </p:sp>
      <p:sp>
        <p:nvSpPr>
          <p:cNvPr id="20" name="Text 18"/>
          <p:cNvSpPr txBox="1"/>
          <p:nvPr/>
        </p:nvSpPr>
        <p:spPr>
          <a:xfrm>
            <a:off x="8321040" y="3291840"/>
            <a:ext cx="3017520" cy="14630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Un gerente patrocinador y una fecha para volver al comité con la escala propuesta y su costo, una vez completado el diagnóstico.</a:t>
            </a:r>
            <a:endParaRPr lang="en-US" sz="1200" dirty="0"/>
          </a:p>
        </p:txBody>
      </p:sp>
      <p:sp>
        <p:nvSpPr>
          <p:cNvPr id="21" name="Text 19"/>
          <p:cNvSpPr txBox="1"/>
          <p:nvPr/>
        </p:nvSpPr>
        <p:spPr>
          <a:xfrm>
            <a:off x="548640" y="5303520"/>
            <a:ext cx="11091672" cy="457200"/>
          </a:xfrm>
          <a:prstGeom prst="rect">
            <a:avLst/>
          </a:prstGeom>
          <a:noFill/>
          <a:ln/>
        </p:spPr>
        <p:txBody>
          <a:bodyPr wrap="square" lIns="0" tIns="0" rIns="0" bIns="0" rtlCol="0" anchor="ctr"/>
          <a:lstStyle/>
          <a:p>
            <a:pPr indent="0" marL="0">
              <a:buNone/>
            </a:pPr>
            <a:r>
              <a:rPr lang="en-US" sz="1200" b="1" dirty="0">
                <a:solidFill>
                  <a:srgbClr val="5B6470"/>
                </a:solidFill>
                <a:latin typeface="Calibri" pitchFamily="34" charset="0"/>
                <a:ea typeface="Calibri" pitchFamily="34" charset="-122"/>
                <a:cs typeface="Calibri" pitchFamily="34" charset="-120"/>
              </a:rPr>
              <a:t>Lo que no se pide hoy: </a:t>
            </a:r>
            <a:pPr indent="0" marL="0">
              <a:buNone/>
            </a:pPr>
            <a:r>
              <a:rPr lang="en-US" sz="1200" dirty="0">
                <a:solidFill>
                  <a:srgbClr val="5B6470"/>
                </a:solidFill>
                <a:latin typeface="Calibri" pitchFamily="34" charset="0"/>
                <a:ea typeface="Calibri" pitchFamily="34" charset="-122"/>
                <a:cs typeface="Calibri" pitchFamily="34" charset="-120"/>
              </a:rPr>
              <a:t>cifras de remuneración, dotación adicional ni cambios de estructura. Llegan al comité con el resultado del diagnóstico.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LA HISTORIA</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3</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Una unidad creada para una demanda que no llegó, y que se reinventó en cumplimiento</a:t>
            </a:r>
            <a:endParaRPr lang="en-US" sz="2600" dirty="0"/>
          </a:p>
        </p:txBody>
      </p:sp>
      <p:sp>
        <p:nvSpPr>
          <p:cNvPr id="9" name="Text 7"/>
          <p:cNvSpPr txBox="1"/>
          <p:nvPr/>
        </p:nvSpPr>
        <p:spPr>
          <a:xfrm>
            <a:off x="548640" y="1920240"/>
            <a:ext cx="3566160" cy="822960"/>
          </a:xfrm>
          <a:prstGeom prst="rect">
            <a:avLst/>
          </a:prstGeom>
          <a:noFill/>
          <a:ln/>
        </p:spPr>
        <p:txBody>
          <a:bodyPr wrap="square" lIns="0" tIns="0" rIns="0" bIns="0" rtlCol="0" anchor="ctr"/>
          <a:lstStyle/>
          <a:p>
            <a:pPr indent="0" marL="0">
              <a:buNone/>
            </a:pPr>
            <a:r>
              <a:rPr lang="en-US" sz="4000" b="1" dirty="0">
                <a:solidFill>
                  <a:srgbClr val="9AA3AE"/>
                </a:solidFill>
                <a:latin typeface="Calibri" pitchFamily="34" charset="0"/>
                <a:ea typeface="Calibri" pitchFamily="34" charset="-122"/>
                <a:cs typeface="Calibri" pitchFamily="34" charset="-120"/>
              </a:rPr>
              <a:t>4.608 → 18</a:t>
            </a:r>
            <a:endParaRPr lang="en-US" sz="4000" dirty="0"/>
          </a:p>
        </p:txBody>
      </p:sp>
      <p:sp>
        <p:nvSpPr>
          <p:cNvPr id="10" name="Text 8"/>
          <p:cNvSpPr txBox="1"/>
          <p:nvPr/>
        </p:nvSpPr>
        <p:spPr>
          <a:xfrm>
            <a:off x="548640" y="2743200"/>
            <a:ext cx="3291840" cy="6400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solicitudes de portabilidad al año: proyectadas al crear la unidad en 2020 frente a las gestionadas en 2024</a:t>
            </a:r>
            <a:endParaRPr lang="en-US" sz="1150" dirty="0"/>
          </a:p>
        </p:txBody>
      </p:sp>
      <p:sp>
        <p:nvSpPr>
          <p:cNvPr id="11" name="Text 9"/>
          <p:cNvSpPr txBox="1"/>
          <p:nvPr/>
        </p:nvSpPr>
        <p:spPr>
          <a:xfrm>
            <a:off x="4297680" y="1920240"/>
            <a:ext cx="3566160" cy="822960"/>
          </a:xfrm>
          <a:prstGeom prst="rect">
            <a:avLst/>
          </a:prstGeom>
          <a:noFill/>
          <a:ln/>
        </p:spPr>
        <p:txBody>
          <a:bodyPr wrap="square" lIns="0" tIns="0" rIns="0" bIns="0" rtlCol="0" anchor="ctr"/>
          <a:lstStyle/>
          <a:p>
            <a:pPr indent="0" marL="0">
              <a:buNone/>
            </a:pPr>
            <a:r>
              <a:rPr lang="en-US" sz="4000" b="1" dirty="0">
                <a:solidFill>
                  <a:srgbClr val="4A6FA5"/>
                </a:solidFill>
                <a:latin typeface="Calibri" pitchFamily="34" charset="0"/>
                <a:ea typeface="Calibri" pitchFamily="34" charset="-122"/>
                <a:cs typeface="Calibri" pitchFamily="34" charset="-120"/>
              </a:rPr>
              <a:t>1 → 18</a:t>
            </a:r>
            <a:endParaRPr lang="en-US" sz="4000" dirty="0"/>
          </a:p>
        </p:txBody>
      </p:sp>
      <p:sp>
        <p:nvSpPr>
          <p:cNvPr id="12" name="Text 10"/>
          <p:cNvSpPr txBox="1"/>
          <p:nvPr/>
        </p:nvSpPr>
        <p:spPr>
          <a:xfrm>
            <a:off x="4297680" y="2743200"/>
            <a:ext cx="3291840" cy="6400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reportes normativos bajo responsabilidad del equipo, de 2022 a 2026</a:t>
            </a:r>
            <a:endParaRPr lang="en-US" sz="1150" dirty="0"/>
          </a:p>
        </p:txBody>
      </p:sp>
      <p:sp>
        <p:nvSpPr>
          <p:cNvPr id="13" name="Text 11"/>
          <p:cNvSpPr txBox="1"/>
          <p:nvPr/>
        </p:nvSpPr>
        <p:spPr>
          <a:xfrm>
            <a:off x="8046720" y="1920240"/>
            <a:ext cx="3566160" cy="822960"/>
          </a:xfrm>
          <a:prstGeom prst="rect">
            <a:avLst/>
          </a:prstGeom>
          <a:noFill/>
          <a:ln/>
        </p:spPr>
        <p:txBody>
          <a:bodyPr wrap="square" lIns="0" tIns="0" rIns="0" bIns="0" rtlCol="0" anchor="ctr"/>
          <a:lstStyle/>
          <a:p>
            <a:pPr indent="0" marL="0">
              <a:buNone/>
            </a:pPr>
            <a:r>
              <a:rPr lang="en-US" sz="4000" b="1" dirty="0">
                <a:solidFill>
                  <a:srgbClr val="2B2F36"/>
                </a:solidFill>
                <a:latin typeface="Calibri" pitchFamily="34" charset="0"/>
                <a:ea typeface="Calibri" pitchFamily="34" charset="-122"/>
                <a:cs typeface="Calibri" pitchFamily="34" charset="-120"/>
              </a:rPr>
              <a:t>5 → 6</a:t>
            </a:r>
            <a:endParaRPr lang="en-US" sz="4000" dirty="0"/>
          </a:p>
        </p:txBody>
      </p:sp>
      <p:sp>
        <p:nvSpPr>
          <p:cNvPr id="14" name="Text 12"/>
          <p:cNvSpPr txBox="1"/>
          <p:nvPr/>
        </p:nvSpPr>
        <p:spPr>
          <a:xfrm>
            <a:off x="8046720" y="2743200"/>
            <a:ext cx="3291840" cy="6400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personas en la unidad durante todo el período</a:t>
            </a:r>
            <a:endParaRPr lang="en-US" sz="1150" dirty="0"/>
          </a:p>
        </p:txBody>
      </p:sp>
      <p:sp>
        <p:nvSpPr>
          <p:cNvPr id="15" name="Shape 13"/>
          <p:cNvSpPr/>
          <p:nvPr/>
        </p:nvSpPr>
        <p:spPr>
          <a:xfrm>
            <a:off x="548640" y="4160520"/>
            <a:ext cx="11091672" cy="0"/>
          </a:xfrm>
          <a:prstGeom prst="line">
            <a:avLst/>
          </a:prstGeom>
          <a:noFill/>
          <a:ln w="19050">
            <a:solidFill>
              <a:srgbClr val="E3E6EA"/>
            </a:solidFill>
            <a:prstDash val="solid"/>
          </a:ln>
        </p:spPr>
      </p:sp>
      <p:sp>
        <p:nvSpPr>
          <p:cNvPr id="16" name="Shape 14"/>
          <p:cNvSpPr/>
          <p:nvPr/>
        </p:nvSpPr>
        <p:spPr>
          <a:xfrm>
            <a:off x="548640" y="4078224"/>
            <a:ext cx="164592" cy="164592"/>
          </a:xfrm>
          <a:prstGeom prst="ellipse">
            <a:avLst/>
          </a:prstGeom>
          <a:solidFill>
            <a:srgbClr val="9AA3AE"/>
          </a:solidFill>
          <a:ln w="19050">
            <a:solidFill>
              <a:srgbClr val="FFFFFF"/>
            </a:solidFill>
            <a:prstDash val="solid"/>
          </a:ln>
        </p:spPr>
      </p:sp>
      <p:sp>
        <p:nvSpPr>
          <p:cNvPr id="17" name="Text 15"/>
          <p:cNvSpPr txBox="1"/>
          <p:nvPr/>
        </p:nvSpPr>
        <p:spPr>
          <a:xfrm>
            <a:off x="548640" y="4343400"/>
            <a:ext cx="1989734" cy="32004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2020</a:t>
            </a:r>
            <a:endParaRPr lang="en-US" sz="1400" dirty="0"/>
          </a:p>
        </p:txBody>
      </p:sp>
      <p:sp>
        <p:nvSpPr>
          <p:cNvPr id="18" name="Text 16"/>
          <p:cNvSpPr txBox="1"/>
          <p:nvPr/>
        </p:nvSpPr>
        <p:spPr>
          <a:xfrm>
            <a:off x="548640" y="4663440"/>
            <a:ext cx="1989734" cy="11887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Nace la unidad para la Ley 21.236 de Portabilidad. Requisito del cargo: Excel básico.</a:t>
            </a:r>
            <a:endParaRPr lang="en-US" sz="1050" dirty="0"/>
          </a:p>
        </p:txBody>
      </p:sp>
      <p:sp>
        <p:nvSpPr>
          <p:cNvPr id="19" name="Shape 17"/>
          <p:cNvSpPr/>
          <p:nvPr/>
        </p:nvSpPr>
        <p:spPr>
          <a:xfrm>
            <a:off x="2766974" y="4078224"/>
            <a:ext cx="164592" cy="164592"/>
          </a:xfrm>
          <a:prstGeom prst="ellipse">
            <a:avLst/>
          </a:prstGeom>
          <a:solidFill>
            <a:srgbClr val="9AA3AE"/>
          </a:solidFill>
          <a:ln w="19050">
            <a:solidFill>
              <a:srgbClr val="FFFFFF"/>
            </a:solidFill>
            <a:prstDash val="solid"/>
          </a:ln>
        </p:spPr>
      </p:sp>
      <p:sp>
        <p:nvSpPr>
          <p:cNvPr id="20" name="Text 18"/>
          <p:cNvSpPr txBox="1"/>
          <p:nvPr/>
        </p:nvSpPr>
        <p:spPr>
          <a:xfrm>
            <a:off x="2766974" y="4343400"/>
            <a:ext cx="1989734" cy="32004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2022</a:t>
            </a:r>
            <a:endParaRPr lang="en-US" sz="1400" dirty="0"/>
          </a:p>
        </p:txBody>
      </p:sp>
      <p:sp>
        <p:nvSpPr>
          <p:cNvPr id="21" name="Text 19"/>
          <p:cNvSpPr txBox="1"/>
          <p:nvPr/>
        </p:nvSpPr>
        <p:spPr>
          <a:xfrm>
            <a:off x="2766974" y="4663440"/>
            <a:ext cx="1989734" cy="11887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Asume el Estado de Deudores (D10) y, desde octubre, 13 informes a la CMF.</a:t>
            </a:r>
            <a:endParaRPr lang="en-US" sz="1050" dirty="0"/>
          </a:p>
        </p:txBody>
      </p:sp>
      <p:sp>
        <p:nvSpPr>
          <p:cNvPr id="22" name="Shape 20"/>
          <p:cNvSpPr/>
          <p:nvPr/>
        </p:nvSpPr>
        <p:spPr>
          <a:xfrm>
            <a:off x="4985309" y="4078224"/>
            <a:ext cx="164592" cy="164592"/>
          </a:xfrm>
          <a:prstGeom prst="ellipse">
            <a:avLst/>
          </a:prstGeom>
          <a:solidFill>
            <a:srgbClr val="9AA3AE"/>
          </a:solidFill>
          <a:ln w="19050">
            <a:solidFill>
              <a:srgbClr val="FFFFFF"/>
            </a:solidFill>
            <a:prstDash val="solid"/>
          </a:ln>
        </p:spPr>
      </p:sp>
      <p:sp>
        <p:nvSpPr>
          <p:cNvPr id="23" name="Text 21"/>
          <p:cNvSpPr txBox="1"/>
          <p:nvPr/>
        </p:nvSpPr>
        <p:spPr>
          <a:xfrm>
            <a:off x="4985309" y="4343400"/>
            <a:ext cx="1989734" cy="32004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2023</a:t>
            </a:r>
            <a:endParaRPr lang="en-US" sz="1400" dirty="0"/>
          </a:p>
        </p:txBody>
      </p:sp>
      <p:sp>
        <p:nvSpPr>
          <p:cNvPr id="24" name="Text 22"/>
          <p:cNvSpPr txBox="1"/>
          <p:nvPr/>
        </p:nvSpPr>
        <p:spPr>
          <a:xfrm>
            <a:off x="4985309" y="4663440"/>
            <a:ext cx="1989734" cy="11887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Se suman deudores y productos; eficacia promedio de envío 98,78 %.</a:t>
            </a:r>
            <a:endParaRPr lang="en-US" sz="1050" dirty="0"/>
          </a:p>
        </p:txBody>
      </p:sp>
      <p:sp>
        <p:nvSpPr>
          <p:cNvPr id="25" name="Shape 23"/>
          <p:cNvSpPr/>
          <p:nvPr/>
        </p:nvSpPr>
        <p:spPr>
          <a:xfrm>
            <a:off x="7203643" y="4078224"/>
            <a:ext cx="164592" cy="164592"/>
          </a:xfrm>
          <a:prstGeom prst="ellipse">
            <a:avLst/>
          </a:prstGeom>
          <a:solidFill>
            <a:srgbClr val="9AA3AE"/>
          </a:solidFill>
          <a:ln w="19050">
            <a:solidFill>
              <a:srgbClr val="FFFFFF"/>
            </a:solidFill>
            <a:prstDash val="solid"/>
          </a:ln>
        </p:spPr>
      </p:sp>
      <p:sp>
        <p:nvSpPr>
          <p:cNvPr id="26" name="Text 24"/>
          <p:cNvSpPr txBox="1"/>
          <p:nvPr/>
        </p:nvSpPr>
        <p:spPr>
          <a:xfrm>
            <a:off x="7203643" y="4343400"/>
            <a:ext cx="1989734" cy="32004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2024</a:t>
            </a:r>
            <a:endParaRPr lang="en-US" sz="1400" dirty="0"/>
          </a:p>
        </p:txBody>
      </p:sp>
      <p:sp>
        <p:nvSpPr>
          <p:cNvPr id="27" name="Text 25"/>
          <p:cNvSpPr txBox="1"/>
          <p:nvPr/>
        </p:nvSpPr>
        <p:spPr>
          <a:xfrm>
            <a:off x="7203643" y="4663440"/>
            <a:ext cx="1989734" cy="11887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Rediseño del cargo: SQL, Power BI, Databricks. Pendiente: pesaje de remuneración.</a:t>
            </a:r>
            <a:endParaRPr lang="en-US" sz="1050" dirty="0"/>
          </a:p>
        </p:txBody>
      </p:sp>
      <p:sp>
        <p:nvSpPr>
          <p:cNvPr id="28" name="Shape 26"/>
          <p:cNvSpPr/>
          <p:nvPr/>
        </p:nvSpPr>
        <p:spPr>
          <a:xfrm>
            <a:off x="9421978" y="4078224"/>
            <a:ext cx="164592" cy="164592"/>
          </a:xfrm>
          <a:prstGeom prst="ellipse">
            <a:avLst/>
          </a:prstGeom>
          <a:solidFill>
            <a:srgbClr val="4A6FA5"/>
          </a:solidFill>
          <a:ln w="19050">
            <a:solidFill>
              <a:srgbClr val="FFFFFF"/>
            </a:solidFill>
            <a:prstDash val="solid"/>
          </a:ln>
        </p:spPr>
      </p:sp>
      <p:sp>
        <p:nvSpPr>
          <p:cNvPr id="29" name="Text 27"/>
          <p:cNvSpPr txBox="1"/>
          <p:nvPr/>
        </p:nvSpPr>
        <p:spPr>
          <a:xfrm>
            <a:off x="9421978" y="4343400"/>
            <a:ext cx="1989734" cy="320040"/>
          </a:xfrm>
          <a:prstGeom prst="rect">
            <a:avLst/>
          </a:prstGeom>
          <a:noFill/>
          <a:ln/>
        </p:spPr>
        <p:txBody>
          <a:bodyPr wrap="square" lIns="0" tIns="0" rIns="0" bIns="0" rtlCol="0" anchor="ctr"/>
          <a:lstStyle/>
          <a:p>
            <a:pPr indent="0" marL="0">
              <a:buNone/>
            </a:pPr>
            <a:r>
              <a:rPr lang="en-US" sz="1400" b="1" dirty="0">
                <a:solidFill>
                  <a:srgbClr val="4A6FA5"/>
                </a:solidFill>
                <a:latin typeface="Calibri" pitchFamily="34" charset="0"/>
                <a:ea typeface="Calibri" pitchFamily="34" charset="-122"/>
                <a:cs typeface="Calibri" pitchFamily="34" charset="-120"/>
              </a:rPr>
              <a:t>2026</a:t>
            </a:r>
            <a:endParaRPr lang="en-US" sz="1400" dirty="0"/>
          </a:p>
        </p:txBody>
      </p:sp>
      <p:sp>
        <p:nvSpPr>
          <p:cNvPr id="30" name="Text 28"/>
          <p:cNvSpPr txBox="1"/>
          <p:nvPr/>
        </p:nvSpPr>
        <p:spPr>
          <a:xfrm>
            <a:off x="9421978" y="4663440"/>
            <a:ext cx="1989734" cy="11887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Entran los reportes diarios y semanales del Registro de Deuda Consolidada y el reporte al SERNAC.</a:t>
            </a:r>
            <a:endParaRPr lang="en-US" sz="1050" dirty="0"/>
          </a:p>
        </p:txBody>
      </p:sp>
      <p:sp>
        <p:nvSpPr>
          <p:cNvPr id="31" name="Text 29"/>
          <p:cNvSpPr txBox="1"/>
          <p:nvPr/>
        </p:nvSpPr>
        <p:spPr>
          <a:xfrm>
            <a:off x="548640" y="6400800"/>
            <a:ext cx="10360152" cy="228600"/>
          </a:xfrm>
          <a:prstGeom prst="rect">
            <a:avLst/>
          </a:prstGeom>
          <a:noFill/>
          <a:ln/>
        </p:spPr>
        <p:txBody>
          <a:bodyPr wrap="square" lIns="0" tIns="0" rIns="0" bIns="0" rtlCol="0" anchor="ctr"/>
          <a:lstStyle/>
          <a:p>
            <a:pPr indent="0" marL="0">
              <a:buNone/>
            </a:pPr>
            <a:r>
              <a:rPr lang="en-US" sz="800" dirty="0">
                <a:solidFill>
                  <a:srgbClr val="8A94A0"/>
                </a:solidFill>
                <a:latin typeface="Calibri" pitchFamily="34" charset="0"/>
                <a:ea typeface="Calibri" pitchFamily="34" charset="-122"/>
                <a:cs typeface="Calibri" pitchFamily="34" charset="-120"/>
              </a:rPr>
              <a:t>Fuente: presentaciones internas "Historia y métricas Portabilidad", "Evolución de la responsabilidad" y "Diseño organizacional Compliance 2024".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EL PERÍMETRO</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4</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Hoy salen de este equipo 18 reportes hacia la CMF y el SERNAC, y no hay día sin obligación</a:t>
            </a:r>
            <a:endParaRPr lang="en-US" sz="2600" dirty="0"/>
          </a:p>
        </p:txBody>
      </p:sp>
      <p:sp>
        <p:nvSpPr>
          <p:cNvPr id="9" name="Text 7"/>
          <p:cNvSpPr txBox="1"/>
          <p:nvPr/>
        </p:nvSpPr>
        <p:spPr>
          <a:xfrm>
            <a:off x="548640" y="1965960"/>
            <a:ext cx="1371600" cy="274320"/>
          </a:xfrm>
          <a:prstGeom prst="rect">
            <a:avLst/>
          </a:prstGeom>
          <a:noFill/>
          <a:ln/>
        </p:spPr>
        <p:txBody>
          <a:bodyPr wrap="square" lIns="0" tIns="0" rIns="0" bIns="0" rtlCol="0" anchor="ctr"/>
          <a:lstStyle/>
          <a:p>
            <a:pPr indent="0" marL="0">
              <a:buNone/>
            </a:pPr>
            <a:r>
              <a:rPr lang="en-US" sz="1300" b="1" dirty="0">
                <a:solidFill>
                  <a:srgbClr val="2B2F36"/>
                </a:solidFill>
                <a:latin typeface="Calibri" pitchFamily="34" charset="0"/>
                <a:ea typeface="Calibri" pitchFamily="34" charset="-122"/>
                <a:cs typeface="Calibri" pitchFamily="34" charset="-120"/>
              </a:rPr>
              <a:t>Diario</a:t>
            </a:r>
            <a:endParaRPr lang="en-US" sz="1300" dirty="0"/>
          </a:p>
        </p:txBody>
      </p:sp>
      <p:sp>
        <p:nvSpPr>
          <p:cNvPr id="10" name="Text 8"/>
          <p:cNvSpPr txBox="1"/>
          <p:nvPr/>
        </p:nvSpPr>
        <p:spPr>
          <a:xfrm>
            <a:off x="548640" y="2240280"/>
            <a:ext cx="1645920" cy="457200"/>
          </a:xfrm>
          <a:prstGeom prst="rect">
            <a:avLst/>
          </a:prstGeom>
          <a:noFill/>
          <a:ln/>
        </p:spPr>
        <p:txBody>
          <a:bodyPr wrap="square" lIns="0" tIns="0" rIns="0" bIns="0" rtlCol="0" anchor="t"/>
          <a:lstStyle/>
          <a:p>
            <a:pPr indent="0" marL="0">
              <a:buNone/>
            </a:pPr>
            <a:r>
              <a:rPr lang="en-US" sz="900" dirty="0">
                <a:solidFill>
                  <a:srgbClr val="8A94A0"/>
                </a:solidFill>
                <a:latin typeface="Calibri" pitchFamily="34" charset="0"/>
                <a:ea typeface="Calibri" pitchFamily="34" charset="-122"/>
                <a:cs typeface="Calibri" pitchFamily="34" charset="-120"/>
              </a:rPr>
              <a:t>Sin margen de atraso</a:t>
            </a:r>
            <a:endParaRPr lang="en-US" sz="900" dirty="0"/>
          </a:p>
        </p:txBody>
      </p:sp>
      <p:sp>
        <p:nvSpPr>
          <p:cNvPr id="11" name="Text 9"/>
          <p:cNvSpPr txBox="1"/>
          <p:nvPr/>
        </p:nvSpPr>
        <p:spPr>
          <a:xfrm>
            <a:off x="2377440" y="1965960"/>
            <a:ext cx="841248" cy="274320"/>
          </a:xfrm>
          <a:prstGeom prst="roundRect">
            <a:avLst>
              <a:gd name="adj" fmla="val 1666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R05</a:t>
            </a:r>
            <a:endParaRPr lang="en-US" sz="950" dirty="0"/>
          </a:p>
        </p:txBody>
      </p:sp>
      <p:sp>
        <p:nvSpPr>
          <p:cNvPr id="12" name="Text 10"/>
          <p:cNvSpPr txBox="1"/>
          <p:nvPr/>
        </p:nvSpPr>
        <p:spPr>
          <a:xfrm>
            <a:off x="3310128" y="1965960"/>
            <a:ext cx="841248" cy="274320"/>
          </a:xfrm>
          <a:prstGeom prst="roundRect">
            <a:avLst>
              <a:gd name="adj" fmla="val 1666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RDC40</a:t>
            </a:r>
            <a:endParaRPr lang="en-US" sz="950" dirty="0"/>
          </a:p>
        </p:txBody>
      </p:sp>
      <p:sp>
        <p:nvSpPr>
          <p:cNvPr id="13" name="Text 11"/>
          <p:cNvSpPr txBox="1"/>
          <p:nvPr/>
        </p:nvSpPr>
        <p:spPr>
          <a:xfrm>
            <a:off x="548640" y="2788920"/>
            <a:ext cx="1371600" cy="274320"/>
          </a:xfrm>
          <a:prstGeom prst="rect">
            <a:avLst/>
          </a:prstGeom>
          <a:noFill/>
          <a:ln/>
        </p:spPr>
        <p:txBody>
          <a:bodyPr wrap="square" lIns="0" tIns="0" rIns="0" bIns="0" rtlCol="0" anchor="ctr"/>
          <a:lstStyle/>
          <a:p>
            <a:pPr indent="0" marL="0">
              <a:buNone/>
            </a:pPr>
            <a:r>
              <a:rPr lang="en-US" sz="1300" b="1" dirty="0">
                <a:solidFill>
                  <a:srgbClr val="2B2F36"/>
                </a:solidFill>
                <a:latin typeface="Calibri" pitchFamily="34" charset="0"/>
                <a:ea typeface="Calibri" pitchFamily="34" charset="-122"/>
                <a:cs typeface="Calibri" pitchFamily="34" charset="-120"/>
              </a:rPr>
              <a:t>Semanal</a:t>
            </a:r>
            <a:endParaRPr lang="en-US" sz="1300" dirty="0"/>
          </a:p>
        </p:txBody>
      </p:sp>
      <p:sp>
        <p:nvSpPr>
          <p:cNvPr id="14" name="Text 12"/>
          <p:cNvSpPr txBox="1"/>
          <p:nvPr/>
        </p:nvSpPr>
        <p:spPr>
          <a:xfrm>
            <a:off x="548640" y="3063240"/>
            <a:ext cx="1645920" cy="457200"/>
          </a:xfrm>
          <a:prstGeom prst="rect">
            <a:avLst/>
          </a:prstGeom>
          <a:noFill/>
          <a:ln/>
        </p:spPr>
        <p:txBody>
          <a:bodyPr wrap="square" lIns="0" tIns="0" rIns="0" bIns="0" rtlCol="0" anchor="t"/>
          <a:lstStyle/>
          <a:p>
            <a:pPr indent="0" marL="0">
              <a:buNone/>
            </a:pPr>
            <a:r>
              <a:rPr lang="en-US" sz="900" dirty="0">
                <a:solidFill>
                  <a:srgbClr val="8A94A0"/>
                </a:solidFill>
                <a:latin typeface="Calibri" pitchFamily="34" charset="0"/>
                <a:ea typeface="Calibri" pitchFamily="34" charset="-122"/>
                <a:cs typeface="Calibri" pitchFamily="34" charset="-120"/>
              </a:rPr>
              <a:t>D10 y RDC01 también tienen versión mensual</a:t>
            </a:r>
            <a:endParaRPr lang="en-US" sz="900" dirty="0"/>
          </a:p>
        </p:txBody>
      </p:sp>
      <p:sp>
        <p:nvSpPr>
          <p:cNvPr id="15" name="Text 13"/>
          <p:cNvSpPr txBox="1"/>
          <p:nvPr/>
        </p:nvSpPr>
        <p:spPr>
          <a:xfrm>
            <a:off x="2377440" y="278892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RDC02</a:t>
            </a:r>
            <a:endParaRPr lang="en-US" sz="950" dirty="0"/>
          </a:p>
        </p:txBody>
      </p:sp>
      <p:sp>
        <p:nvSpPr>
          <p:cNvPr id="16" name="Text 14"/>
          <p:cNvSpPr txBox="1"/>
          <p:nvPr/>
        </p:nvSpPr>
        <p:spPr>
          <a:xfrm>
            <a:off x="3310128" y="278892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D10</a:t>
            </a:r>
            <a:endParaRPr lang="en-US" sz="950" dirty="0"/>
          </a:p>
        </p:txBody>
      </p:sp>
      <p:sp>
        <p:nvSpPr>
          <p:cNvPr id="17" name="Text 15"/>
          <p:cNvSpPr txBox="1"/>
          <p:nvPr/>
        </p:nvSpPr>
        <p:spPr>
          <a:xfrm>
            <a:off x="4242816" y="278892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RDC01</a:t>
            </a:r>
            <a:endParaRPr lang="en-US" sz="950" dirty="0"/>
          </a:p>
        </p:txBody>
      </p:sp>
      <p:sp>
        <p:nvSpPr>
          <p:cNvPr id="18" name="Text 16"/>
          <p:cNvSpPr txBox="1"/>
          <p:nvPr/>
        </p:nvSpPr>
        <p:spPr>
          <a:xfrm>
            <a:off x="548640" y="3611880"/>
            <a:ext cx="1371600" cy="274320"/>
          </a:xfrm>
          <a:prstGeom prst="rect">
            <a:avLst/>
          </a:prstGeom>
          <a:noFill/>
          <a:ln/>
        </p:spPr>
        <p:txBody>
          <a:bodyPr wrap="square" lIns="0" tIns="0" rIns="0" bIns="0" rtlCol="0" anchor="ctr"/>
          <a:lstStyle/>
          <a:p>
            <a:pPr indent="0" marL="0">
              <a:buNone/>
            </a:pPr>
            <a:r>
              <a:rPr lang="en-US" sz="1300" b="1" dirty="0">
                <a:solidFill>
                  <a:srgbClr val="2B2F36"/>
                </a:solidFill>
                <a:latin typeface="Calibri" pitchFamily="34" charset="0"/>
                <a:ea typeface="Calibri" pitchFamily="34" charset="-122"/>
                <a:cs typeface="Calibri" pitchFamily="34" charset="-120"/>
              </a:rPr>
              <a:t>Mensual</a:t>
            </a:r>
            <a:endParaRPr lang="en-US" sz="1300" dirty="0"/>
          </a:p>
        </p:txBody>
      </p:sp>
      <p:sp>
        <p:nvSpPr>
          <p:cNvPr id="19" name="Text 17"/>
          <p:cNvSpPr txBox="1"/>
          <p:nvPr/>
        </p:nvSpPr>
        <p:spPr>
          <a:xfrm>
            <a:off x="548640" y="3886200"/>
            <a:ext cx="1645920" cy="457200"/>
          </a:xfrm>
          <a:prstGeom prst="rect">
            <a:avLst/>
          </a:prstGeom>
          <a:noFill/>
          <a:ln/>
        </p:spPr>
        <p:txBody>
          <a:bodyPr wrap="square" lIns="0" tIns="0" rIns="0" bIns="0" rtlCol="0" anchor="t"/>
          <a:lstStyle/>
          <a:p>
            <a:pPr indent="0" marL="0">
              <a:buNone/>
            </a:pPr>
            <a:r>
              <a:rPr lang="en-US" sz="900" dirty="0">
                <a:solidFill>
                  <a:srgbClr val="8A94A0"/>
                </a:solidFill>
                <a:latin typeface="Calibri" pitchFamily="34" charset="0"/>
                <a:ea typeface="Calibri" pitchFamily="34" charset="-122"/>
                <a:cs typeface="Calibri" pitchFamily="34" charset="-120"/>
              </a:rPr>
              <a:t>Primeros días hábiles del mes</a:t>
            </a:r>
            <a:endParaRPr lang="en-US" sz="900" dirty="0"/>
          </a:p>
        </p:txBody>
      </p:sp>
      <p:sp>
        <p:nvSpPr>
          <p:cNvPr id="20" name="Text 18"/>
          <p:cNvSpPr txBox="1"/>
          <p:nvPr/>
        </p:nvSpPr>
        <p:spPr>
          <a:xfrm>
            <a:off x="2377440" y="361188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E23</a:t>
            </a:r>
            <a:endParaRPr lang="en-US" sz="950" dirty="0"/>
          </a:p>
        </p:txBody>
      </p:sp>
      <p:sp>
        <p:nvSpPr>
          <p:cNvPr id="21" name="Text 19"/>
          <p:cNvSpPr txBox="1"/>
          <p:nvPr/>
        </p:nvSpPr>
        <p:spPr>
          <a:xfrm>
            <a:off x="3310128" y="361188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Sernac</a:t>
            </a:r>
            <a:endParaRPr lang="en-US" sz="950" dirty="0"/>
          </a:p>
        </p:txBody>
      </p:sp>
      <p:sp>
        <p:nvSpPr>
          <p:cNvPr id="22" name="Text 20"/>
          <p:cNvSpPr txBox="1"/>
          <p:nvPr/>
        </p:nvSpPr>
        <p:spPr>
          <a:xfrm>
            <a:off x="4242816" y="361188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D02</a:t>
            </a:r>
            <a:endParaRPr lang="en-US" sz="950" dirty="0"/>
          </a:p>
        </p:txBody>
      </p:sp>
      <p:sp>
        <p:nvSpPr>
          <p:cNvPr id="23" name="Text 21"/>
          <p:cNvSpPr txBox="1"/>
          <p:nvPr/>
        </p:nvSpPr>
        <p:spPr>
          <a:xfrm>
            <a:off x="5175504" y="361188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D03</a:t>
            </a:r>
            <a:endParaRPr lang="en-US" sz="950" dirty="0"/>
          </a:p>
        </p:txBody>
      </p:sp>
      <p:sp>
        <p:nvSpPr>
          <p:cNvPr id="24" name="Text 22"/>
          <p:cNvSpPr txBox="1"/>
          <p:nvPr/>
        </p:nvSpPr>
        <p:spPr>
          <a:xfrm>
            <a:off x="6108192" y="361188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T01</a:t>
            </a:r>
            <a:endParaRPr lang="en-US" sz="950" dirty="0"/>
          </a:p>
        </p:txBody>
      </p:sp>
      <p:sp>
        <p:nvSpPr>
          <p:cNvPr id="25" name="Text 23"/>
          <p:cNvSpPr txBox="1"/>
          <p:nvPr/>
        </p:nvSpPr>
        <p:spPr>
          <a:xfrm>
            <a:off x="7040880" y="361188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P14</a:t>
            </a:r>
            <a:endParaRPr lang="en-US" sz="950" dirty="0"/>
          </a:p>
        </p:txBody>
      </p:sp>
      <p:sp>
        <p:nvSpPr>
          <p:cNvPr id="26" name="Text 24"/>
          <p:cNvSpPr txBox="1"/>
          <p:nvPr/>
        </p:nvSpPr>
        <p:spPr>
          <a:xfrm>
            <a:off x="2377440" y="397764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P15</a:t>
            </a:r>
            <a:endParaRPr lang="en-US" sz="950" dirty="0"/>
          </a:p>
        </p:txBody>
      </p:sp>
      <p:sp>
        <p:nvSpPr>
          <p:cNvPr id="27" name="Text 25"/>
          <p:cNvSpPr txBox="1"/>
          <p:nvPr/>
        </p:nvSpPr>
        <p:spPr>
          <a:xfrm>
            <a:off x="3310128" y="397764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P16</a:t>
            </a:r>
            <a:endParaRPr lang="en-US" sz="950" dirty="0"/>
          </a:p>
        </p:txBody>
      </p:sp>
      <p:sp>
        <p:nvSpPr>
          <p:cNvPr id="28" name="Text 26"/>
          <p:cNvSpPr txBox="1"/>
          <p:nvPr/>
        </p:nvSpPr>
        <p:spPr>
          <a:xfrm>
            <a:off x="4242816" y="397764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P22</a:t>
            </a:r>
            <a:endParaRPr lang="en-US" sz="950" dirty="0"/>
          </a:p>
        </p:txBody>
      </p:sp>
      <p:sp>
        <p:nvSpPr>
          <p:cNvPr id="29" name="Text 27"/>
          <p:cNvSpPr txBox="1"/>
          <p:nvPr/>
        </p:nvSpPr>
        <p:spPr>
          <a:xfrm>
            <a:off x="5175504" y="397764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P37</a:t>
            </a:r>
            <a:endParaRPr lang="en-US" sz="950" dirty="0"/>
          </a:p>
        </p:txBody>
      </p:sp>
      <p:sp>
        <p:nvSpPr>
          <p:cNvPr id="30" name="Text 28"/>
          <p:cNvSpPr txBox="1"/>
          <p:nvPr/>
        </p:nvSpPr>
        <p:spPr>
          <a:xfrm>
            <a:off x="6108192" y="397764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P38</a:t>
            </a:r>
            <a:endParaRPr lang="en-US" sz="950" dirty="0"/>
          </a:p>
        </p:txBody>
      </p:sp>
      <p:sp>
        <p:nvSpPr>
          <p:cNvPr id="31" name="Text 29"/>
          <p:cNvSpPr txBox="1"/>
          <p:nvPr/>
        </p:nvSpPr>
        <p:spPr>
          <a:xfrm>
            <a:off x="7040880" y="397764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P39</a:t>
            </a:r>
            <a:endParaRPr lang="en-US" sz="950" dirty="0"/>
          </a:p>
        </p:txBody>
      </p:sp>
      <p:sp>
        <p:nvSpPr>
          <p:cNvPr id="32" name="Text 30"/>
          <p:cNvSpPr txBox="1"/>
          <p:nvPr/>
        </p:nvSpPr>
        <p:spPr>
          <a:xfrm>
            <a:off x="548640" y="4663440"/>
            <a:ext cx="1371600" cy="274320"/>
          </a:xfrm>
          <a:prstGeom prst="rect">
            <a:avLst/>
          </a:prstGeom>
          <a:noFill/>
          <a:ln/>
        </p:spPr>
        <p:txBody>
          <a:bodyPr wrap="square" lIns="0" tIns="0" rIns="0" bIns="0" rtlCol="0" anchor="ctr"/>
          <a:lstStyle/>
          <a:p>
            <a:pPr indent="0" marL="0">
              <a:buNone/>
            </a:pPr>
            <a:r>
              <a:rPr lang="en-US" sz="1300" b="1" dirty="0">
                <a:solidFill>
                  <a:srgbClr val="2B2F36"/>
                </a:solidFill>
                <a:latin typeface="Calibri" pitchFamily="34" charset="0"/>
                <a:ea typeface="Calibri" pitchFamily="34" charset="-122"/>
                <a:cs typeface="Calibri" pitchFamily="34" charset="-120"/>
              </a:rPr>
              <a:t>Trimestral</a:t>
            </a:r>
            <a:endParaRPr lang="en-US" sz="1300" dirty="0"/>
          </a:p>
        </p:txBody>
      </p:sp>
      <p:sp>
        <p:nvSpPr>
          <p:cNvPr id="33" name="Text 31"/>
          <p:cNvSpPr txBox="1"/>
          <p:nvPr/>
        </p:nvSpPr>
        <p:spPr>
          <a:xfrm>
            <a:off x="548640" y="4937760"/>
            <a:ext cx="1645920" cy="457200"/>
          </a:xfrm>
          <a:prstGeom prst="rect">
            <a:avLst/>
          </a:prstGeom>
          <a:noFill/>
          <a:ln/>
        </p:spPr>
        <p:txBody>
          <a:bodyPr wrap="square" lIns="0" tIns="0" rIns="0" bIns="0" rtlCol="0" anchor="t"/>
          <a:lstStyle/>
          <a:p>
            <a:pPr indent="0" marL="0">
              <a:buNone/>
            </a:pPr>
            <a:r>
              <a:rPr lang="en-US" sz="900" dirty="0">
                <a:solidFill>
                  <a:srgbClr val="8A94A0"/>
                </a:solidFill>
                <a:latin typeface="Calibri" pitchFamily="34" charset="0"/>
                <a:ea typeface="Calibri" pitchFamily="34" charset="-122"/>
                <a:cs typeface="Calibri" pitchFamily="34" charset="-120"/>
              </a:rPr>
              <a:t>Cierre trimestral</a:t>
            </a:r>
            <a:endParaRPr lang="en-US" sz="900" dirty="0"/>
          </a:p>
        </p:txBody>
      </p:sp>
      <p:sp>
        <p:nvSpPr>
          <p:cNvPr id="34" name="Text 32"/>
          <p:cNvSpPr txBox="1"/>
          <p:nvPr/>
        </p:nvSpPr>
        <p:spPr>
          <a:xfrm>
            <a:off x="2377440" y="4663440"/>
            <a:ext cx="841248" cy="274320"/>
          </a:xfrm>
          <a:prstGeom prst="roundRect">
            <a:avLst>
              <a:gd name="adj" fmla="val 16667"/>
            </a:avLst>
          </a:prstGeom>
          <a:solidFill>
            <a:srgbClr val="E6ECF5"/>
          </a:solidFill>
          <a:ln>
            <a:solidFill>
              <a:srgbClr val="E6ECF5"/>
            </a:solidFill>
          </a:ln>
        </p:spPr>
        <p:txBody>
          <a:bodyPr wrap="square" lIns="0" tIns="0" rIns="0" bIns="0" rtlCol="0" anchor="ctr"/>
          <a:lstStyle/>
          <a:p>
            <a:pPr algn="ctr" indent="0" marL="0">
              <a:buNone/>
            </a:pPr>
            <a:r>
              <a:rPr lang="en-US" sz="950" b="1" dirty="0">
                <a:solidFill>
                  <a:srgbClr val="34517D"/>
                </a:solidFill>
                <a:latin typeface="Courier New" pitchFamily="34" charset="0"/>
                <a:ea typeface="Courier New" pitchFamily="34" charset="-122"/>
                <a:cs typeface="Courier New" pitchFamily="34" charset="-120"/>
              </a:rPr>
              <a:t>D51</a:t>
            </a:r>
            <a:endParaRPr lang="en-US" sz="950" dirty="0"/>
          </a:p>
        </p:txBody>
      </p:sp>
      <p:sp>
        <p:nvSpPr>
          <p:cNvPr id="35" name="Text 33"/>
          <p:cNvSpPr txBox="1"/>
          <p:nvPr/>
        </p:nvSpPr>
        <p:spPr>
          <a:xfrm>
            <a:off x="8412480" y="1920240"/>
            <a:ext cx="3200400" cy="731520"/>
          </a:xfrm>
          <a:prstGeom prst="rect">
            <a:avLst/>
          </a:prstGeom>
          <a:noFill/>
          <a:ln/>
        </p:spPr>
        <p:txBody>
          <a:bodyPr wrap="square" lIns="0" tIns="0" rIns="0" bIns="0" rtlCol="0" anchor="ctr"/>
          <a:lstStyle/>
          <a:p>
            <a:pPr indent="0" marL="0">
              <a:buNone/>
            </a:pPr>
            <a:r>
              <a:rPr lang="en-US" sz="4000" b="1" dirty="0">
                <a:solidFill>
                  <a:srgbClr val="4A6FA5"/>
                </a:solidFill>
                <a:latin typeface="Calibri" pitchFamily="34" charset="0"/>
                <a:ea typeface="Calibri" pitchFamily="34" charset="-122"/>
                <a:cs typeface="Calibri" pitchFamily="34" charset="-120"/>
              </a:rPr>
              <a:t>+100</a:t>
            </a:r>
            <a:endParaRPr lang="en-US" sz="4000" dirty="0"/>
          </a:p>
        </p:txBody>
      </p:sp>
      <p:sp>
        <p:nvSpPr>
          <p:cNvPr id="36" name="Text 34"/>
          <p:cNvSpPr txBox="1"/>
          <p:nvPr/>
        </p:nvSpPr>
        <p:spPr>
          <a:xfrm>
            <a:off x="8412480" y="2651760"/>
            <a:ext cx="3108960" cy="457200"/>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envíos al regulador por mes, según el indicador interno de la unidad</a:t>
            </a:r>
            <a:endParaRPr lang="en-US" sz="1100" dirty="0"/>
          </a:p>
        </p:txBody>
      </p:sp>
      <p:sp>
        <p:nvSpPr>
          <p:cNvPr id="37" name="Text 35"/>
          <p:cNvSpPr txBox="1"/>
          <p:nvPr/>
        </p:nvSpPr>
        <p:spPr>
          <a:xfrm>
            <a:off x="8412480" y="3337560"/>
            <a:ext cx="3200400" cy="731520"/>
          </a:xfrm>
          <a:prstGeom prst="rect">
            <a:avLst/>
          </a:prstGeom>
          <a:noFill/>
          <a:ln/>
        </p:spPr>
        <p:txBody>
          <a:bodyPr wrap="square" lIns="0" tIns="0" rIns="0" bIns="0" rtlCol="0" anchor="ctr"/>
          <a:lstStyle/>
          <a:p>
            <a:pPr indent="0" marL="0">
              <a:buNone/>
            </a:pPr>
            <a:r>
              <a:rPr lang="en-US" sz="4000" b="1" dirty="0">
                <a:solidFill>
                  <a:srgbClr val="2B2F36"/>
                </a:solidFill>
                <a:latin typeface="Calibri" pitchFamily="34" charset="0"/>
                <a:ea typeface="Calibri" pitchFamily="34" charset="-122"/>
                <a:cs typeface="Calibri" pitchFamily="34" charset="-120"/>
              </a:rPr>
              <a:t>98,78 %</a:t>
            </a:r>
            <a:endParaRPr lang="en-US" sz="4000" dirty="0"/>
          </a:p>
        </p:txBody>
      </p:sp>
      <p:sp>
        <p:nvSpPr>
          <p:cNvPr id="38" name="Text 36"/>
          <p:cNvSpPr txBox="1"/>
          <p:nvPr/>
        </p:nvSpPr>
        <p:spPr>
          <a:xfrm>
            <a:off x="8412480" y="4069080"/>
            <a:ext cx="3108960" cy="457200"/>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eficacia promedio de envío, con margen permitido de 3 %</a:t>
            </a:r>
            <a:endParaRPr lang="en-US" sz="1100" dirty="0"/>
          </a:p>
        </p:txBody>
      </p:sp>
      <p:sp>
        <p:nvSpPr>
          <p:cNvPr id="39" name="Text 37"/>
          <p:cNvSpPr txBox="1"/>
          <p:nvPr/>
        </p:nvSpPr>
        <p:spPr>
          <a:xfrm>
            <a:off x="548640" y="5669280"/>
            <a:ext cx="7589520" cy="548640"/>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El perímetro cambia sin aviso: la Circular N° 2.376 elimina D02, P15 y P22 con último envío en septiembre de 2026, mientras el Registro de Deuda Consolidada entra en régimen diario.</a:t>
            </a:r>
            <a:endParaRPr lang="en-US" sz="1050" dirty="0"/>
          </a:p>
        </p:txBody>
      </p:sp>
      <p:sp>
        <p:nvSpPr>
          <p:cNvPr id="40" name="Text 38"/>
          <p:cNvSpPr txBox="1"/>
          <p:nvPr/>
        </p:nvSpPr>
        <p:spPr>
          <a:xfrm>
            <a:off x="548640" y="6400800"/>
            <a:ext cx="10360152" cy="228600"/>
          </a:xfrm>
          <a:prstGeom prst="rect">
            <a:avLst/>
          </a:prstGeom>
          <a:noFill/>
          <a:ln/>
        </p:spPr>
        <p:txBody>
          <a:bodyPr wrap="square" lIns="0" tIns="0" rIns="0" bIns="0" rtlCol="0" anchor="ctr"/>
          <a:lstStyle/>
          <a:p>
            <a:pPr indent="0" marL="0">
              <a:buNone/>
            </a:pPr>
            <a:r>
              <a:rPr lang="en-US" sz="800" dirty="0">
                <a:solidFill>
                  <a:srgbClr val="8A94A0"/>
                </a:solidFill>
                <a:latin typeface="Calibri" pitchFamily="34" charset="0"/>
                <a:ea typeface="Calibri" pitchFamily="34" charset="-122"/>
                <a:cs typeface="Calibri" pitchFamily="34" charset="-120"/>
              </a:rPr>
              <a:t>Listado y frecuencias: responsable del área. Eficacia y volumen: indicador interno. Circular N° 2.376: comunicado público de la CMF, verificar vigencia.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LA COMPLEJIDAD</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5</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No todos los reportes pesan lo mismo: cuatro concentran la exposición legal</a:t>
            </a:r>
            <a:endParaRPr lang="en-US" sz="2600" dirty="0"/>
          </a:p>
        </p:txBody>
      </p:sp>
      <p:sp>
        <p:nvSpPr>
          <p:cNvPr id="9" name="Shape 7"/>
          <p:cNvSpPr/>
          <p:nvPr/>
        </p:nvSpPr>
        <p:spPr>
          <a:xfrm>
            <a:off x="4206240" y="1920240"/>
            <a:ext cx="3657600" cy="2057400"/>
          </a:xfrm>
          <a:prstGeom prst="rect">
            <a:avLst/>
          </a:prstGeom>
          <a:solidFill>
            <a:srgbClr val="F6F7F9"/>
          </a:solidFill>
          <a:ln w="12700">
            <a:solidFill>
              <a:srgbClr val="F6F7F9"/>
            </a:solidFill>
            <a:prstDash val="solid"/>
          </a:ln>
        </p:spPr>
      </p:sp>
      <p:sp>
        <p:nvSpPr>
          <p:cNvPr id="10" name="Shape 8"/>
          <p:cNvSpPr/>
          <p:nvPr/>
        </p:nvSpPr>
        <p:spPr>
          <a:xfrm>
            <a:off x="548640" y="1920240"/>
            <a:ext cx="7315200" cy="4114800"/>
          </a:xfrm>
          <a:prstGeom prst="rect">
            <a:avLst/>
          </a:prstGeom>
          <a:ln w="12700">
            <a:solidFill>
              <a:srgbClr val="E3E6EA"/>
            </a:solidFill>
            <a:prstDash val="solid"/>
          </a:ln>
        </p:spPr>
      </p:sp>
      <p:sp>
        <p:nvSpPr>
          <p:cNvPr id="11" name="Shape 9"/>
          <p:cNvSpPr/>
          <p:nvPr/>
        </p:nvSpPr>
        <p:spPr>
          <a:xfrm>
            <a:off x="4206240" y="1920240"/>
            <a:ext cx="0" cy="4114800"/>
          </a:xfrm>
          <a:prstGeom prst="line">
            <a:avLst/>
          </a:prstGeom>
          <a:noFill/>
          <a:ln w="12700">
            <a:solidFill>
              <a:srgbClr val="E3E6EA"/>
            </a:solidFill>
            <a:prstDash val="solid"/>
          </a:ln>
        </p:spPr>
      </p:sp>
      <p:sp>
        <p:nvSpPr>
          <p:cNvPr id="12" name="Shape 10"/>
          <p:cNvSpPr/>
          <p:nvPr/>
        </p:nvSpPr>
        <p:spPr>
          <a:xfrm>
            <a:off x="548640" y="3977640"/>
            <a:ext cx="7315200" cy="0"/>
          </a:xfrm>
          <a:prstGeom prst="line">
            <a:avLst/>
          </a:prstGeom>
          <a:noFill/>
          <a:ln w="12700">
            <a:solidFill>
              <a:srgbClr val="E3E6EA"/>
            </a:solidFill>
            <a:prstDash val="solid"/>
          </a:ln>
        </p:spPr>
      </p:sp>
      <p:sp>
        <p:nvSpPr>
          <p:cNvPr id="13" name="Text 11"/>
          <p:cNvSpPr txBox="1"/>
          <p:nvPr/>
        </p:nvSpPr>
        <p:spPr>
          <a:xfrm>
            <a:off x="640080" y="1975104"/>
            <a:ext cx="3657600" cy="228600"/>
          </a:xfrm>
          <a:prstGeom prst="rect">
            <a:avLst/>
          </a:prstGeom>
          <a:noFill/>
          <a:ln/>
        </p:spPr>
        <p:txBody>
          <a:bodyPr wrap="square" lIns="0" tIns="0" rIns="0" bIns="0" rtlCol="0" anchor="ctr"/>
          <a:lstStyle/>
          <a:p>
            <a:pPr indent="0" marL="0">
              <a:buNone/>
            </a:pPr>
            <a:r>
              <a:rPr lang="en-US" sz="850" b="1" spc="100" kern="0" dirty="0">
                <a:solidFill>
                  <a:srgbClr val="8A94A0"/>
                </a:solidFill>
                <a:latin typeface="Calibri" pitchFamily="34" charset="0"/>
                <a:ea typeface="Calibri" pitchFamily="34" charset="-122"/>
                <a:cs typeface="Calibri" pitchFamily="34" charset="-120"/>
              </a:rPr>
              <a:t>OPERACIÓN CRÍTICA DE ALTA FRECUENCIA</a:t>
            </a:r>
            <a:endParaRPr lang="en-US" sz="850" dirty="0"/>
          </a:p>
        </p:txBody>
      </p:sp>
      <p:sp>
        <p:nvSpPr>
          <p:cNvPr id="14" name="Text 12"/>
          <p:cNvSpPr txBox="1"/>
          <p:nvPr/>
        </p:nvSpPr>
        <p:spPr>
          <a:xfrm>
            <a:off x="4297680" y="1975104"/>
            <a:ext cx="3474720" cy="228600"/>
          </a:xfrm>
          <a:prstGeom prst="rect">
            <a:avLst/>
          </a:prstGeom>
          <a:noFill/>
          <a:ln/>
        </p:spPr>
        <p:txBody>
          <a:bodyPr wrap="square" lIns="0" tIns="0" rIns="0" bIns="0" rtlCol="0" anchor="ctr"/>
          <a:lstStyle/>
          <a:p>
            <a:pPr algn="r" indent="0" marL="0">
              <a:buNone/>
            </a:pPr>
            <a:r>
              <a:rPr lang="en-US" sz="850" b="1" spc="100" kern="0" dirty="0">
                <a:solidFill>
                  <a:srgbClr val="8A94A0"/>
                </a:solidFill>
                <a:latin typeface="Calibri" pitchFamily="34" charset="0"/>
                <a:ea typeface="Calibri" pitchFamily="34" charset="-122"/>
                <a:cs typeface="Calibri" pitchFamily="34" charset="-120"/>
              </a:rPr>
              <a:t>NÚCLEO DE CUMPLIMIENTO</a:t>
            </a:r>
            <a:endParaRPr lang="en-US" sz="850" dirty="0"/>
          </a:p>
        </p:txBody>
      </p:sp>
      <p:sp>
        <p:nvSpPr>
          <p:cNvPr id="15" name="Text 13"/>
          <p:cNvSpPr txBox="1"/>
          <p:nvPr/>
        </p:nvSpPr>
        <p:spPr>
          <a:xfrm>
            <a:off x="640080" y="5742432"/>
            <a:ext cx="2743200" cy="228600"/>
          </a:xfrm>
          <a:prstGeom prst="rect">
            <a:avLst/>
          </a:prstGeom>
          <a:noFill/>
          <a:ln/>
        </p:spPr>
        <p:txBody>
          <a:bodyPr wrap="square" lIns="0" tIns="0" rIns="0" bIns="0" rtlCol="0" anchor="ctr"/>
          <a:lstStyle/>
          <a:p>
            <a:pPr indent="0" marL="0">
              <a:buNone/>
            </a:pPr>
            <a:r>
              <a:rPr lang="en-US" sz="850" b="1" spc="100" kern="0" dirty="0">
                <a:solidFill>
                  <a:srgbClr val="8A94A0"/>
                </a:solidFill>
                <a:latin typeface="Calibri" pitchFamily="34" charset="0"/>
                <a:ea typeface="Calibri" pitchFamily="34" charset="-122"/>
                <a:cs typeface="Calibri" pitchFamily="34" charset="-120"/>
              </a:rPr>
              <a:t>RUTINA</a:t>
            </a:r>
            <a:endParaRPr lang="en-US" sz="850" dirty="0"/>
          </a:p>
        </p:txBody>
      </p:sp>
      <p:sp>
        <p:nvSpPr>
          <p:cNvPr id="16" name="Text 14"/>
          <p:cNvSpPr txBox="1"/>
          <p:nvPr/>
        </p:nvSpPr>
        <p:spPr>
          <a:xfrm>
            <a:off x="4297680" y="5742432"/>
            <a:ext cx="3474720" cy="228600"/>
          </a:xfrm>
          <a:prstGeom prst="rect">
            <a:avLst/>
          </a:prstGeom>
          <a:noFill/>
          <a:ln/>
        </p:spPr>
        <p:txBody>
          <a:bodyPr wrap="square" lIns="0" tIns="0" rIns="0" bIns="0" rtlCol="0" anchor="ctr"/>
          <a:lstStyle/>
          <a:p>
            <a:pPr algn="r" indent="0" marL="0">
              <a:buNone/>
            </a:pPr>
            <a:r>
              <a:rPr lang="en-US" sz="850" b="1" spc="100" kern="0" dirty="0">
                <a:solidFill>
                  <a:srgbClr val="8A94A0"/>
                </a:solidFill>
                <a:latin typeface="Calibri" pitchFamily="34" charset="0"/>
                <a:ea typeface="Calibri" pitchFamily="34" charset="-122"/>
                <a:cs typeface="Calibri" pitchFamily="34" charset="-120"/>
              </a:rPr>
              <a:t>ESPECIALIZACIÓN TÉCNICA</a:t>
            </a:r>
            <a:endParaRPr lang="en-US" sz="850" dirty="0"/>
          </a:p>
        </p:txBody>
      </p:sp>
      <p:sp>
        <p:nvSpPr>
          <p:cNvPr id="17" name="Text 15"/>
          <p:cNvSpPr txBox="1"/>
          <p:nvPr/>
        </p:nvSpPr>
        <p:spPr>
          <a:xfrm>
            <a:off x="548640" y="6080760"/>
            <a:ext cx="7315200" cy="228600"/>
          </a:xfrm>
          <a:prstGeom prst="rect">
            <a:avLst/>
          </a:prstGeom>
          <a:noFill/>
          <a:ln/>
        </p:spPr>
        <p:txBody>
          <a:bodyPr wrap="square" lIns="0" tIns="0" rIns="0" bIns="0" rtlCol="0" anchor="ctr"/>
          <a:lstStyle/>
          <a:p>
            <a:pPr algn="ctr" indent="0" marL="0">
              <a:buNone/>
            </a:pPr>
            <a:r>
              <a:rPr lang="en-US" sz="900" dirty="0">
                <a:solidFill>
                  <a:srgbClr val="8A94A0"/>
                </a:solidFill>
                <a:latin typeface="Calibri" pitchFamily="34" charset="0"/>
                <a:ea typeface="Calibri" pitchFamily="34" charset="-122"/>
                <a:cs typeface="Calibri" pitchFamily="34" charset="-120"/>
              </a:rPr>
              <a:t>Complejidad técnica →</a:t>
            </a:r>
            <a:endParaRPr lang="en-US" sz="900" dirty="0"/>
          </a:p>
        </p:txBody>
      </p:sp>
      <p:sp>
        <p:nvSpPr>
          <p:cNvPr id="18" name="Text 16"/>
          <p:cNvSpPr txBox="1"/>
          <p:nvPr/>
        </p:nvSpPr>
        <p:spPr>
          <a:xfrm rot="16200000">
            <a:off x="45720" y="3867912"/>
            <a:ext cx="1005840" cy="228600"/>
          </a:xfrm>
          <a:prstGeom prst="rect">
            <a:avLst/>
          </a:prstGeom>
          <a:noFill/>
          <a:ln/>
        </p:spPr>
        <p:txBody>
          <a:bodyPr wrap="square" lIns="0" tIns="0" rIns="0" bIns="0" rtlCol="0" anchor="ctr"/>
          <a:lstStyle/>
          <a:p>
            <a:pPr algn="ctr" indent="0" marL="0">
              <a:buNone/>
            </a:pPr>
            <a:r>
              <a:rPr lang="en-US" sz="900" dirty="0">
                <a:solidFill>
                  <a:srgbClr val="8A94A0"/>
                </a:solidFill>
                <a:latin typeface="Calibri" pitchFamily="34" charset="0"/>
                <a:ea typeface="Calibri" pitchFamily="34" charset="-122"/>
                <a:cs typeface="Calibri" pitchFamily="34" charset="-120"/>
              </a:rPr>
              <a:t>Criticidad →</a:t>
            </a:r>
            <a:endParaRPr lang="en-US" sz="900" dirty="0"/>
          </a:p>
        </p:txBody>
      </p:sp>
      <p:sp>
        <p:nvSpPr>
          <p:cNvPr id="19" name="Text 17"/>
          <p:cNvSpPr txBox="1"/>
          <p:nvPr/>
        </p:nvSpPr>
        <p:spPr>
          <a:xfrm>
            <a:off x="5065776" y="2121408"/>
            <a:ext cx="621792" cy="256032"/>
          </a:xfrm>
          <a:prstGeom prst="roundRect">
            <a:avLst>
              <a:gd name="adj" fmla="val 17857"/>
            </a:avLst>
          </a:prstGeom>
          <a:solidFill>
            <a:srgbClr val="34517D"/>
          </a:solidFill>
          <a:ln>
            <a:solidFill>
              <a:srgbClr val="34517D"/>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RDC40</a:t>
            </a:r>
            <a:endParaRPr lang="en-US" sz="950" dirty="0"/>
          </a:p>
        </p:txBody>
      </p:sp>
      <p:sp>
        <p:nvSpPr>
          <p:cNvPr id="20" name="Text 18"/>
          <p:cNvSpPr txBox="1"/>
          <p:nvPr/>
        </p:nvSpPr>
        <p:spPr>
          <a:xfrm>
            <a:off x="5285232" y="2409444"/>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RDC01</a:t>
            </a:r>
            <a:endParaRPr lang="en-US" sz="950" dirty="0"/>
          </a:p>
        </p:txBody>
      </p:sp>
      <p:sp>
        <p:nvSpPr>
          <p:cNvPr id="21" name="Text 19"/>
          <p:cNvSpPr txBox="1"/>
          <p:nvPr/>
        </p:nvSpPr>
        <p:spPr>
          <a:xfrm>
            <a:off x="4626864" y="2615184"/>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RDC02</a:t>
            </a:r>
            <a:endParaRPr lang="en-US" sz="950" dirty="0"/>
          </a:p>
        </p:txBody>
      </p:sp>
      <p:sp>
        <p:nvSpPr>
          <p:cNvPr id="22" name="Text 20"/>
          <p:cNvSpPr txBox="1"/>
          <p:nvPr/>
        </p:nvSpPr>
        <p:spPr>
          <a:xfrm>
            <a:off x="3602736" y="2162556"/>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R05</a:t>
            </a:r>
            <a:endParaRPr lang="en-US" sz="950" dirty="0"/>
          </a:p>
        </p:txBody>
      </p:sp>
      <p:sp>
        <p:nvSpPr>
          <p:cNvPr id="23" name="Text 21"/>
          <p:cNvSpPr txBox="1"/>
          <p:nvPr/>
        </p:nvSpPr>
        <p:spPr>
          <a:xfrm>
            <a:off x="4187952" y="2862072"/>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D10</a:t>
            </a:r>
            <a:endParaRPr lang="en-US" sz="950" dirty="0"/>
          </a:p>
        </p:txBody>
      </p:sp>
      <p:sp>
        <p:nvSpPr>
          <p:cNvPr id="24" name="Text 22"/>
          <p:cNvSpPr txBox="1"/>
          <p:nvPr/>
        </p:nvSpPr>
        <p:spPr>
          <a:xfrm>
            <a:off x="3456432" y="3067812"/>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D03</a:t>
            </a:r>
            <a:endParaRPr lang="en-US" sz="950" dirty="0"/>
          </a:p>
        </p:txBody>
      </p:sp>
      <p:sp>
        <p:nvSpPr>
          <p:cNvPr id="25" name="Text 23"/>
          <p:cNvSpPr txBox="1"/>
          <p:nvPr/>
        </p:nvSpPr>
        <p:spPr>
          <a:xfrm>
            <a:off x="2871216" y="2820924"/>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D02</a:t>
            </a:r>
            <a:endParaRPr lang="en-US" sz="950" dirty="0"/>
          </a:p>
        </p:txBody>
      </p:sp>
      <p:sp>
        <p:nvSpPr>
          <p:cNvPr id="26" name="Text 24"/>
          <p:cNvSpPr txBox="1"/>
          <p:nvPr/>
        </p:nvSpPr>
        <p:spPr>
          <a:xfrm>
            <a:off x="2651760" y="3314700"/>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Sernac</a:t>
            </a:r>
            <a:endParaRPr lang="en-US" sz="950" dirty="0"/>
          </a:p>
        </p:txBody>
      </p:sp>
      <p:sp>
        <p:nvSpPr>
          <p:cNvPr id="27" name="Text 25"/>
          <p:cNvSpPr txBox="1"/>
          <p:nvPr/>
        </p:nvSpPr>
        <p:spPr>
          <a:xfrm>
            <a:off x="4773168" y="3479292"/>
            <a:ext cx="621792" cy="256032"/>
          </a:xfrm>
          <a:prstGeom prst="roundRect">
            <a:avLst>
              <a:gd name="adj" fmla="val 17857"/>
            </a:avLst>
          </a:prstGeom>
          <a:solidFill>
            <a:srgbClr val="4A6FA5"/>
          </a:solidFill>
          <a:ln>
            <a:solidFill>
              <a:srgbClr val="4A6FA5"/>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D51</a:t>
            </a:r>
            <a:endParaRPr lang="en-US" sz="950" dirty="0"/>
          </a:p>
        </p:txBody>
      </p:sp>
      <p:sp>
        <p:nvSpPr>
          <p:cNvPr id="28" name="Text 26"/>
          <p:cNvSpPr txBox="1"/>
          <p:nvPr/>
        </p:nvSpPr>
        <p:spPr>
          <a:xfrm>
            <a:off x="3602736" y="3602736"/>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E23</a:t>
            </a:r>
            <a:endParaRPr lang="en-US" sz="950" dirty="0"/>
          </a:p>
        </p:txBody>
      </p:sp>
      <p:sp>
        <p:nvSpPr>
          <p:cNvPr id="29" name="Text 27"/>
          <p:cNvSpPr txBox="1"/>
          <p:nvPr/>
        </p:nvSpPr>
        <p:spPr>
          <a:xfrm>
            <a:off x="2432304" y="3685032"/>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T01</a:t>
            </a:r>
            <a:endParaRPr lang="en-US" sz="950" dirty="0"/>
          </a:p>
        </p:txBody>
      </p:sp>
      <p:sp>
        <p:nvSpPr>
          <p:cNvPr id="30" name="Text 28"/>
          <p:cNvSpPr txBox="1"/>
          <p:nvPr/>
        </p:nvSpPr>
        <p:spPr>
          <a:xfrm>
            <a:off x="2724912" y="4178808"/>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P37</a:t>
            </a:r>
            <a:endParaRPr lang="en-US" sz="950" dirty="0"/>
          </a:p>
        </p:txBody>
      </p:sp>
      <p:sp>
        <p:nvSpPr>
          <p:cNvPr id="31" name="Text 29"/>
          <p:cNvSpPr txBox="1"/>
          <p:nvPr/>
        </p:nvSpPr>
        <p:spPr>
          <a:xfrm>
            <a:off x="3236976" y="4178808"/>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P38</a:t>
            </a:r>
            <a:endParaRPr lang="en-US" sz="950" dirty="0"/>
          </a:p>
        </p:txBody>
      </p:sp>
      <p:sp>
        <p:nvSpPr>
          <p:cNvPr id="32" name="Text 30"/>
          <p:cNvSpPr txBox="1"/>
          <p:nvPr/>
        </p:nvSpPr>
        <p:spPr>
          <a:xfrm>
            <a:off x="3749040" y="4178808"/>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P39</a:t>
            </a:r>
            <a:endParaRPr lang="en-US" sz="950" dirty="0"/>
          </a:p>
        </p:txBody>
      </p:sp>
      <p:sp>
        <p:nvSpPr>
          <p:cNvPr id="33" name="Text 31"/>
          <p:cNvSpPr txBox="1"/>
          <p:nvPr/>
        </p:nvSpPr>
        <p:spPr>
          <a:xfrm>
            <a:off x="1993392" y="4590288"/>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P14</a:t>
            </a:r>
            <a:endParaRPr lang="en-US" sz="950" dirty="0"/>
          </a:p>
        </p:txBody>
      </p:sp>
      <p:sp>
        <p:nvSpPr>
          <p:cNvPr id="34" name="Text 32"/>
          <p:cNvSpPr txBox="1"/>
          <p:nvPr/>
        </p:nvSpPr>
        <p:spPr>
          <a:xfrm>
            <a:off x="2505456" y="4590288"/>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P16</a:t>
            </a:r>
            <a:endParaRPr lang="en-US" sz="950" dirty="0"/>
          </a:p>
        </p:txBody>
      </p:sp>
      <p:sp>
        <p:nvSpPr>
          <p:cNvPr id="35" name="Text 33"/>
          <p:cNvSpPr txBox="1"/>
          <p:nvPr/>
        </p:nvSpPr>
        <p:spPr>
          <a:xfrm>
            <a:off x="1847088" y="5001768"/>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P15</a:t>
            </a:r>
            <a:endParaRPr lang="en-US" sz="950" dirty="0"/>
          </a:p>
        </p:txBody>
      </p:sp>
      <p:sp>
        <p:nvSpPr>
          <p:cNvPr id="36" name="Text 34"/>
          <p:cNvSpPr txBox="1"/>
          <p:nvPr/>
        </p:nvSpPr>
        <p:spPr>
          <a:xfrm>
            <a:off x="2359152" y="5001768"/>
            <a:ext cx="621792" cy="256032"/>
          </a:xfrm>
          <a:prstGeom prst="roundRect">
            <a:avLst>
              <a:gd name="adj" fmla="val 17857"/>
            </a:avLst>
          </a:prstGeom>
          <a:solidFill>
            <a:srgbClr val="A9BEDC"/>
          </a:solidFill>
          <a:ln>
            <a:solidFill>
              <a:srgbClr val="A9BEDC"/>
            </a:solidFill>
          </a:ln>
        </p:spPr>
        <p:txBody>
          <a:bodyPr wrap="square" lIns="0" tIns="0" rIns="0" bIns="0" rtlCol="0" anchor="ctr"/>
          <a:lstStyle/>
          <a:p>
            <a:pPr algn="ctr" indent="0" marL="0">
              <a:buNone/>
            </a:pPr>
            <a:r>
              <a:rPr lang="en-US" sz="950" b="1" dirty="0">
                <a:solidFill>
                  <a:srgbClr val="2B2F36"/>
                </a:solidFill>
                <a:latin typeface="Courier New" pitchFamily="34" charset="0"/>
                <a:ea typeface="Courier New" pitchFamily="34" charset="-122"/>
                <a:cs typeface="Courier New" pitchFamily="34" charset="-120"/>
              </a:rPr>
              <a:t>P22</a:t>
            </a:r>
            <a:endParaRPr lang="en-US" sz="950" dirty="0"/>
          </a:p>
        </p:txBody>
      </p:sp>
      <p:sp>
        <p:nvSpPr>
          <p:cNvPr id="37" name="Text 35"/>
          <p:cNvSpPr txBox="1"/>
          <p:nvPr/>
        </p:nvSpPr>
        <p:spPr>
          <a:xfrm>
            <a:off x="8321040" y="1920240"/>
            <a:ext cx="3291840" cy="32004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Cómo leerlo</a:t>
            </a:r>
            <a:endParaRPr lang="en-US" sz="1400" dirty="0"/>
          </a:p>
        </p:txBody>
      </p:sp>
      <p:sp>
        <p:nvSpPr>
          <p:cNvPr id="38" name="Shape 36"/>
          <p:cNvSpPr/>
          <p:nvPr/>
        </p:nvSpPr>
        <p:spPr>
          <a:xfrm>
            <a:off x="8321040" y="2359152"/>
            <a:ext cx="146304" cy="146304"/>
          </a:xfrm>
          <a:prstGeom prst="ellipse">
            <a:avLst/>
          </a:prstGeom>
          <a:solidFill>
            <a:srgbClr val="34517D"/>
          </a:solidFill>
          <a:ln w="12700">
            <a:solidFill>
              <a:srgbClr val="34517D"/>
            </a:solidFill>
            <a:prstDash val="solid"/>
          </a:ln>
        </p:spPr>
      </p:sp>
      <p:sp>
        <p:nvSpPr>
          <p:cNvPr id="39" name="Text 37"/>
          <p:cNvSpPr txBox="1"/>
          <p:nvPr/>
        </p:nvSpPr>
        <p:spPr>
          <a:xfrm>
            <a:off x="8558784" y="2286000"/>
            <a:ext cx="3017520" cy="292608"/>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Responsable Subgerente (G4)</a:t>
            </a:r>
            <a:endParaRPr lang="en-US" sz="1050" dirty="0"/>
          </a:p>
        </p:txBody>
      </p:sp>
      <p:sp>
        <p:nvSpPr>
          <p:cNvPr id="40" name="Shape 38"/>
          <p:cNvSpPr/>
          <p:nvPr/>
        </p:nvSpPr>
        <p:spPr>
          <a:xfrm>
            <a:off x="8321040" y="2651760"/>
            <a:ext cx="146304" cy="146304"/>
          </a:xfrm>
          <a:prstGeom prst="ellipse">
            <a:avLst/>
          </a:prstGeom>
          <a:solidFill>
            <a:srgbClr val="4A6FA5"/>
          </a:solidFill>
          <a:ln w="12700">
            <a:solidFill>
              <a:srgbClr val="4A6FA5"/>
            </a:solidFill>
            <a:prstDash val="solid"/>
          </a:ln>
        </p:spPr>
      </p:sp>
      <p:sp>
        <p:nvSpPr>
          <p:cNvPr id="41" name="Text 39"/>
          <p:cNvSpPr txBox="1"/>
          <p:nvPr/>
        </p:nvSpPr>
        <p:spPr>
          <a:xfrm>
            <a:off x="8558784" y="2578608"/>
            <a:ext cx="3017520" cy="292608"/>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Responsable Jefe (G3)</a:t>
            </a:r>
            <a:endParaRPr lang="en-US" sz="1050" dirty="0"/>
          </a:p>
        </p:txBody>
      </p:sp>
      <p:sp>
        <p:nvSpPr>
          <p:cNvPr id="42" name="Shape 40"/>
          <p:cNvSpPr/>
          <p:nvPr/>
        </p:nvSpPr>
        <p:spPr>
          <a:xfrm>
            <a:off x="8321040" y="2944368"/>
            <a:ext cx="146304" cy="146304"/>
          </a:xfrm>
          <a:prstGeom prst="ellipse">
            <a:avLst/>
          </a:prstGeom>
          <a:solidFill>
            <a:srgbClr val="A9BEDC"/>
          </a:solidFill>
          <a:ln w="12700">
            <a:solidFill>
              <a:srgbClr val="A9BEDC"/>
            </a:solidFill>
            <a:prstDash val="solid"/>
          </a:ln>
        </p:spPr>
      </p:sp>
      <p:sp>
        <p:nvSpPr>
          <p:cNvPr id="43" name="Text 41"/>
          <p:cNvSpPr txBox="1"/>
          <p:nvPr/>
        </p:nvSpPr>
        <p:spPr>
          <a:xfrm>
            <a:off x="8558784" y="2871216"/>
            <a:ext cx="3017520" cy="292608"/>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Responsable Analista Senior (G2)</a:t>
            </a:r>
            <a:endParaRPr lang="en-US" sz="1050" dirty="0"/>
          </a:p>
        </p:txBody>
      </p:sp>
      <p:sp>
        <p:nvSpPr>
          <p:cNvPr id="44" name="Text 42"/>
          <p:cNvSpPr txBox="1"/>
          <p:nvPr/>
        </p:nvSpPr>
        <p:spPr>
          <a:xfrm>
            <a:off x="8321040" y="3291840"/>
            <a:ext cx="3291840" cy="265176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5B6470"/>
                </a:solidFill>
                <a:latin typeface="Calibri" pitchFamily="34" charset="0"/>
                <a:ea typeface="Calibri" pitchFamily="34" charset="-122"/>
                <a:cs typeface="Calibri" pitchFamily="34" charset="-120"/>
              </a:rPr>
              <a:t>Arriba: el error tiene consecuencia regulatoria directa. Los tres del Registro de Deuda Consolidada pueden además bloquear el acceso del banco a información de la CMF.</a:t>
            </a:r>
            <a:endParaRPr lang="en-US" sz="1050" dirty="0"/>
          </a:p>
          <a:p>
            <a:pPr marL="152400" indent="-152400">
              <a:spcAft>
                <a:spcPts val="600"/>
              </a:spcAft>
              <a:buSzPct val="100000"/>
              <a:buChar char="•"/>
            </a:pPr>
            <a:r>
              <a:rPr lang="en-US" sz="1050" dirty="0">
                <a:solidFill>
                  <a:srgbClr val="5B6470"/>
                </a:solidFill>
                <a:latin typeface="Calibri" pitchFamily="34" charset="0"/>
                <a:ea typeface="Calibri" pitchFamily="34" charset="-122"/>
                <a:cs typeface="Calibri" pitchFamily="34" charset="-120"/>
              </a:rPr>
              <a:t>Izquierda: la dificultad no es interpretar la norma sino no fallar nunca. Exige control dual y respaldos.</a:t>
            </a:r>
            <a:endParaRPr lang="en-US" sz="1050" dirty="0"/>
          </a:p>
          <a:p>
            <a:pPr marL="152400" indent="-152400">
              <a:spcAft>
                <a:spcPts val="600"/>
              </a:spcAft>
              <a:buSzPct val="100000"/>
              <a:buChar char="•"/>
            </a:pPr>
            <a:r>
              <a:rPr lang="en-US" sz="1050" dirty="0">
                <a:solidFill>
                  <a:srgbClr val="5B6470"/>
                </a:solidFill>
                <a:latin typeface="Calibri" pitchFamily="34" charset="0"/>
                <a:ea typeface="Calibri" pitchFamily="34" charset="-122"/>
                <a:cs typeface="Calibri" pitchFamily="34" charset="-120"/>
              </a:rPr>
              <a:t>Abajo: rutina estadística. Donde formar analistas y automatizar.</a:t>
            </a:r>
            <a:endParaRPr lang="en-US" sz="1050" dirty="0"/>
          </a:p>
        </p:txBody>
      </p:sp>
      <p:sp>
        <p:nvSpPr>
          <p:cNvPr id="45" name="Text 43"/>
          <p:cNvSpPr txBox="1"/>
          <p:nvPr/>
        </p:nvSpPr>
        <p:spPr>
          <a:xfrm>
            <a:off x="548640" y="6400800"/>
            <a:ext cx="10360152" cy="228600"/>
          </a:xfrm>
          <a:prstGeom prst="rect">
            <a:avLst/>
          </a:prstGeom>
          <a:noFill/>
          <a:ln/>
        </p:spPr>
        <p:txBody>
          <a:bodyPr wrap="square" lIns="0" tIns="0" rIns="0" bIns="0" rtlCol="0" anchor="ctr"/>
          <a:lstStyle/>
          <a:p>
            <a:pPr indent="0" marL="0">
              <a:buNone/>
            </a:pPr>
            <a:r>
              <a:rPr lang="en-US" sz="800" dirty="0">
                <a:solidFill>
                  <a:srgbClr val="8A94A0"/>
                </a:solidFill>
                <a:latin typeface="Calibri" pitchFamily="34" charset="0"/>
                <a:ea typeface="Calibri" pitchFamily="34" charset="-122"/>
                <a:cs typeface="Calibri" pitchFamily="34" charset="-120"/>
              </a:rPr>
              <a:t>Puntajes del área con la rúbrica del documento de respaldo; contenido de R05, E23, T01 y D51 por confirmar en el MSI vigente.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EL RIESGO</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6</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Lo que está en juego ya tiene precedentes en la banca chilena</a:t>
            </a:r>
            <a:endParaRPr lang="en-US" sz="2600" dirty="0"/>
          </a:p>
        </p:txBody>
      </p:sp>
      <p:sp>
        <p:nvSpPr>
          <p:cNvPr id="9" name="Shape 7"/>
          <p:cNvSpPr/>
          <p:nvPr/>
        </p:nvSpPr>
        <p:spPr>
          <a:xfrm>
            <a:off x="548640" y="1920240"/>
            <a:ext cx="5440680" cy="1965960"/>
          </a:xfrm>
          <a:prstGeom prst="roundRect">
            <a:avLst>
              <a:gd name="adj" fmla="val 2791"/>
            </a:avLst>
          </a:prstGeom>
          <a:solidFill>
            <a:srgbClr val="F6E7E5"/>
          </a:solidFill>
          <a:ln w="9525">
            <a:solidFill>
              <a:srgbClr val="F6E7E5"/>
            </a:solidFill>
            <a:prstDash val="solid"/>
          </a:ln>
        </p:spPr>
      </p:sp>
      <p:sp>
        <p:nvSpPr>
          <p:cNvPr id="10" name="Text 8"/>
          <p:cNvSpPr txBox="1"/>
          <p:nvPr/>
        </p:nvSpPr>
        <p:spPr>
          <a:xfrm>
            <a:off x="777240" y="2084832"/>
            <a:ext cx="4983480" cy="365760"/>
          </a:xfrm>
          <a:prstGeom prst="rect">
            <a:avLst/>
          </a:prstGeom>
          <a:noFill/>
          <a:ln/>
        </p:spPr>
        <p:txBody>
          <a:bodyPr wrap="square" lIns="0" tIns="0" rIns="0" bIns="0" rtlCol="0" anchor="ctr"/>
          <a:lstStyle/>
          <a:p>
            <a:pPr indent="0" marL="0">
              <a:buNone/>
            </a:pPr>
            <a:r>
              <a:rPr lang="en-US" sz="1400" b="1" dirty="0">
                <a:solidFill>
                  <a:srgbClr val="B85C55"/>
                </a:solidFill>
                <a:latin typeface="Calibri" pitchFamily="34" charset="0"/>
                <a:ea typeface="Calibri" pitchFamily="34" charset="-122"/>
                <a:cs typeface="Calibri" pitchFamily="34" charset="-120"/>
              </a:rPr>
              <a:t>Bloqueo de acceso a información de la CMF</a:t>
            </a:r>
            <a:endParaRPr lang="en-US" sz="1400" dirty="0"/>
          </a:p>
        </p:txBody>
      </p:sp>
      <p:sp>
        <p:nvSpPr>
          <p:cNvPr id="11" name="Text 9"/>
          <p:cNvSpPr txBox="1"/>
          <p:nvPr/>
        </p:nvSpPr>
        <p:spPr>
          <a:xfrm>
            <a:off x="777240" y="2468880"/>
            <a:ext cx="4983480" cy="128016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Un incumplimiento en RDC01, RDC02 o RDC40 puede derivar en la suspensión del acceso al Registro de Deuda Consolidada hasta por un año (Ley 21.680). Sin esa información, el banco no puede evaluar deuda consolidada al originar créditos.</a:t>
            </a:r>
            <a:endParaRPr lang="en-US" sz="1050" dirty="0"/>
          </a:p>
        </p:txBody>
      </p:sp>
      <p:sp>
        <p:nvSpPr>
          <p:cNvPr id="12" name="Shape 10"/>
          <p:cNvSpPr/>
          <p:nvPr/>
        </p:nvSpPr>
        <p:spPr>
          <a:xfrm>
            <a:off x="6172200" y="1920240"/>
            <a:ext cx="5440680" cy="1965960"/>
          </a:xfrm>
          <a:prstGeom prst="roundRect">
            <a:avLst>
              <a:gd name="adj" fmla="val 2791"/>
            </a:avLst>
          </a:prstGeom>
          <a:solidFill>
            <a:srgbClr val="F6E7E5"/>
          </a:solidFill>
          <a:ln w="9525">
            <a:solidFill>
              <a:srgbClr val="F6E7E5"/>
            </a:solidFill>
            <a:prstDash val="solid"/>
          </a:ln>
        </p:spPr>
      </p:sp>
      <p:sp>
        <p:nvSpPr>
          <p:cNvPr id="13" name="Text 11"/>
          <p:cNvSpPr txBox="1"/>
          <p:nvPr/>
        </p:nvSpPr>
        <p:spPr>
          <a:xfrm>
            <a:off x="6400800" y="2084832"/>
            <a:ext cx="4983480" cy="365760"/>
          </a:xfrm>
          <a:prstGeom prst="rect">
            <a:avLst/>
          </a:prstGeom>
          <a:noFill/>
          <a:ln/>
        </p:spPr>
        <p:txBody>
          <a:bodyPr wrap="square" lIns="0" tIns="0" rIns="0" bIns="0" rtlCol="0" anchor="ctr"/>
          <a:lstStyle/>
          <a:p>
            <a:pPr indent="0" marL="0">
              <a:buNone/>
            </a:pPr>
            <a:r>
              <a:rPr lang="en-US" sz="1400" b="1" dirty="0">
                <a:solidFill>
                  <a:srgbClr val="B85C55"/>
                </a:solidFill>
                <a:latin typeface="Calibri" pitchFamily="34" charset="0"/>
                <a:ea typeface="Calibri" pitchFamily="34" charset="-122"/>
                <a:cs typeface="Calibri" pitchFamily="34" charset="-120"/>
              </a:rPr>
              <a:t>Multas por contenido, no solo por atraso</a:t>
            </a:r>
            <a:endParaRPr lang="en-US" sz="1400" dirty="0"/>
          </a:p>
        </p:txBody>
      </p:sp>
      <p:sp>
        <p:nvSpPr>
          <p:cNvPr id="14" name="Text 12"/>
          <p:cNvSpPr txBox="1"/>
          <p:nvPr/>
        </p:nvSpPr>
        <p:spPr>
          <a:xfrm>
            <a:off x="6400800" y="2468880"/>
            <a:ext cx="4983480" cy="128016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Julio de 2024: Banco Santander Chile, UF 2.500 (Res. Ex. N° 5.664) y Coopeuch, UF 1.000 (Res. Ex. N° 5.666), por incluir en el Estado de Deudores (D10) a personas que no cumplían las condiciones; RAN 18-5 y art. 14 LGB. Enero de 2026: Banco Santander-Chile, UF 2.500 (Res. N° 1.183), por informar en el archivo R13 una sensibilidad Delta EVE inferior a la exigida entre abril de 2023 y enero de 2025; la CMF citó debilidades de control (RAN 21-13).</a:t>
            </a:r>
            <a:endParaRPr lang="en-US" sz="1050" dirty="0"/>
          </a:p>
        </p:txBody>
      </p:sp>
      <p:sp>
        <p:nvSpPr>
          <p:cNvPr id="15" name="Shape 13"/>
          <p:cNvSpPr/>
          <p:nvPr/>
        </p:nvSpPr>
        <p:spPr>
          <a:xfrm>
            <a:off x="548640" y="4023360"/>
            <a:ext cx="5440680" cy="1965960"/>
          </a:xfrm>
          <a:prstGeom prst="roundRect">
            <a:avLst>
              <a:gd name="adj" fmla="val 2791"/>
            </a:avLst>
          </a:prstGeom>
          <a:solidFill>
            <a:srgbClr val="F6F7F9"/>
          </a:solidFill>
          <a:ln w="9525">
            <a:solidFill>
              <a:srgbClr val="F6F7F9"/>
            </a:solidFill>
            <a:prstDash val="solid"/>
          </a:ln>
        </p:spPr>
      </p:sp>
      <p:sp>
        <p:nvSpPr>
          <p:cNvPr id="16" name="Text 14"/>
          <p:cNvSpPr txBox="1"/>
          <p:nvPr/>
        </p:nvSpPr>
        <p:spPr>
          <a:xfrm>
            <a:off x="777240" y="4187952"/>
            <a:ext cx="4983480" cy="36576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Riesgo reputacional</a:t>
            </a:r>
            <a:endParaRPr lang="en-US" sz="1400" dirty="0"/>
          </a:p>
        </p:txBody>
      </p:sp>
      <p:sp>
        <p:nvSpPr>
          <p:cNvPr id="17" name="Text 15"/>
          <p:cNvSpPr txBox="1"/>
          <p:nvPr/>
        </p:nvSpPr>
        <p:spPr>
          <a:xfrm>
            <a:off x="777240" y="4572000"/>
            <a:ext cx="4983480" cy="128016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Un error en información de deudores o en el reporte al SERNAC afecta a clientes concretos y a la relación con el regulador, con visibilidad pública.</a:t>
            </a:r>
            <a:endParaRPr lang="en-US" sz="1050" dirty="0"/>
          </a:p>
        </p:txBody>
      </p:sp>
      <p:sp>
        <p:nvSpPr>
          <p:cNvPr id="18" name="Shape 16"/>
          <p:cNvSpPr/>
          <p:nvPr/>
        </p:nvSpPr>
        <p:spPr>
          <a:xfrm>
            <a:off x="6172200" y="4023360"/>
            <a:ext cx="5440680" cy="1965960"/>
          </a:xfrm>
          <a:prstGeom prst="roundRect">
            <a:avLst>
              <a:gd name="adj" fmla="val 2791"/>
            </a:avLst>
          </a:prstGeom>
          <a:solidFill>
            <a:srgbClr val="F6F7F9"/>
          </a:solidFill>
          <a:ln w="9525">
            <a:solidFill>
              <a:srgbClr val="F6F7F9"/>
            </a:solidFill>
            <a:prstDash val="solid"/>
          </a:ln>
        </p:spPr>
      </p:sp>
      <p:sp>
        <p:nvSpPr>
          <p:cNvPr id="19" name="Text 17"/>
          <p:cNvSpPr txBox="1"/>
          <p:nvPr/>
        </p:nvSpPr>
        <p:spPr>
          <a:xfrm>
            <a:off x="6400800" y="4187952"/>
            <a:ext cx="4983480" cy="36576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Continuidad operativa</a:t>
            </a:r>
            <a:endParaRPr lang="en-US" sz="1400" dirty="0"/>
          </a:p>
        </p:txBody>
      </p:sp>
      <p:sp>
        <p:nvSpPr>
          <p:cNvPr id="20" name="Text 18"/>
          <p:cNvSpPr txBox="1"/>
          <p:nvPr/>
        </p:nvSpPr>
        <p:spPr>
          <a:xfrm>
            <a:off x="6400800" y="4572000"/>
            <a:ext cx="4983480" cy="128016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Seis personas sostienen 18 reportes con envíos diarios y semanales. La pérdida de una persona clave no se reemplaza en semanas: el conocimiento normativo y técnico es escaso.</a:t>
            </a:r>
            <a:endParaRPr lang="en-US" sz="1050" dirty="0"/>
          </a:p>
        </p:txBody>
      </p:sp>
      <p:sp>
        <p:nvSpPr>
          <p:cNvPr id="21" name="Text 19"/>
          <p:cNvSpPr txBox="1"/>
          <p:nvPr/>
        </p:nvSpPr>
        <p:spPr>
          <a:xfrm>
            <a:off x="548640" y="6400800"/>
            <a:ext cx="10360152" cy="228600"/>
          </a:xfrm>
          <a:prstGeom prst="rect">
            <a:avLst/>
          </a:prstGeom>
          <a:noFill/>
          <a:ln/>
        </p:spPr>
        <p:txBody>
          <a:bodyPr wrap="square" lIns="0" tIns="0" rIns="0" bIns="0" rtlCol="0" anchor="ctr"/>
          <a:lstStyle/>
          <a:p>
            <a:pPr indent="0" marL="0">
              <a:buNone/>
            </a:pPr>
            <a:r>
              <a:rPr lang="en-US" sz="800" dirty="0">
                <a:solidFill>
                  <a:srgbClr val="8A94A0"/>
                </a:solidFill>
                <a:latin typeface="Calibri" pitchFamily="34" charset="0"/>
                <a:ea typeface="Calibri" pitchFamily="34" charset="-122"/>
                <a:cs typeface="Calibri" pitchFamily="34" charset="-120"/>
              </a:rPr>
              <a:t>Fuentes: comunicados de la CMF del 4 de julio de 2024 (Estado de Deudores) y del 30 de enero de 2026 (archivo R13); Ley 21.680 y NCG N° 540. Enlaces en el anexo 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65760" y="164592"/>
            <a:ext cx="11457432" cy="384048"/>
          </a:xfrm>
          <a:prstGeom prst="rect">
            <a:avLst/>
          </a:prstGeom>
          <a:noFill/>
          <a:ln/>
        </p:spPr>
        <p:txBody>
          <a:bodyPr wrap="square" lIns="0" tIns="0" rIns="0" bIns="0" rtlCol="0" anchor="ctr"/>
          <a:lstStyle/>
          <a:p>
            <a:pPr indent="0" marL="0">
              <a:buNone/>
            </a:pPr>
            <a:r>
              <a:rPr lang="en-US" sz="1700" b="1" dirty="0">
                <a:solidFill>
                  <a:srgbClr val="2B2F36"/>
                </a:solidFill>
                <a:latin typeface="Cambria" pitchFamily="34" charset="0"/>
                <a:ea typeface="Cambria" pitchFamily="34" charset="-122"/>
                <a:cs typeface="Cambria" pitchFamily="34" charset="-120"/>
              </a:rPr>
              <a:t>El trabajo cambió, la escala no: de Contabilidad de Entrada a Especialista Normativo</a:t>
            </a:r>
            <a:endParaRPr lang="en-US" sz="1700" dirty="0"/>
          </a:p>
        </p:txBody>
      </p:sp>
      <p:sp>
        <p:nvSpPr>
          <p:cNvPr id="3" name="Shape 1"/>
          <p:cNvSpPr/>
          <p:nvPr/>
        </p:nvSpPr>
        <p:spPr>
          <a:xfrm>
            <a:off x="365760" y="640080"/>
            <a:ext cx="3520440" cy="1481328"/>
          </a:xfrm>
          <a:prstGeom prst="roundRect">
            <a:avLst>
              <a:gd name="adj" fmla="val 3704"/>
            </a:avLst>
          </a:prstGeom>
          <a:solidFill>
            <a:srgbClr val="EDF0F3"/>
          </a:solidFill>
          <a:ln w="12700">
            <a:solidFill>
              <a:srgbClr val="EDF0F3"/>
            </a:solidFill>
            <a:prstDash val="solid"/>
          </a:ln>
        </p:spPr>
      </p:sp>
      <p:sp>
        <p:nvSpPr>
          <p:cNvPr id="4" name="Text 2"/>
          <p:cNvSpPr txBox="1"/>
          <p:nvPr/>
        </p:nvSpPr>
        <p:spPr>
          <a:xfrm>
            <a:off x="502920" y="713232"/>
            <a:ext cx="3246120" cy="1335024"/>
          </a:xfrm>
          <a:prstGeom prst="rect">
            <a:avLst/>
          </a:prstGeom>
          <a:noFill/>
          <a:ln/>
        </p:spPr>
        <p:txBody>
          <a:bodyPr wrap="square" lIns="0" tIns="0" rIns="0" bIns="0" rtlCol="0" anchor="t"/>
          <a:lstStyle/>
          <a:p>
            <a:pPr indent="0" marL="0">
              <a:spcAft>
                <a:spcPts val="300"/>
              </a:spcAft>
              <a:buNone/>
            </a:pPr>
            <a:r>
              <a:rPr lang="en-US" sz="750" b="1" dirty="0">
                <a:solidFill>
                  <a:srgbClr val="9AA3AE"/>
                </a:solidFill>
                <a:latin typeface="Courier New" pitchFamily="34" charset="0"/>
                <a:ea typeface="Courier New" pitchFamily="34" charset="-122"/>
                <a:cs typeface="Courier New" pitchFamily="34" charset="-120"/>
              </a:rPr>
              <a:t>2020 · PUNTO DE PARTIDA</a:t>
            </a:r>
            <a:endParaRPr lang="en-US" sz="750" dirty="0"/>
          </a:p>
          <a:p>
            <a:pPr indent="0" marL="0">
              <a:spcAft>
                <a:spcPts val="300"/>
              </a:spcAft>
              <a:buNone/>
            </a:pPr>
            <a:r>
              <a:rPr lang="en-US" sz="1200" b="1" dirty="0">
                <a:solidFill>
                  <a:srgbClr val="2B2F36"/>
                </a:solidFill>
                <a:latin typeface="Cambria" pitchFamily="34" charset="0"/>
                <a:ea typeface="Cambria" pitchFamily="34" charset="-122"/>
                <a:cs typeface="Cambria" pitchFamily="34" charset="-120"/>
              </a:rPr>
              <a:t>Analista de Contabilidad de Entrada (Portabilidad Financiera)</a:t>
            </a:r>
            <a:endParaRPr lang="en-US" sz="750" dirty="0"/>
          </a:p>
          <a:p>
            <a:pPr indent="0" marL="0">
              <a:spcAft>
                <a:spcPts val="300"/>
              </a:spcAft>
              <a:buNone/>
            </a:pPr>
            <a:r>
              <a:rPr lang="en-US" sz="850" dirty="0">
                <a:solidFill>
                  <a:srgbClr val="5B6470"/>
                </a:solidFill>
                <a:latin typeface="Calibri" pitchFamily="34" charset="0"/>
                <a:ea typeface="Calibri" pitchFamily="34" charset="-122"/>
                <a:cs typeface="Calibri" pitchFamily="34" charset="-120"/>
              </a:rPr>
              <a:t>Ejecutar el flujo de entrada de portabilidad, cuadrar pagos y resolver discrepancias con la institución inicial vía Redbanc. Requisito excluyente: Excel básico. Demanda real: 1,5 solicitudes al mes.</a:t>
            </a:r>
            <a:endParaRPr lang="en-US" sz="750" dirty="0"/>
          </a:p>
        </p:txBody>
      </p:sp>
      <p:sp>
        <p:nvSpPr>
          <p:cNvPr id="5" name="Shape 3"/>
          <p:cNvSpPr/>
          <p:nvPr/>
        </p:nvSpPr>
        <p:spPr>
          <a:xfrm>
            <a:off x="8302752" y="640080"/>
            <a:ext cx="3520440" cy="1481328"/>
          </a:xfrm>
          <a:prstGeom prst="roundRect">
            <a:avLst>
              <a:gd name="adj" fmla="val 3704"/>
            </a:avLst>
          </a:prstGeom>
          <a:solidFill>
            <a:srgbClr val="E6ECF5"/>
          </a:solidFill>
          <a:ln w="12700">
            <a:solidFill>
              <a:srgbClr val="E6ECF5"/>
            </a:solidFill>
            <a:prstDash val="solid"/>
          </a:ln>
        </p:spPr>
      </p:sp>
      <p:sp>
        <p:nvSpPr>
          <p:cNvPr id="6" name="Text 4"/>
          <p:cNvSpPr txBox="1"/>
          <p:nvPr/>
        </p:nvSpPr>
        <p:spPr>
          <a:xfrm>
            <a:off x="8439912" y="713232"/>
            <a:ext cx="3246120" cy="1335024"/>
          </a:xfrm>
          <a:prstGeom prst="rect">
            <a:avLst/>
          </a:prstGeom>
          <a:noFill/>
          <a:ln/>
        </p:spPr>
        <p:txBody>
          <a:bodyPr wrap="square" lIns="0" tIns="0" rIns="0" bIns="0" rtlCol="0" anchor="t"/>
          <a:lstStyle/>
          <a:p>
            <a:pPr indent="0" marL="0">
              <a:spcAft>
                <a:spcPts val="300"/>
              </a:spcAft>
              <a:buNone/>
            </a:pPr>
            <a:r>
              <a:rPr lang="en-US" sz="750" b="1" dirty="0">
                <a:solidFill>
                  <a:srgbClr val="4A6FA5"/>
                </a:solidFill>
                <a:latin typeface="Courier New" pitchFamily="34" charset="0"/>
                <a:ea typeface="Courier New" pitchFamily="34" charset="-122"/>
                <a:cs typeface="Courier New" pitchFamily="34" charset="-120"/>
              </a:rPr>
              <a:t>HOY · PERFIL NORMATIVO</a:t>
            </a:r>
            <a:endParaRPr lang="en-US" sz="750" dirty="0"/>
          </a:p>
          <a:p>
            <a:pPr indent="0" marL="0">
              <a:spcAft>
                <a:spcPts val="300"/>
              </a:spcAft>
              <a:buNone/>
            </a:pPr>
            <a:r>
              <a:rPr lang="en-US" sz="1200" b="1" dirty="0">
                <a:solidFill>
                  <a:srgbClr val="2B2F36"/>
                </a:solidFill>
                <a:latin typeface="Cambria" pitchFamily="34" charset="0"/>
                <a:ea typeface="Cambria" pitchFamily="34" charset="-122"/>
                <a:cs typeface="Cambria" pitchFamily="34" charset="-120"/>
              </a:rPr>
              <a:t>Especialista en Información Normativa</a:t>
            </a:r>
            <a:endParaRPr lang="en-US" sz="750" dirty="0"/>
          </a:p>
          <a:p>
            <a:pPr indent="0" marL="0">
              <a:spcAft>
                <a:spcPts val="300"/>
              </a:spcAft>
              <a:buNone/>
            </a:pPr>
            <a:r>
              <a:rPr lang="en-US" sz="850" dirty="0">
                <a:solidFill>
                  <a:srgbClr val="5B6470"/>
                </a:solidFill>
                <a:latin typeface="Calibri" pitchFamily="34" charset="0"/>
                <a:ea typeface="Calibri" pitchFamily="34" charset="-122"/>
                <a:cs typeface="Calibri" pitchFamily="34" charset="-120"/>
              </a:rPr>
              <a:t>Modelar, monitorear y validar la información que responde a la CMF y al SERNAC; desarrollar controles y alertas; sostener la posición del banco ante observaciones del regulador y en mesas normativas.</a:t>
            </a:r>
            <a:endParaRPr lang="en-US" sz="750" dirty="0"/>
          </a:p>
        </p:txBody>
      </p:sp>
      <p:sp>
        <p:nvSpPr>
          <p:cNvPr id="7" name="Shape 5"/>
          <p:cNvSpPr/>
          <p:nvPr/>
        </p:nvSpPr>
        <p:spPr>
          <a:xfrm>
            <a:off x="4023360" y="640080"/>
            <a:ext cx="4142232" cy="1481328"/>
          </a:xfrm>
          <a:prstGeom prst="roundRect">
            <a:avLst>
              <a:gd name="adj" fmla="val 3704"/>
            </a:avLst>
          </a:prstGeom>
          <a:solidFill>
            <a:srgbClr val="FFFFFF"/>
          </a:solidFill>
          <a:ln w="9525">
            <a:solidFill>
              <a:srgbClr val="E3E6EA"/>
            </a:solidFill>
            <a:prstDash val="solid"/>
          </a:ln>
        </p:spPr>
      </p:sp>
      <p:sp>
        <p:nvSpPr>
          <p:cNvPr id="8" name="Text 6"/>
          <p:cNvSpPr txBox="1"/>
          <p:nvPr/>
        </p:nvSpPr>
        <p:spPr>
          <a:xfrm>
            <a:off x="4114800" y="713232"/>
            <a:ext cx="960120" cy="222504"/>
          </a:xfrm>
          <a:prstGeom prst="rect">
            <a:avLst/>
          </a:prstGeom>
          <a:noFill/>
          <a:ln/>
        </p:spPr>
        <p:txBody>
          <a:bodyPr wrap="square" lIns="0" tIns="0" rIns="0" bIns="0" rtlCol="0" anchor="ctr"/>
          <a:lstStyle/>
          <a:p>
            <a:pPr algn="r" indent="0" marL="0">
              <a:buNone/>
            </a:pPr>
            <a:r>
              <a:rPr lang="en-US" sz="1300" b="1" dirty="0">
                <a:solidFill>
                  <a:srgbClr val="9AA3AE"/>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5120640" y="713232"/>
            <a:ext cx="1901952" cy="222504"/>
          </a:xfrm>
          <a:prstGeom prst="rect">
            <a:avLst/>
          </a:prstGeom>
          <a:noFill/>
          <a:ln/>
        </p:spPr>
        <p:txBody>
          <a:bodyPr wrap="square" lIns="0" tIns="0" rIns="0" bIns="0" rtlCol="0" anchor="ctr"/>
          <a:lstStyle/>
          <a:p>
            <a:pPr algn="ctr" indent="0" marL="0">
              <a:buNone/>
            </a:pPr>
            <a:r>
              <a:rPr lang="en-US" sz="850" dirty="0">
                <a:solidFill>
                  <a:srgbClr val="5B6470"/>
                </a:solidFill>
                <a:latin typeface="Calibri" pitchFamily="34" charset="0"/>
                <a:ea typeface="Calibri" pitchFamily="34" charset="-122"/>
                <a:cs typeface="Calibri" pitchFamily="34" charset="-120"/>
              </a:rPr>
              <a:t>Requisitos excluyentes</a:t>
            </a:r>
            <a:endParaRPr lang="en-US" sz="850" dirty="0"/>
          </a:p>
        </p:txBody>
      </p:sp>
      <p:sp>
        <p:nvSpPr>
          <p:cNvPr id="10" name="Text 8"/>
          <p:cNvSpPr txBox="1"/>
          <p:nvPr/>
        </p:nvSpPr>
        <p:spPr>
          <a:xfrm>
            <a:off x="6976872" y="713232"/>
            <a:ext cx="182880" cy="222504"/>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a:t>
            </a:r>
            <a:endParaRPr lang="en-US" sz="900" dirty="0"/>
          </a:p>
        </p:txBody>
      </p:sp>
      <p:sp>
        <p:nvSpPr>
          <p:cNvPr id="11" name="Text 9"/>
          <p:cNvSpPr txBox="1"/>
          <p:nvPr/>
        </p:nvSpPr>
        <p:spPr>
          <a:xfrm>
            <a:off x="7159752" y="713232"/>
            <a:ext cx="914400" cy="222504"/>
          </a:xfrm>
          <a:prstGeom prst="rect">
            <a:avLst/>
          </a:prstGeom>
          <a:noFill/>
          <a:ln/>
        </p:spPr>
        <p:txBody>
          <a:bodyPr wrap="square" lIns="0" tIns="0" rIns="0" bIns="0" rtlCol="0" anchor="ctr"/>
          <a:lstStyle/>
          <a:p>
            <a:pPr indent="0" marL="0">
              <a:buNone/>
            </a:pPr>
            <a:r>
              <a:rPr lang="en-US" sz="1500" b="1" dirty="0">
                <a:solidFill>
                  <a:srgbClr val="4A6FA5"/>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4114800" y="935736"/>
            <a:ext cx="960120" cy="222504"/>
          </a:xfrm>
          <a:prstGeom prst="rect">
            <a:avLst/>
          </a:prstGeom>
          <a:noFill/>
          <a:ln/>
        </p:spPr>
        <p:txBody>
          <a:bodyPr wrap="square" lIns="0" tIns="0" rIns="0" bIns="0" rtlCol="0" anchor="ctr"/>
          <a:lstStyle/>
          <a:p>
            <a:pPr algn="r" indent="0" marL="0">
              <a:buNone/>
            </a:pPr>
            <a:r>
              <a:rPr lang="en-US" sz="1300" b="1" dirty="0">
                <a:solidFill>
                  <a:srgbClr val="9AA3AE"/>
                </a:solidFill>
                <a:latin typeface="Calibri" pitchFamily="34" charset="0"/>
                <a:ea typeface="Calibri" pitchFamily="34" charset="-122"/>
                <a:cs typeface="Calibri" pitchFamily="34" charset="-120"/>
              </a:rPr>
              <a:t>4</a:t>
            </a:r>
            <a:endParaRPr lang="en-US" sz="1300" dirty="0"/>
          </a:p>
        </p:txBody>
      </p:sp>
      <p:sp>
        <p:nvSpPr>
          <p:cNvPr id="13" name="Text 11"/>
          <p:cNvSpPr txBox="1"/>
          <p:nvPr/>
        </p:nvSpPr>
        <p:spPr>
          <a:xfrm>
            <a:off x="5120640" y="935736"/>
            <a:ext cx="1901952" cy="222504"/>
          </a:xfrm>
          <a:prstGeom prst="rect">
            <a:avLst/>
          </a:prstGeom>
          <a:noFill/>
          <a:ln/>
        </p:spPr>
        <p:txBody>
          <a:bodyPr wrap="square" lIns="0" tIns="0" rIns="0" bIns="0" rtlCol="0" anchor="ctr"/>
          <a:lstStyle/>
          <a:p>
            <a:pPr algn="ctr" indent="0" marL="0">
              <a:buNone/>
            </a:pPr>
            <a:r>
              <a:rPr lang="en-US" sz="850" dirty="0">
                <a:solidFill>
                  <a:srgbClr val="5B6470"/>
                </a:solidFill>
                <a:latin typeface="Calibri" pitchFamily="34" charset="0"/>
                <a:ea typeface="Calibri" pitchFamily="34" charset="-122"/>
                <a:cs typeface="Calibri" pitchFamily="34" charset="-120"/>
              </a:rPr>
              <a:t>Funciones del cargo</a:t>
            </a:r>
            <a:endParaRPr lang="en-US" sz="850" dirty="0"/>
          </a:p>
        </p:txBody>
      </p:sp>
      <p:sp>
        <p:nvSpPr>
          <p:cNvPr id="14" name="Text 12"/>
          <p:cNvSpPr txBox="1"/>
          <p:nvPr/>
        </p:nvSpPr>
        <p:spPr>
          <a:xfrm>
            <a:off x="6976872" y="935736"/>
            <a:ext cx="182880" cy="222504"/>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a:t>
            </a:r>
            <a:endParaRPr lang="en-US" sz="900" dirty="0"/>
          </a:p>
        </p:txBody>
      </p:sp>
      <p:sp>
        <p:nvSpPr>
          <p:cNvPr id="15" name="Text 13"/>
          <p:cNvSpPr txBox="1"/>
          <p:nvPr/>
        </p:nvSpPr>
        <p:spPr>
          <a:xfrm>
            <a:off x="7159752" y="935736"/>
            <a:ext cx="914400" cy="222504"/>
          </a:xfrm>
          <a:prstGeom prst="rect">
            <a:avLst/>
          </a:prstGeom>
          <a:noFill/>
          <a:ln/>
        </p:spPr>
        <p:txBody>
          <a:bodyPr wrap="square" lIns="0" tIns="0" rIns="0" bIns="0" rtlCol="0" anchor="ctr"/>
          <a:lstStyle/>
          <a:p>
            <a:pPr indent="0" marL="0">
              <a:buNone/>
            </a:pPr>
            <a:r>
              <a:rPr lang="en-US" sz="1500" b="1" dirty="0">
                <a:solidFill>
                  <a:srgbClr val="4A6FA5"/>
                </a:solidFill>
                <a:latin typeface="Calibri" pitchFamily="34" charset="0"/>
                <a:ea typeface="Calibri" pitchFamily="34" charset="-122"/>
                <a:cs typeface="Calibri" pitchFamily="34" charset="-120"/>
              </a:rPr>
              <a:t>11</a:t>
            </a:r>
            <a:endParaRPr lang="en-US" sz="1500" dirty="0"/>
          </a:p>
        </p:txBody>
      </p:sp>
      <p:sp>
        <p:nvSpPr>
          <p:cNvPr id="16" name="Text 14"/>
          <p:cNvSpPr txBox="1"/>
          <p:nvPr/>
        </p:nvSpPr>
        <p:spPr>
          <a:xfrm>
            <a:off x="4114800" y="1158240"/>
            <a:ext cx="960120" cy="222504"/>
          </a:xfrm>
          <a:prstGeom prst="rect">
            <a:avLst/>
          </a:prstGeom>
          <a:noFill/>
          <a:ln/>
        </p:spPr>
        <p:txBody>
          <a:bodyPr wrap="square" lIns="0" tIns="0" rIns="0" bIns="0" rtlCol="0" anchor="ctr"/>
          <a:lstStyle/>
          <a:p>
            <a:pPr algn="r" indent="0" marL="0">
              <a:buNone/>
            </a:pPr>
            <a:r>
              <a:rPr lang="en-US" sz="1300" b="1" dirty="0">
                <a:solidFill>
                  <a:srgbClr val="9AA3AE"/>
                </a:solidFill>
                <a:latin typeface="Calibri" pitchFamily="34" charset="0"/>
                <a:ea typeface="Calibri" pitchFamily="34" charset="-122"/>
                <a:cs typeface="Calibri" pitchFamily="34" charset="-120"/>
              </a:rPr>
              <a:t>5</a:t>
            </a:r>
            <a:endParaRPr lang="en-US" sz="1300" dirty="0"/>
          </a:p>
        </p:txBody>
      </p:sp>
      <p:sp>
        <p:nvSpPr>
          <p:cNvPr id="17" name="Text 15"/>
          <p:cNvSpPr txBox="1"/>
          <p:nvPr/>
        </p:nvSpPr>
        <p:spPr>
          <a:xfrm>
            <a:off x="5120640" y="1158240"/>
            <a:ext cx="1901952" cy="222504"/>
          </a:xfrm>
          <a:prstGeom prst="rect">
            <a:avLst/>
          </a:prstGeom>
          <a:noFill/>
          <a:ln/>
        </p:spPr>
        <p:txBody>
          <a:bodyPr wrap="square" lIns="0" tIns="0" rIns="0" bIns="0" rtlCol="0" anchor="ctr"/>
          <a:lstStyle/>
          <a:p>
            <a:pPr algn="ctr" indent="0" marL="0">
              <a:buNone/>
            </a:pPr>
            <a:r>
              <a:rPr lang="en-US" sz="850" dirty="0">
                <a:solidFill>
                  <a:srgbClr val="5B6470"/>
                </a:solidFill>
                <a:latin typeface="Calibri" pitchFamily="34" charset="0"/>
                <a:ea typeface="Calibri" pitchFamily="34" charset="-122"/>
                <a:cs typeface="Calibri" pitchFamily="34" charset="-120"/>
              </a:rPr>
              <a:t>Competencias exigidas</a:t>
            </a:r>
            <a:endParaRPr lang="en-US" sz="850" dirty="0"/>
          </a:p>
        </p:txBody>
      </p:sp>
      <p:sp>
        <p:nvSpPr>
          <p:cNvPr id="18" name="Text 16"/>
          <p:cNvSpPr txBox="1"/>
          <p:nvPr/>
        </p:nvSpPr>
        <p:spPr>
          <a:xfrm>
            <a:off x="6976872" y="1158240"/>
            <a:ext cx="182880" cy="222504"/>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a:t>
            </a:r>
            <a:endParaRPr lang="en-US" sz="900" dirty="0"/>
          </a:p>
        </p:txBody>
      </p:sp>
      <p:sp>
        <p:nvSpPr>
          <p:cNvPr id="19" name="Text 17"/>
          <p:cNvSpPr txBox="1"/>
          <p:nvPr/>
        </p:nvSpPr>
        <p:spPr>
          <a:xfrm>
            <a:off x="7159752" y="1158240"/>
            <a:ext cx="914400" cy="222504"/>
          </a:xfrm>
          <a:prstGeom prst="rect">
            <a:avLst/>
          </a:prstGeom>
          <a:noFill/>
          <a:ln/>
        </p:spPr>
        <p:txBody>
          <a:bodyPr wrap="square" lIns="0" tIns="0" rIns="0" bIns="0" rtlCol="0" anchor="ctr"/>
          <a:lstStyle/>
          <a:p>
            <a:pPr indent="0" marL="0">
              <a:buNone/>
            </a:pPr>
            <a:r>
              <a:rPr lang="en-US" sz="1500" b="1" dirty="0">
                <a:solidFill>
                  <a:srgbClr val="4A6FA5"/>
                </a:solidFill>
                <a:latin typeface="Calibri" pitchFamily="34" charset="0"/>
                <a:ea typeface="Calibri" pitchFamily="34" charset="-122"/>
                <a:cs typeface="Calibri" pitchFamily="34" charset="-120"/>
              </a:rPr>
              <a:t>13</a:t>
            </a:r>
            <a:endParaRPr lang="en-US" sz="1500" dirty="0"/>
          </a:p>
        </p:txBody>
      </p:sp>
      <p:sp>
        <p:nvSpPr>
          <p:cNvPr id="20" name="Text 18"/>
          <p:cNvSpPr txBox="1"/>
          <p:nvPr/>
        </p:nvSpPr>
        <p:spPr>
          <a:xfrm>
            <a:off x="4114800" y="1380744"/>
            <a:ext cx="960120" cy="222504"/>
          </a:xfrm>
          <a:prstGeom prst="rect">
            <a:avLst/>
          </a:prstGeom>
          <a:noFill/>
          <a:ln/>
        </p:spPr>
        <p:txBody>
          <a:bodyPr wrap="square" lIns="0" tIns="0" rIns="0" bIns="0" rtlCol="0" anchor="ctr"/>
          <a:lstStyle/>
          <a:p>
            <a:pPr algn="r" indent="0" marL="0">
              <a:buNone/>
            </a:pPr>
            <a:r>
              <a:rPr lang="en-US" sz="1300" b="1" dirty="0">
                <a:solidFill>
                  <a:srgbClr val="9AA3AE"/>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5120640" y="1380744"/>
            <a:ext cx="1901952" cy="222504"/>
          </a:xfrm>
          <a:prstGeom prst="rect">
            <a:avLst/>
          </a:prstGeom>
          <a:noFill/>
          <a:ln/>
        </p:spPr>
        <p:txBody>
          <a:bodyPr wrap="square" lIns="0" tIns="0" rIns="0" bIns="0" rtlCol="0" anchor="ctr"/>
          <a:lstStyle/>
          <a:p>
            <a:pPr algn="ctr" indent="0" marL="0">
              <a:buNone/>
            </a:pPr>
            <a:r>
              <a:rPr lang="en-US" sz="850" dirty="0">
                <a:solidFill>
                  <a:srgbClr val="5B6470"/>
                </a:solidFill>
                <a:latin typeface="Calibri" pitchFamily="34" charset="0"/>
                <a:ea typeface="Calibri" pitchFamily="34" charset="-122"/>
                <a:cs typeface="Calibri" pitchFamily="34" charset="-120"/>
              </a:rPr>
              <a:t>Interlocutores</a:t>
            </a:r>
            <a:endParaRPr lang="en-US" sz="850" dirty="0"/>
          </a:p>
        </p:txBody>
      </p:sp>
      <p:sp>
        <p:nvSpPr>
          <p:cNvPr id="22" name="Text 20"/>
          <p:cNvSpPr txBox="1"/>
          <p:nvPr/>
        </p:nvSpPr>
        <p:spPr>
          <a:xfrm>
            <a:off x="6976872" y="1380744"/>
            <a:ext cx="182880" cy="222504"/>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a:t>
            </a:r>
            <a:endParaRPr lang="en-US" sz="900" dirty="0"/>
          </a:p>
        </p:txBody>
      </p:sp>
      <p:sp>
        <p:nvSpPr>
          <p:cNvPr id="23" name="Text 21"/>
          <p:cNvSpPr txBox="1"/>
          <p:nvPr/>
        </p:nvSpPr>
        <p:spPr>
          <a:xfrm>
            <a:off x="7159752" y="1380744"/>
            <a:ext cx="914400" cy="222504"/>
          </a:xfrm>
          <a:prstGeom prst="rect">
            <a:avLst/>
          </a:prstGeom>
          <a:noFill/>
          <a:ln/>
        </p:spPr>
        <p:txBody>
          <a:bodyPr wrap="square" lIns="0" tIns="0" rIns="0" bIns="0" rtlCol="0" anchor="ctr"/>
          <a:lstStyle/>
          <a:p>
            <a:pPr indent="0" marL="0">
              <a:buNone/>
            </a:pPr>
            <a:r>
              <a:rPr lang="en-US" sz="1500" b="1" dirty="0">
                <a:solidFill>
                  <a:srgbClr val="4A6FA5"/>
                </a:solidFill>
                <a:latin typeface="Calibri" pitchFamily="34" charset="0"/>
                <a:ea typeface="Calibri" pitchFamily="34" charset="-122"/>
                <a:cs typeface="Calibri" pitchFamily="34" charset="-120"/>
              </a:rPr>
              <a:t>7</a:t>
            </a:r>
            <a:endParaRPr lang="en-US" sz="1500" dirty="0"/>
          </a:p>
        </p:txBody>
      </p:sp>
      <p:sp>
        <p:nvSpPr>
          <p:cNvPr id="24" name="Text 22"/>
          <p:cNvSpPr txBox="1"/>
          <p:nvPr/>
        </p:nvSpPr>
        <p:spPr>
          <a:xfrm>
            <a:off x="4114800" y="1603248"/>
            <a:ext cx="960120" cy="222504"/>
          </a:xfrm>
          <a:prstGeom prst="rect">
            <a:avLst/>
          </a:prstGeom>
          <a:noFill/>
          <a:ln/>
        </p:spPr>
        <p:txBody>
          <a:bodyPr wrap="square" lIns="0" tIns="0" rIns="0" bIns="0" rtlCol="0" anchor="ctr"/>
          <a:lstStyle/>
          <a:p>
            <a:pPr algn="r" indent="0" marL="0">
              <a:buNone/>
            </a:pPr>
            <a:r>
              <a:rPr lang="en-US" sz="1300" b="1" dirty="0">
                <a:solidFill>
                  <a:srgbClr val="9AA3AE"/>
                </a:solidFill>
                <a:latin typeface="Calibri" pitchFamily="34" charset="0"/>
                <a:ea typeface="Calibri" pitchFamily="34" charset="-122"/>
                <a:cs typeface="Calibri" pitchFamily="34" charset="-120"/>
              </a:rPr>
              <a:t>0</a:t>
            </a:r>
            <a:endParaRPr lang="en-US" sz="1300" dirty="0"/>
          </a:p>
        </p:txBody>
      </p:sp>
      <p:sp>
        <p:nvSpPr>
          <p:cNvPr id="25" name="Text 23"/>
          <p:cNvSpPr txBox="1"/>
          <p:nvPr/>
        </p:nvSpPr>
        <p:spPr>
          <a:xfrm>
            <a:off x="5120640" y="1603248"/>
            <a:ext cx="1901952" cy="222504"/>
          </a:xfrm>
          <a:prstGeom prst="rect">
            <a:avLst/>
          </a:prstGeom>
          <a:noFill/>
          <a:ln/>
        </p:spPr>
        <p:txBody>
          <a:bodyPr wrap="square" lIns="0" tIns="0" rIns="0" bIns="0" rtlCol="0" anchor="ctr"/>
          <a:lstStyle/>
          <a:p>
            <a:pPr algn="ctr" indent="0" marL="0">
              <a:buNone/>
            </a:pPr>
            <a:r>
              <a:rPr lang="en-US" sz="850" dirty="0">
                <a:solidFill>
                  <a:srgbClr val="5B6470"/>
                </a:solidFill>
                <a:latin typeface="Calibri" pitchFamily="34" charset="0"/>
                <a:ea typeface="Calibri" pitchFamily="34" charset="-122"/>
                <a:cs typeface="Calibri" pitchFamily="34" charset="-120"/>
              </a:rPr>
              <a:t>Reportes normativos</a:t>
            </a:r>
            <a:endParaRPr lang="en-US" sz="850" dirty="0"/>
          </a:p>
        </p:txBody>
      </p:sp>
      <p:sp>
        <p:nvSpPr>
          <p:cNvPr id="26" name="Text 24"/>
          <p:cNvSpPr txBox="1"/>
          <p:nvPr/>
        </p:nvSpPr>
        <p:spPr>
          <a:xfrm>
            <a:off x="6976872" y="1603248"/>
            <a:ext cx="182880" cy="222504"/>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a:t>
            </a:r>
            <a:endParaRPr lang="en-US" sz="900" dirty="0"/>
          </a:p>
        </p:txBody>
      </p:sp>
      <p:sp>
        <p:nvSpPr>
          <p:cNvPr id="27" name="Text 25"/>
          <p:cNvSpPr txBox="1"/>
          <p:nvPr/>
        </p:nvSpPr>
        <p:spPr>
          <a:xfrm>
            <a:off x="7159752" y="1603248"/>
            <a:ext cx="914400" cy="222504"/>
          </a:xfrm>
          <a:prstGeom prst="rect">
            <a:avLst/>
          </a:prstGeom>
          <a:noFill/>
          <a:ln/>
        </p:spPr>
        <p:txBody>
          <a:bodyPr wrap="square" lIns="0" tIns="0" rIns="0" bIns="0" rtlCol="0" anchor="ctr"/>
          <a:lstStyle/>
          <a:p>
            <a:pPr indent="0" marL="0">
              <a:buNone/>
            </a:pPr>
            <a:r>
              <a:rPr lang="en-US" sz="1500" b="1" dirty="0">
                <a:solidFill>
                  <a:srgbClr val="4A6FA5"/>
                </a:solidFill>
                <a:latin typeface="Calibri" pitchFamily="34" charset="0"/>
                <a:ea typeface="Calibri" pitchFamily="34" charset="-122"/>
                <a:cs typeface="Calibri" pitchFamily="34" charset="-120"/>
              </a:rPr>
              <a:t>18</a:t>
            </a:r>
            <a:endParaRPr lang="en-US" sz="1500" dirty="0"/>
          </a:p>
        </p:txBody>
      </p:sp>
      <p:sp>
        <p:nvSpPr>
          <p:cNvPr id="28" name="Text 26"/>
          <p:cNvSpPr txBox="1"/>
          <p:nvPr/>
        </p:nvSpPr>
        <p:spPr>
          <a:xfrm>
            <a:off x="4114800" y="1825752"/>
            <a:ext cx="960120" cy="222504"/>
          </a:xfrm>
          <a:prstGeom prst="rect">
            <a:avLst/>
          </a:prstGeom>
          <a:noFill/>
          <a:ln/>
        </p:spPr>
        <p:txBody>
          <a:bodyPr wrap="square" lIns="0" tIns="0" rIns="0" bIns="0" rtlCol="0" anchor="ctr"/>
          <a:lstStyle/>
          <a:p>
            <a:pPr algn="r" indent="0" marL="0">
              <a:buNone/>
            </a:pPr>
            <a:r>
              <a:rPr lang="en-US" sz="950" b="1" dirty="0">
                <a:solidFill>
                  <a:srgbClr val="9AA3AE"/>
                </a:solidFill>
                <a:latin typeface="Calibri" pitchFamily="34" charset="0"/>
                <a:ea typeface="Calibri" pitchFamily="34" charset="-122"/>
                <a:cs typeface="Calibri" pitchFamily="34" charset="-120"/>
              </a:rPr>
              <a:t>Operativa</a:t>
            </a:r>
            <a:endParaRPr lang="en-US" sz="950" dirty="0"/>
          </a:p>
        </p:txBody>
      </p:sp>
      <p:sp>
        <p:nvSpPr>
          <p:cNvPr id="29" name="Text 27"/>
          <p:cNvSpPr txBox="1"/>
          <p:nvPr/>
        </p:nvSpPr>
        <p:spPr>
          <a:xfrm>
            <a:off x="5120640" y="1825752"/>
            <a:ext cx="1901952" cy="222504"/>
          </a:xfrm>
          <a:prstGeom prst="rect">
            <a:avLst/>
          </a:prstGeom>
          <a:noFill/>
          <a:ln/>
        </p:spPr>
        <p:txBody>
          <a:bodyPr wrap="square" lIns="0" tIns="0" rIns="0" bIns="0" rtlCol="0" anchor="ctr"/>
          <a:lstStyle/>
          <a:p>
            <a:pPr algn="ctr" indent="0" marL="0">
              <a:buNone/>
            </a:pPr>
            <a:r>
              <a:rPr lang="en-US" sz="850" dirty="0">
                <a:solidFill>
                  <a:srgbClr val="5B6470"/>
                </a:solidFill>
                <a:latin typeface="Calibri" pitchFamily="34" charset="0"/>
                <a:ea typeface="Calibri" pitchFamily="34" charset="-122"/>
                <a:cs typeface="Calibri" pitchFamily="34" charset="-120"/>
              </a:rPr>
              <a:t>Consecuencia de un error</a:t>
            </a:r>
            <a:endParaRPr lang="en-US" sz="850" dirty="0"/>
          </a:p>
        </p:txBody>
      </p:sp>
      <p:sp>
        <p:nvSpPr>
          <p:cNvPr id="30" name="Text 28"/>
          <p:cNvSpPr txBox="1"/>
          <p:nvPr/>
        </p:nvSpPr>
        <p:spPr>
          <a:xfrm>
            <a:off x="6976872" y="1825752"/>
            <a:ext cx="182880" cy="222504"/>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a:t>
            </a:r>
            <a:endParaRPr lang="en-US" sz="900" dirty="0"/>
          </a:p>
        </p:txBody>
      </p:sp>
      <p:sp>
        <p:nvSpPr>
          <p:cNvPr id="31" name="Text 29"/>
          <p:cNvSpPr txBox="1"/>
          <p:nvPr/>
        </p:nvSpPr>
        <p:spPr>
          <a:xfrm>
            <a:off x="7159752" y="1825752"/>
            <a:ext cx="914400" cy="222504"/>
          </a:xfrm>
          <a:prstGeom prst="rect">
            <a:avLst/>
          </a:prstGeom>
          <a:noFill/>
          <a:ln/>
        </p:spPr>
        <p:txBody>
          <a:bodyPr wrap="square" lIns="0" tIns="0" rIns="0" bIns="0" rtlCol="0" anchor="ctr"/>
          <a:lstStyle/>
          <a:p>
            <a:pPr indent="0" marL="0">
              <a:buNone/>
            </a:pPr>
            <a:r>
              <a:rPr lang="en-US" sz="1050" b="1" dirty="0">
                <a:solidFill>
                  <a:srgbClr val="4A6FA5"/>
                </a:solidFill>
                <a:latin typeface="Calibri" pitchFamily="34" charset="0"/>
                <a:ea typeface="Calibri" pitchFamily="34" charset="-122"/>
                <a:cs typeface="Calibri" pitchFamily="34" charset="-120"/>
              </a:rPr>
              <a:t>Legal</a:t>
            </a:r>
            <a:endParaRPr lang="en-US" sz="1050" dirty="0"/>
          </a:p>
        </p:txBody>
      </p:sp>
      <p:sp>
        <p:nvSpPr>
          <p:cNvPr id="32" name="Shape 30"/>
          <p:cNvSpPr/>
          <p:nvPr/>
        </p:nvSpPr>
        <p:spPr>
          <a:xfrm>
            <a:off x="365760" y="2313432"/>
            <a:ext cx="109728" cy="109728"/>
          </a:xfrm>
          <a:prstGeom prst="ellipse">
            <a:avLst/>
          </a:prstGeom>
          <a:solidFill>
            <a:srgbClr val="9AA3AE"/>
          </a:solidFill>
          <a:ln w="12700">
            <a:solidFill>
              <a:srgbClr val="9AA3AE"/>
            </a:solidFill>
            <a:prstDash val="solid"/>
          </a:ln>
        </p:spPr>
      </p:sp>
      <p:sp>
        <p:nvSpPr>
          <p:cNvPr id="33" name="Text 31"/>
          <p:cNvSpPr txBox="1"/>
          <p:nvPr/>
        </p:nvSpPr>
        <p:spPr>
          <a:xfrm>
            <a:off x="512064" y="2267712"/>
            <a:ext cx="1005840" cy="201168"/>
          </a:xfrm>
          <a:prstGeom prst="rect">
            <a:avLst/>
          </a:prstGeom>
          <a:noFill/>
          <a:ln/>
        </p:spPr>
        <p:txBody>
          <a:bodyPr wrap="square" lIns="0" tIns="0" rIns="0" bIns="0" rtlCol="0" anchor="ctr"/>
          <a:lstStyle/>
          <a:p>
            <a:pPr indent="0" marL="0">
              <a:buNone/>
            </a:pPr>
            <a:r>
              <a:rPr lang="en-US" sz="800" dirty="0">
                <a:solidFill>
                  <a:srgbClr val="5B6470"/>
                </a:solidFill>
                <a:latin typeface="Calibri" pitchFamily="34" charset="0"/>
                <a:ea typeface="Calibri" pitchFamily="34" charset="-122"/>
                <a:cs typeface="Calibri" pitchFamily="34" charset="-120"/>
              </a:rPr>
              <a:t>Exigido en 2020</a:t>
            </a:r>
            <a:endParaRPr lang="en-US" sz="800" dirty="0"/>
          </a:p>
        </p:txBody>
      </p:sp>
      <p:sp>
        <p:nvSpPr>
          <p:cNvPr id="34" name="Shape 32"/>
          <p:cNvSpPr/>
          <p:nvPr/>
        </p:nvSpPr>
        <p:spPr>
          <a:xfrm>
            <a:off x="1554480" y="2313432"/>
            <a:ext cx="109728" cy="109728"/>
          </a:xfrm>
          <a:prstGeom prst="ellipse">
            <a:avLst/>
          </a:prstGeom>
          <a:solidFill>
            <a:srgbClr val="4A6FA5"/>
          </a:solidFill>
          <a:ln w="12700">
            <a:solidFill>
              <a:srgbClr val="4A6FA5"/>
            </a:solidFill>
            <a:prstDash val="solid"/>
          </a:ln>
        </p:spPr>
      </p:sp>
      <p:sp>
        <p:nvSpPr>
          <p:cNvPr id="35" name="Text 33"/>
          <p:cNvSpPr txBox="1"/>
          <p:nvPr/>
        </p:nvSpPr>
        <p:spPr>
          <a:xfrm>
            <a:off x="1700784" y="2267712"/>
            <a:ext cx="914400" cy="201168"/>
          </a:xfrm>
          <a:prstGeom prst="rect">
            <a:avLst/>
          </a:prstGeom>
          <a:noFill/>
          <a:ln/>
        </p:spPr>
        <p:txBody>
          <a:bodyPr wrap="square" lIns="0" tIns="0" rIns="0" bIns="0" rtlCol="0" anchor="ctr"/>
          <a:lstStyle/>
          <a:p>
            <a:pPr indent="0" marL="0">
              <a:buNone/>
            </a:pPr>
            <a:r>
              <a:rPr lang="en-US" sz="800" dirty="0">
                <a:solidFill>
                  <a:srgbClr val="5B6470"/>
                </a:solidFill>
                <a:latin typeface="Calibri" pitchFamily="34" charset="0"/>
                <a:ea typeface="Calibri" pitchFamily="34" charset="-122"/>
                <a:cs typeface="Calibri" pitchFamily="34" charset="-120"/>
              </a:rPr>
              <a:t>Exigido hoy</a:t>
            </a:r>
            <a:endParaRPr lang="en-US" sz="800" dirty="0"/>
          </a:p>
        </p:txBody>
      </p:sp>
      <p:sp>
        <p:nvSpPr>
          <p:cNvPr id="36" name="Text 34"/>
          <p:cNvSpPr txBox="1"/>
          <p:nvPr/>
        </p:nvSpPr>
        <p:spPr>
          <a:xfrm>
            <a:off x="2560320" y="2267712"/>
            <a:ext cx="822960" cy="201168"/>
          </a:xfrm>
          <a:prstGeom prst="rect">
            <a:avLst/>
          </a:prstGeom>
          <a:noFill/>
          <a:ln/>
        </p:spPr>
        <p:txBody>
          <a:bodyPr wrap="square" lIns="0" tIns="0" rIns="0" bIns="0" rtlCol="0" anchor="ctr"/>
          <a:lstStyle/>
          <a:p>
            <a:pPr algn="ctr" indent="0" marL="0">
              <a:buNone/>
            </a:pPr>
            <a:r>
              <a:rPr lang="en-US" sz="750" dirty="0">
                <a:solidFill>
                  <a:srgbClr val="8A94A0"/>
                </a:solidFill>
                <a:latin typeface="Calibri" pitchFamily="34" charset="0"/>
                <a:ea typeface="Calibri" pitchFamily="34" charset="-122"/>
                <a:cs typeface="Calibri" pitchFamily="34" charset="-120"/>
              </a:rPr>
              <a:t>Ninguno</a:t>
            </a:r>
            <a:endParaRPr lang="en-US" sz="750" dirty="0"/>
          </a:p>
        </p:txBody>
      </p:sp>
      <p:sp>
        <p:nvSpPr>
          <p:cNvPr id="37" name="Text 35"/>
          <p:cNvSpPr txBox="1"/>
          <p:nvPr/>
        </p:nvSpPr>
        <p:spPr>
          <a:xfrm>
            <a:off x="4114800" y="2267712"/>
            <a:ext cx="822960" cy="201168"/>
          </a:xfrm>
          <a:prstGeom prst="rect">
            <a:avLst/>
          </a:prstGeom>
          <a:noFill/>
          <a:ln/>
        </p:spPr>
        <p:txBody>
          <a:bodyPr wrap="square" lIns="0" tIns="0" rIns="0" bIns="0" rtlCol="0" anchor="ctr"/>
          <a:lstStyle/>
          <a:p>
            <a:pPr algn="ctr" indent="0" marL="0">
              <a:buNone/>
            </a:pPr>
            <a:r>
              <a:rPr lang="en-US" sz="750" dirty="0">
                <a:solidFill>
                  <a:srgbClr val="8A94A0"/>
                </a:solidFill>
                <a:latin typeface="Calibri" pitchFamily="34" charset="0"/>
                <a:ea typeface="Calibri" pitchFamily="34" charset="-122"/>
                <a:cs typeface="Calibri" pitchFamily="34" charset="-120"/>
              </a:rPr>
              <a:t>Básico</a:t>
            </a:r>
            <a:endParaRPr lang="en-US" sz="750" dirty="0"/>
          </a:p>
        </p:txBody>
      </p:sp>
      <p:sp>
        <p:nvSpPr>
          <p:cNvPr id="38" name="Text 36"/>
          <p:cNvSpPr txBox="1"/>
          <p:nvPr/>
        </p:nvSpPr>
        <p:spPr>
          <a:xfrm>
            <a:off x="5669280" y="2267712"/>
            <a:ext cx="822960" cy="201168"/>
          </a:xfrm>
          <a:prstGeom prst="rect">
            <a:avLst/>
          </a:prstGeom>
          <a:noFill/>
          <a:ln/>
        </p:spPr>
        <p:txBody>
          <a:bodyPr wrap="square" lIns="0" tIns="0" rIns="0" bIns="0" rtlCol="0" anchor="ctr"/>
          <a:lstStyle/>
          <a:p>
            <a:pPr algn="ctr" indent="0" marL="0">
              <a:buNone/>
            </a:pPr>
            <a:r>
              <a:rPr lang="en-US" sz="750" dirty="0">
                <a:solidFill>
                  <a:srgbClr val="8A94A0"/>
                </a:solidFill>
                <a:latin typeface="Calibri" pitchFamily="34" charset="0"/>
                <a:ea typeface="Calibri" pitchFamily="34" charset="-122"/>
                <a:cs typeface="Calibri" pitchFamily="34" charset="-120"/>
              </a:rPr>
              <a:t>Intermedio</a:t>
            </a:r>
            <a:endParaRPr lang="en-US" sz="750" dirty="0"/>
          </a:p>
        </p:txBody>
      </p:sp>
      <p:sp>
        <p:nvSpPr>
          <p:cNvPr id="39" name="Text 37"/>
          <p:cNvSpPr txBox="1"/>
          <p:nvPr/>
        </p:nvSpPr>
        <p:spPr>
          <a:xfrm>
            <a:off x="6903720" y="2267712"/>
            <a:ext cx="777240" cy="201168"/>
          </a:xfrm>
          <a:prstGeom prst="rect">
            <a:avLst/>
          </a:prstGeom>
          <a:noFill/>
          <a:ln/>
        </p:spPr>
        <p:txBody>
          <a:bodyPr wrap="square" lIns="0" tIns="0" rIns="0" bIns="0" rtlCol="0" anchor="ctr"/>
          <a:lstStyle/>
          <a:p>
            <a:pPr algn="r" indent="0" marL="0">
              <a:buNone/>
            </a:pPr>
            <a:r>
              <a:rPr lang="en-US" sz="750" dirty="0">
                <a:solidFill>
                  <a:srgbClr val="8A94A0"/>
                </a:solidFill>
                <a:latin typeface="Calibri" pitchFamily="34" charset="0"/>
                <a:ea typeface="Calibri" pitchFamily="34" charset="-122"/>
                <a:cs typeface="Calibri" pitchFamily="34" charset="-120"/>
              </a:rPr>
              <a:t>Avanzado</a:t>
            </a:r>
            <a:endParaRPr lang="en-US" sz="750" dirty="0"/>
          </a:p>
        </p:txBody>
      </p:sp>
      <p:sp>
        <p:nvSpPr>
          <p:cNvPr id="40" name="Text 38"/>
          <p:cNvSpPr txBox="1"/>
          <p:nvPr/>
        </p:nvSpPr>
        <p:spPr>
          <a:xfrm>
            <a:off x="7772400" y="2267712"/>
            <a:ext cx="457200" cy="201168"/>
          </a:xfrm>
          <a:prstGeom prst="rect">
            <a:avLst/>
          </a:prstGeom>
          <a:noFill/>
          <a:ln/>
        </p:spPr>
        <p:txBody>
          <a:bodyPr wrap="square" lIns="0" tIns="0" rIns="0" bIns="0" rtlCol="0" anchor="ctr"/>
          <a:lstStyle/>
          <a:p>
            <a:pPr indent="0" marL="0">
              <a:buNone/>
            </a:pPr>
            <a:r>
              <a:rPr lang="en-US" sz="750" b="1" dirty="0">
                <a:solidFill>
                  <a:srgbClr val="4A6FA5"/>
                </a:solidFill>
                <a:latin typeface="Courier New" pitchFamily="34" charset="0"/>
                <a:ea typeface="Courier New" pitchFamily="34" charset="-122"/>
                <a:cs typeface="Courier New" pitchFamily="34" charset="-120"/>
              </a:rPr>
              <a:t>Salto</a:t>
            </a:r>
            <a:endParaRPr lang="en-US" sz="750" dirty="0"/>
          </a:p>
        </p:txBody>
      </p:sp>
      <p:sp>
        <p:nvSpPr>
          <p:cNvPr id="41" name="Shape 39"/>
          <p:cNvSpPr/>
          <p:nvPr/>
        </p:nvSpPr>
        <p:spPr>
          <a:xfrm>
            <a:off x="2971800" y="2523744"/>
            <a:ext cx="0" cy="3046781"/>
          </a:xfrm>
          <a:prstGeom prst="line">
            <a:avLst/>
          </a:prstGeom>
          <a:noFill/>
          <a:ln w="9525">
            <a:solidFill>
              <a:srgbClr val="E3E6EA"/>
            </a:solidFill>
            <a:prstDash val="solid"/>
          </a:ln>
        </p:spPr>
      </p:sp>
      <p:sp>
        <p:nvSpPr>
          <p:cNvPr id="42" name="Shape 40"/>
          <p:cNvSpPr/>
          <p:nvPr/>
        </p:nvSpPr>
        <p:spPr>
          <a:xfrm>
            <a:off x="4526280" y="2523744"/>
            <a:ext cx="0" cy="3046781"/>
          </a:xfrm>
          <a:prstGeom prst="line">
            <a:avLst/>
          </a:prstGeom>
          <a:noFill/>
          <a:ln w="9525">
            <a:solidFill>
              <a:srgbClr val="E3E6EA"/>
            </a:solidFill>
            <a:prstDash val="solid"/>
          </a:ln>
        </p:spPr>
      </p:sp>
      <p:sp>
        <p:nvSpPr>
          <p:cNvPr id="43" name="Shape 41"/>
          <p:cNvSpPr/>
          <p:nvPr/>
        </p:nvSpPr>
        <p:spPr>
          <a:xfrm>
            <a:off x="6080760" y="2523744"/>
            <a:ext cx="0" cy="3046781"/>
          </a:xfrm>
          <a:prstGeom prst="line">
            <a:avLst/>
          </a:prstGeom>
          <a:noFill/>
          <a:ln w="9525">
            <a:solidFill>
              <a:srgbClr val="E3E6EA"/>
            </a:solidFill>
            <a:prstDash val="solid"/>
          </a:ln>
        </p:spPr>
      </p:sp>
      <p:sp>
        <p:nvSpPr>
          <p:cNvPr id="44" name="Shape 42"/>
          <p:cNvSpPr/>
          <p:nvPr/>
        </p:nvSpPr>
        <p:spPr>
          <a:xfrm>
            <a:off x="7635240" y="2523744"/>
            <a:ext cx="0" cy="3046781"/>
          </a:xfrm>
          <a:prstGeom prst="line">
            <a:avLst/>
          </a:prstGeom>
          <a:noFill/>
          <a:ln w="9525">
            <a:solidFill>
              <a:srgbClr val="E3E6EA"/>
            </a:solidFill>
            <a:prstDash val="solid"/>
          </a:ln>
        </p:spPr>
      </p:sp>
      <p:sp>
        <p:nvSpPr>
          <p:cNvPr id="45" name="Text 43"/>
          <p:cNvSpPr txBox="1"/>
          <p:nvPr/>
        </p:nvSpPr>
        <p:spPr>
          <a:xfrm>
            <a:off x="365760" y="2523744"/>
            <a:ext cx="1828800" cy="179222"/>
          </a:xfrm>
          <a:prstGeom prst="rect">
            <a:avLst/>
          </a:prstGeom>
          <a:noFill/>
          <a:ln/>
        </p:spPr>
        <p:txBody>
          <a:bodyPr wrap="square" lIns="0" tIns="0" rIns="0" bIns="0" rtlCol="0" anchor="ctr"/>
          <a:lstStyle/>
          <a:p>
            <a:pPr indent="0" marL="0">
              <a:buNone/>
            </a:pPr>
            <a:r>
              <a:rPr lang="en-US" sz="750" b="1" spc="150" kern="0" dirty="0">
                <a:solidFill>
                  <a:srgbClr val="8A94A0"/>
                </a:solidFill>
                <a:latin typeface="Calibri" pitchFamily="34" charset="0"/>
                <a:ea typeface="Calibri" pitchFamily="34" charset="-122"/>
                <a:cs typeface="Calibri" pitchFamily="34" charset="-120"/>
              </a:rPr>
              <a:t>HARD SKILLS</a:t>
            </a:r>
            <a:endParaRPr lang="en-US" sz="750" dirty="0"/>
          </a:p>
        </p:txBody>
      </p:sp>
      <p:sp>
        <p:nvSpPr>
          <p:cNvPr id="46" name="Text 44"/>
          <p:cNvSpPr txBox="1"/>
          <p:nvPr/>
        </p:nvSpPr>
        <p:spPr>
          <a:xfrm>
            <a:off x="365760" y="2702966"/>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Excel</a:t>
            </a:r>
            <a:endParaRPr lang="en-US" sz="850" dirty="0"/>
          </a:p>
        </p:txBody>
      </p:sp>
      <p:sp>
        <p:nvSpPr>
          <p:cNvPr id="47" name="Shape 45"/>
          <p:cNvSpPr/>
          <p:nvPr/>
        </p:nvSpPr>
        <p:spPr>
          <a:xfrm>
            <a:off x="2971800" y="2792578"/>
            <a:ext cx="4663440" cy="0"/>
          </a:xfrm>
          <a:prstGeom prst="line">
            <a:avLst/>
          </a:prstGeom>
          <a:noFill/>
          <a:ln w="15875">
            <a:solidFill>
              <a:srgbClr val="E3E6EA"/>
            </a:solidFill>
            <a:prstDash val="solid"/>
          </a:ln>
        </p:spPr>
      </p:sp>
      <p:sp>
        <p:nvSpPr>
          <p:cNvPr id="48" name="Shape 46"/>
          <p:cNvSpPr/>
          <p:nvPr/>
        </p:nvSpPr>
        <p:spPr>
          <a:xfrm>
            <a:off x="4581144" y="2792578"/>
            <a:ext cx="2999232" cy="0"/>
          </a:xfrm>
          <a:prstGeom prst="line">
            <a:avLst/>
          </a:prstGeom>
          <a:noFill/>
          <a:ln w="22225">
            <a:solidFill>
              <a:srgbClr val="4A6FA5">
                <a:alpha val="65000"/>
              </a:srgbClr>
            </a:solidFill>
            <a:prstDash val="solid"/>
            <a:tailEnd type="triangle"/>
          </a:ln>
        </p:spPr>
      </p:sp>
      <p:sp>
        <p:nvSpPr>
          <p:cNvPr id="49" name="Shape 47"/>
          <p:cNvSpPr/>
          <p:nvPr/>
        </p:nvSpPr>
        <p:spPr>
          <a:xfrm>
            <a:off x="4471416" y="2737714"/>
            <a:ext cx="109728" cy="109728"/>
          </a:xfrm>
          <a:prstGeom prst="ellipse">
            <a:avLst/>
          </a:prstGeom>
          <a:solidFill>
            <a:srgbClr val="9AA3AE"/>
          </a:solidFill>
          <a:ln w="9525">
            <a:solidFill>
              <a:srgbClr val="FFFFFF"/>
            </a:solidFill>
            <a:prstDash val="solid"/>
          </a:ln>
        </p:spPr>
      </p:sp>
      <p:sp>
        <p:nvSpPr>
          <p:cNvPr id="50" name="Shape 48"/>
          <p:cNvSpPr/>
          <p:nvPr/>
        </p:nvSpPr>
        <p:spPr>
          <a:xfrm>
            <a:off x="7580376" y="2737714"/>
            <a:ext cx="109728" cy="109728"/>
          </a:xfrm>
          <a:prstGeom prst="ellipse">
            <a:avLst/>
          </a:prstGeom>
          <a:solidFill>
            <a:srgbClr val="4A6FA5"/>
          </a:solidFill>
          <a:ln w="9525">
            <a:solidFill>
              <a:srgbClr val="FFFFFF"/>
            </a:solidFill>
            <a:prstDash val="solid"/>
          </a:ln>
        </p:spPr>
      </p:sp>
      <p:sp>
        <p:nvSpPr>
          <p:cNvPr id="51" name="Text 49"/>
          <p:cNvSpPr txBox="1"/>
          <p:nvPr/>
        </p:nvSpPr>
        <p:spPr>
          <a:xfrm>
            <a:off x="7772400" y="2702966"/>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52" name="Text 50"/>
          <p:cNvSpPr txBox="1"/>
          <p:nvPr/>
        </p:nvSpPr>
        <p:spPr>
          <a:xfrm>
            <a:off x="365760" y="2882189"/>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SQL</a:t>
            </a:r>
            <a:endParaRPr lang="en-US" sz="850" dirty="0"/>
          </a:p>
        </p:txBody>
      </p:sp>
      <p:sp>
        <p:nvSpPr>
          <p:cNvPr id="53" name="Shape 51"/>
          <p:cNvSpPr/>
          <p:nvPr/>
        </p:nvSpPr>
        <p:spPr>
          <a:xfrm>
            <a:off x="2971800" y="2971800"/>
            <a:ext cx="4663440" cy="0"/>
          </a:xfrm>
          <a:prstGeom prst="line">
            <a:avLst/>
          </a:prstGeom>
          <a:noFill/>
          <a:ln w="15875">
            <a:solidFill>
              <a:srgbClr val="E3E6EA"/>
            </a:solidFill>
            <a:prstDash val="solid"/>
          </a:ln>
        </p:spPr>
      </p:sp>
      <p:sp>
        <p:nvSpPr>
          <p:cNvPr id="54" name="Shape 52"/>
          <p:cNvSpPr/>
          <p:nvPr/>
        </p:nvSpPr>
        <p:spPr>
          <a:xfrm>
            <a:off x="3026664" y="2971800"/>
            <a:ext cx="4553712" cy="0"/>
          </a:xfrm>
          <a:prstGeom prst="line">
            <a:avLst/>
          </a:prstGeom>
          <a:noFill/>
          <a:ln w="22225">
            <a:solidFill>
              <a:srgbClr val="4A6FA5">
                <a:alpha val="65000"/>
              </a:srgbClr>
            </a:solidFill>
            <a:prstDash val="solid"/>
            <a:tailEnd type="triangle"/>
          </a:ln>
        </p:spPr>
      </p:sp>
      <p:sp>
        <p:nvSpPr>
          <p:cNvPr id="55" name="Shape 53"/>
          <p:cNvSpPr/>
          <p:nvPr/>
        </p:nvSpPr>
        <p:spPr>
          <a:xfrm>
            <a:off x="2916936" y="2916936"/>
            <a:ext cx="109728" cy="109728"/>
          </a:xfrm>
          <a:prstGeom prst="ellipse">
            <a:avLst/>
          </a:prstGeom>
          <a:solidFill>
            <a:srgbClr val="9AA3AE"/>
          </a:solidFill>
          <a:ln w="9525">
            <a:solidFill>
              <a:srgbClr val="FFFFFF"/>
            </a:solidFill>
            <a:prstDash val="solid"/>
          </a:ln>
        </p:spPr>
      </p:sp>
      <p:sp>
        <p:nvSpPr>
          <p:cNvPr id="56" name="Shape 54"/>
          <p:cNvSpPr/>
          <p:nvPr/>
        </p:nvSpPr>
        <p:spPr>
          <a:xfrm>
            <a:off x="7580376" y="2916936"/>
            <a:ext cx="109728" cy="109728"/>
          </a:xfrm>
          <a:prstGeom prst="ellipse">
            <a:avLst/>
          </a:prstGeom>
          <a:solidFill>
            <a:srgbClr val="4A6FA5"/>
          </a:solidFill>
          <a:ln w="9525">
            <a:solidFill>
              <a:srgbClr val="FFFFFF"/>
            </a:solidFill>
            <a:prstDash val="solid"/>
          </a:ln>
        </p:spPr>
      </p:sp>
      <p:sp>
        <p:nvSpPr>
          <p:cNvPr id="57" name="Text 55"/>
          <p:cNvSpPr txBox="1"/>
          <p:nvPr/>
        </p:nvSpPr>
        <p:spPr>
          <a:xfrm>
            <a:off x="7772400" y="2882189"/>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+3</a:t>
            </a:r>
            <a:endParaRPr lang="en-US" sz="800" dirty="0"/>
          </a:p>
        </p:txBody>
      </p:sp>
      <p:sp>
        <p:nvSpPr>
          <p:cNvPr id="58" name="Text 56"/>
          <p:cNvSpPr txBox="1"/>
          <p:nvPr/>
        </p:nvSpPr>
        <p:spPr>
          <a:xfrm>
            <a:off x="365760" y="3061411"/>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Python / PySpark y Databricks</a:t>
            </a:r>
            <a:endParaRPr lang="en-US" sz="850" dirty="0"/>
          </a:p>
        </p:txBody>
      </p:sp>
      <p:sp>
        <p:nvSpPr>
          <p:cNvPr id="59" name="Shape 57"/>
          <p:cNvSpPr/>
          <p:nvPr/>
        </p:nvSpPr>
        <p:spPr>
          <a:xfrm>
            <a:off x="2971800" y="3151022"/>
            <a:ext cx="4663440" cy="0"/>
          </a:xfrm>
          <a:prstGeom prst="line">
            <a:avLst/>
          </a:prstGeom>
          <a:noFill/>
          <a:ln w="15875">
            <a:solidFill>
              <a:srgbClr val="E3E6EA"/>
            </a:solidFill>
            <a:prstDash val="solid"/>
          </a:ln>
        </p:spPr>
      </p:sp>
      <p:sp>
        <p:nvSpPr>
          <p:cNvPr id="60" name="Shape 58"/>
          <p:cNvSpPr/>
          <p:nvPr/>
        </p:nvSpPr>
        <p:spPr>
          <a:xfrm>
            <a:off x="3026664" y="3151022"/>
            <a:ext cx="4553712" cy="0"/>
          </a:xfrm>
          <a:prstGeom prst="line">
            <a:avLst/>
          </a:prstGeom>
          <a:noFill/>
          <a:ln w="22225">
            <a:solidFill>
              <a:srgbClr val="4A6FA5">
                <a:alpha val="65000"/>
              </a:srgbClr>
            </a:solidFill>
            <a:prstDash val="solid"/>
            <a:tailEnd type="triangle"/>
          </a:ln>
        </p:spPr>
      </p:sp>
      <p:sp>
        <p:nvSpPr>
          <p:cNvPr id="61" name="Shape 59"/>
          <p:cNvSpPr/>
          <p:nvPr/>
        </p:nvSpPr>
        <p:spPr>
          <a:xfrm>
            <a:off x="2916936" y="3096158"/>
            <a:ext cx="109728" cy="109728"/>
          </a:xfrm>
          <a:prstGeom prst="ellipse">
            <a:avLst/>
          </a:prstGeom>
          <a:solidFill>
            <a:srgbClr val="9AA3AE"/>
          </a:solidFill>
          <a:ln w="9525">
            <a:solidFill>
              <a:srgbClr val="FFFFFF"/>
            </a:solidFill>
            <a:prstDash val="solid"/>
          </a:ln>
        </p:spPr>
      </p:sp>
      <p:sp>
        <p:nvSpPr>
          <p:cNvPr id="62" name="Shape 60"/>
          <p:cNvSpPr/>
          <p:nvPr/>
        </p:nvSpPr>
        <p:spPr>
          <a:xfrm>
            <a:off x="7580376" y="3096158"/>
            <a:ext cx="109728" cy="109728"/>
          </a:xfrm>
          <a:prstGeom prst="ellipse">
            <a:avLst/>
          </a:prstGeom>
          <a:solidFill>
            <a:srgbClr val="4A6FA5"/>
          </a:solidFill>
          <a:ln w="9525">
            <a:solidFill>
              <a:srgbClr val="FFFFFF"/>
            </a:solidFill>
            <a:prstDash val="solid"/>
          </a:ln>
        </p:spPr>
      </p:sp>
      <p:sp>
        <p:nvSpPr>
          <p:cNvPr id="63" name="Text 61"/>
          <p:cNvSpPr txBox="1"/>
          <p:nvPr/>
        </p:nvSpPr>
        <p:spPr>
          <a:xfrm>
            <a:off x="7772400" y="3061411"/>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+3</a:t>
            </a:r>
            <a:endParaRPr lang="en-US" sz="800" dirty="0"/>
          </a:p>
        </p:txBody>
      </p:sp>
      <p:sp>
        <p:nvSpPr>
          <p:cNvPr id="64" name="Text 62"/>
          <p:cNvSpPr txBox="1"/>
          <p:nvPr/>
        </p:nvSpPr>
        <p:spPr>
          <a:xfrm>
            <a:off x="365760" y="3240634"/>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Power BI y DAX</a:t>
            </a:r>
            <a:endParaRPr lang="en-US" sz="850" dirty="0"/>
          </a:p>
        </p:txBody>
      </p:sp>
      <p:sp>
        <p:nvSpPr>
          <p:cNvPr id="65" name="Shape 63"/>
          <p:cNvSpPr/>
          <p:nvPr/>
        </p:nvSpPr>
        <p:spPr>
          <a:xfrm>
            <a:off x="2971800" y="3330245"/>
            <a:ext cx="4663440" cy="0"/>
          </a:xfrm>
          <a:prstGeom prst="line">
            <a:avLst/>
          </a:prstGeom>
          <a:noFill/>
          <a:ln w="15875">
            <a:solidFill>
              <a:srgbClr val="E3E6EA"/>
            </a:solidFill>
            <a:prstDash val="solid"/>
          </a:ln>
        </p:spPr>
      </p:sp>
      <p:sp>
        <p:nvSpPr>
          <p:cNvPr id="66" name="Shape 64"/>
          <p:cNvSpPr/>
          <p:nvPr/>
        </p:nvSpPr>
        <p:spPr>
          <a:xfrm>
            <a:off x="3026664" y="3330245"/>
            <a:ext cx="2999232" cy="0"/>
          </a:xfrm>
          <a:prstGeom prst="line">
            <a:avLst/>
          </a:prstGeom>
          <a:noFill/>
          <a:ln w="22225">
            <a:solidFill>
              <a:srgbClr val="4A6FA5">
                <a:alpha val="65000"/>
              </a:srgbClr>
            </a:solidFill>
            <a:prstDash val="solid"/>
            <a:tailEnd type="triangle"/>
          </a:ln>
        </p:spPr>
      </p:sp>
      <p:sp>
        <p:nvSpPr>
          <p:cNvPr id="67" name="Shape 65"/>
          <p:cNvSpPr/>
          <p:nvPr/>
        </p:nvSpPr>
        <p:spPr>
          <a:xfrm>
            <a:off x="2916936" y="3275381"/>
            <a:ext cx="109728" cy="109728"/>
          </a:xfrm>
          <a:prstGeom prst="ellipse">
            <a:avLst/>
          </a:prstGeom>
          <a:solidFill>
            <a:srgbClr val="9AA3AE"/>
          </a:solidFill>
          <a:ln w="9525">
            <a:solidFill>
              <a:srgbClr val="FFFFFF"/>
            </a:solidFill>
            <a:prstDash val="solid"/>
          </a:ln>
        </p:spPr>
      </p:sp>
      <p:sp>
        <p:nvSpPr>
          <p:cNvPr id="68" name="Shape 66"/>
          <p:cNvSpPr/>
          <p:nvPr/>
        </p:nvSpPr>
        <p:spPr>
          <a:xfrm>
            <a:off x="6025896" y="3275381"/>
            <a:ext cx="109728" cy="109728"/>
          </a:xfrm>
          <a:prstGeom prst="ellipse">
            <a:avLst/>
          </a:prstGeom>
          <a:solidFill>
            <a:srgbClr val="4A6FA5"/>
          </a:solidFill>
          <a:ln w="9525">
            <a:solidFill>
              <a:srgbClr val="FFFFFF"/>
            </a:solidFill>
            <a:prstDash val="solid"/>
          </a:ln>
        </p:spPr>
      </p:sp>
      <p:sp>
        <p:nvSpPr>
          <p:cNvPr id="69" name="Text 67"/>
          <p:cNvSpPr txBox="1"/>
          <p:nvPr/>
        </p:nvSpPr>
        <p:spPr>
          <a:xfrm>
            <a:off x="7772400" y="3240634"/>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70" name="Text 68"/>
          <p:cNvSpPr txBox="1"/>
          <p:nvPr/>
        </p:nvSpPr>
        <p:spPr>
          <a:xfrm>
            <a:off x="365760" y="3419856"/>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Normativa CMF: MSI, RAN 18-5, Ley 21.680</a:t>
            </a:r>
            <a:endParaRPr lang="en-US" sz="850" dirty="0"/>
          </a:p>
        </p:txBody>
      </p:sp>
      <p:sp>
        <p:nvSpPr>
          <p:cNvPr id="71" name="Shape 69"/>
          <p:cNvSpPr/>
          <p:nvPr/>
        </p:nvSpPr>
        <p:spPr>
          <a:xfrm>
            <a:off x="2971800" y="3509467"/>
            <a:ext cx="4663440" cy="0"/>
          </a:xfrm>
          <a:prstGeom prst="line">
            <a:avLst/>
          </a:prstGeom>
          <a:noFill/>
          <a:ln w="15875">
            <a:solidFill>
              <a:srgbClr val="E3E6EA"/>
            </a:solidFill>
            <a:prstDash val="solid"/>
          </a:ln>
        </p:spPr>
      </p:sp>
      <p:sp>
        <p:nvSpPr>
          <p:cNvPr id="72" name="Shape 70"/>
          <p:cNvSpPr/>
          <p:nvPr/>
        </p:nvSpPr>
        <p:spPr>
          <a:xfrm>
            <a:off x="3026664" y="3509467"/>
            <a:ext cx="4553712" cy="0"/>
          </a:xfrm>
          <a:prstGeom prst="line">
            <a:avLst/>
          </a:prstGeom>
          <a:noFill/>
          <a:ln w="22225">
            <a:solidFill>
              <a:srgbClr val="4A6FA5">
                <a:alpha val="65000"/>
              </a:srgbClr>
            </a:solidFill>
            <a:prstDash val="solid"/>
            <a:tailEnd type="triangle"/>
          </a:ln>
        </p:spPr>
      </p:sp>
      <p:sp>
        <p:nvSpPr>
          <p:cNvPr id="73" name="Shape 71"/>
          <p:cNvSpPr/>
          <p:nvPr/>
        </p:nvSpPr>
        <p:spPr>
          <a:xfrm>
            <a:off x="2916936" y="3454603"/>
            <a:ext cx="109728" cy="109728"/>
          </a:xfrm>
          <a:prstGeom prst="ellipse">
            <a:avLst/>
          </a:prstGeom>
          <a:solidFill>
            <a:srgbClr val="9AA3AE"/>
          </a:solidFill>
          <a:ln w="9525">
            <a:solidFill>
              <a:srgbClr val="FFFFFF"/>
            </a:solidFill>
            <a:prstDash val="solid"/>
          </a:ln>
        </p:spPr>
      </p:sp>
      <p:sp>
        <p:nvSpPr>
          <p:cNvPr id="74" name="Shape 72"/>
          <p:cNvSpPr/>
          <p:nvPr/>
        </p:nvSpPr>
        <p:spPr>
          <a:xfrm>
            <a:off x="7580376" y="3454603"/>
            <a:ext cx="109728" cy="109728"/>
          </a:xfrm>
          <a:prstGeom prst="ellipse">
            <a:avLst/>
          </a:prstGeom>
          <a:solidFill>
            <a:srgbClr val="4A6FA5"/>
          </a:solidFill>
          <a:ln w="9525">
            <a:solidFill>
              <a:srgbClr val="FFFFFF"/>
            </a:solidFill>
            <a:prstDash val="solid"/>
          </a:ln>
        </p:spPr>
      </p:sp>
      <p:sp>
        <p:nvSpPr>
          <p:cNvPr id="75" name="Text 73"/>
          <p:cNvSpPr txBox="1"/>
          <p:nvPr/>
        </p:nvSpPr>
        <p:spPr>
          <a:xfrm>
            <a:off x="7772400" y="3419856"/>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+3</a:t>
            </a:r>
            <a:endParaRPr lang="en-US" sz="800" dirty="0"/>
          </a:p>
        </p:txBody>
      </p:sp>
      <p:sp>
        <p:nvSpPr>
          <p:cNvPr id="76" name="Text 74"/>
          <p:cNvSpPr txBox="1"/>
          <p:nvPr/>
        </p:nvSpPr>
        <p:spPr>
          <a:xfrm>
            <a:off x="365760" y="3599078"/>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Contabilidad bancaria (Compendio)</a:t>
            </a:r>
            <a:endParaRPr lang="en-US" sz="850" dirty="0"/>
          </a:p>
        </p:txBody>
      </p:sp>
      <p:sp>
        <p:nvSpPr>
          <p:cNvPr id="77" name="Shape 75"/>
          <p:cNvSpPr/>
          <p:nvPr/>
        </p:nvSpPr>
        <p:spPr>
          <a:xfrm>
            <a:off x="2971800" y="3688690"/>
            <a:ext cx="4663440" cy="0"/>
          </a:xfrm>
          <a:prstGeom prst="line">
            <a:avLst/>
          </a:prstGeom>
          <a:noFill/>
          <a:ln w="15875">
            <a:solidFill>
              <a:srgbClr val="E3E6EA"/>
            </a:solidFill>
            <a:prstDash val="solid"/>
          </a:ln>
        </p:spPr>
      </p:sp>
      <p:sp>
        <p:nvSpPr>
          <p:cNvPr id="78" name="Shape 76"/>
          <p:cNvSpPr/>
          <p:nvPr/>
        </p:nvSpPr>
        <p:spPr>
          <a:xfrm>
            <a:off x="4581144" y="3688690"/>
            <a:ext cx="1444752" cy="0"/>
          </a:xfrm>
          <a:prstGeom prst="line">
            <a:avLst/>
          </a:prstGeom>
          <a:noFill/>
          <a:ln w="22225">
            <a:solidFill>
              <a:srgbClr val="4A6FA5">
                <a:alpha val="65000"/>
              </a:srgbClr>
            </a:solidFill>
            <a:prstDash val="solid"/>
            <a:tailEnd type="triangle"/>
          </a:ln>
        </p:spPr>
      </p:sp>
      <p:sp>
        <p:nvSpPr>
          <p:cNvPr id="79" name="Shape 77"/>
          <p:cNvSpPr/>
          <p:nvPr/>
        </p:nvSpPr>
        <p:spPr>
          <a:xfrm>
            <a:off x="4471416" y="3633826"/>
            <a:ext cx="109728" cy="109728"/>
          </a:xfrm>
          <a:prstGeom prst="ellipse">
            <a:avLst/>
          </a:prstGeom>
          <a:solidFill>
            <a:srgbClr val="9AA3AE"/>
          </a:solidFill>
          <a:ln w="9525">
            <a:solidFill>
              <a:srgbClr val="FFFFFF"/>
            </a:solidFill>
            <a:prstDash val="solid"/>
          </a:ln>
        </p:spPr>
      </p:sp>
      <p:sp>
        <p:nvSpPr>
          <p:cNvPr id="80" name="Shape 78"/>
          <p:cNvSpPr/>
          <p:nvPr/>
        </p:nvSpPr>
        <p:spPr>
          <a:xfrm>
            <a:off x="6025896" y="3633826"/>
            <a:ext cx="109728" cy="109728"/>
          </a:xfrm>
          <a:prstGeom prst="ellipse">
            <a:avLst/>
          </a:prstGeom>
          <a:solidFill>
            <a:srgbClr val="4A6FA5"/>
          </a:solidFill>
          <a:ln w="9525">
            <a:solidFill>
              <a:srgbClr val="FFFFFF"/>
            </a:solidFill>
            <a:prstDash val="solid"/>
          </a:ln>
        </p:spPr>
      </p:sp>
      <p:sp>
        <p:nvSpPr>
          <p:cNvPr id="81" name="Text 79"/>
          <p:cNvSpPr txBox="1"/>
          <p:nvPr/>
        </p:nvSpPr>
        <p:spPr>
          <a:xfrm>
            <a:off x="7772400" y="3599078"/>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+1</a:t>
            </a:r>
            <a:endParaRPr lang="en-US" sz="800" dirty="0"/>
          </a:p>
        </p:txBody>
      </p:sp>
      <p:sp>
        <p:nvSpPr>
          <p:cNvPr id="82" name="Text 80"/>
          <p:cNvSpPr txBox="1"/>
          <p:nvPr/>
        </p:nvSpPr>
        <p:spPr>
          <a:xfrm>
            <a:off x="365760" y="3778301"/>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Calidad de datos y trazabilidad</a:t>
            </a:r>
            <a:endParaRPr lang="en-US" sz="850" dirty="0"/>
          </a:p>
        </p:txBody>
      </p:sp>
      <p:sp>
        <p:nvSpPr>
          <p:cNvPr id="83" name="Shape 81"/>
          <p:cNvSpPr/>
          <p:nvPr/>
        </p:nvSpPr>
        <p:spPr>
          <a:xfrm>
            <a:off x="2971800" y="3867912"/>
            <a:ext cx="4663440" cy="0"/>
          </a:xfrm>
          <a:prstGeom prst="line">
            <a:avLst/>
          </a:prstGeom>
          <a:noFill/>
          <a:ln w="15875">
            <a:solidFill>
              <a:srgbClr val="E3E6EA"/>
            </a:solidFill>
            <a:prstDash val="solid"/>
          </a:ln>
        </p:spPr>
      </p:sp>
      <p:sp>
        <p:nvSpPr>
          <p:cNvPr id="84" name="Shape 82"/>
          <p:cNvSpPr/>
          <p:nvPr/>
        </p:nvSpPr>
        <p:spPr>
          <a:xfrm>
            <a:off x="4581144" y="3867912"/>
            <a:ext cx="2999232" cy="0"/>
          </a:xfrm>
          <a:prstGeom prst="line">
            <a:avLst/>
          </a:prstGeom>
          <a:noFill/>
          <a:ln w="22225">
            <a:solidFill>
              <a:srgbClr val="4A6FA5">
                <a:alpha val="65000"/>
              </a:srgbClr>
            </a:solidFill>
            <a:prstDash val="solid"/>
            <a:tailEnd type="triangle"/>
          </a:ln>
        </p:spPr>
      </p:sp>
      <p:sp>
        <p:nvSpPr>
          <p:cNvPr id="85" name="Shape 83"/>
          <p:cNvSpPr/>
          <p:nvPr/>
        </p:nvSpPr>
        <p:spPr>
          <a:xfrm>
            <a:off x="4471416" y="3813048"/>
            <a:ext cx="109728" cy="109728"/>
          </a:xfrm>
          <a:prstGeom prst="ellipse">
            <a:avLst/>
          </a:prstGeom>
          <a:solidFill>
            <a:srgbClr val="9AA3AE"/>
          </a:solidFill>
          <a:ln w="9525">
            <a:solidFill>
              <a:srgbClr val="FFFFFF"/>
            </a:solidFill>
            <a:prstDash val="solid"/>
          </a:ln>
        </p:spPr>
      </p:sp>
      <p:sp>
        <p:nvSpPr>
          <p:cNvPr id="86" name="Shape 84"/>
          <p:cNvSpPr/>
          <p:nvPr/>
        </p:nvSpPr>
        <p:spPr>
          <a:xfrm>
            <a:off x="7580376" y="3813048"/>
            <a:ext cx="109728" cy="109728"/>
          </a:xfrm>
          <a:prstGeom prst="ellipse">
            <a:avLst/>
          </a:prstGeom>
          <a:solidFill>
            <a:srgbClr val="4A6FA5"/>
          </a:solidFill>
          <a:ln w="9525">
            <a:solidFill>
              <a:srgbClr val="FFFFFF"/>
            </a:solidFill>
            <a:prstDash val="solid"/>
          </a:ln>
        </p:spPr>
      </p:sp>
      <p:sp>
        <p:nvSpPr>
          <p:cNvPr id="87" name="Text 85"/>
          <p:cNvSpPr txBox="1"/>
          <p:nvPr/>
        </p:nvSpPr>
        <p:spPr>
          <a:xfrm>
            <a:off x="7772400" y="3778301"/>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88" name="Text 86"/>
          <p:cNvSpPr txBox="1"/>
          <p:nvPr/>
        </p:nvSpPr>
        <p:spPr>
          <a:xfrm>
            <a:off x="365760" y="3957523"/>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Protección de datos, Ley 19.628</a:t>
            </a:r>
            <a:endParaRPr lang="en-US" sz="850" dirty="0"/>
          </a:p>
        </p:txBody>
      </p:sp>
      <p:sp>
        <p:nvSpPr>
          <p:cNvPr id="89" name="Shape 87"/>
          <p:cNvSpPr/>
          <p:nvPr/>
        </p:nvSpPr>
        <p:spPr>
          <a:xfrm>
            <a:off x="2971800" y="4047134"/>
            <a:ext cx="4663440" cy="0"/>
          </a:xfrm>
          <a:prstGeom prst="line">
            <a:avLst/>
          </a:prstGeom>
          <a:noFill/>
          <a:ln w="15875">
            <a:solidFill>
              <a:srgbClr val="E3E6EA"/>
            </a:solidFill>
            <a:prstDash val="solid"/>
          </a:ln>
        </p:spPr>
      </p:sp>
      <p:sp>
        <p:nvSpPr>
          <p:cNvPr id="90" name="Shape 88"/>
          <p:cNvSpPr/>
          <p:nvPr/>
        </p:nvSpPr>
        <p:spPr>
          <a:xfrm>
            <a:off x="3026664" y="4047134"/>
            <a:ext cx="2999232" cy="0"/>
          </a:xfrm>
          <a:prstGeom prst="line">
            <a:avLst/>
          </a:prstGeom>
          <a:noFill/>
          <a:ln w="22225">
            <a:solidFill>
              <a:srgbClr val="4A6FA5">
                <a:alpha val="65000"/>
              </a:srgbClr>
            </a:solidFill>
            <a:prstDash val="solid"/>
            <a:tailEnd type="triangle"/>
          </a:ln>
        </p:spPr>
      </p:sp>
      <p:sp>
        <p:nvSpPr>
          <p:cNvPr id="91" name="Shape 89"/>
          <p:cNvSpPr/>
          <p:nvPr/>
        </p:nvSpPr>
        <p:spPr>
          <a:xfrm>
            <a:off x="2916936" y="3992270"/>
            <a:ext cx="109728" cy="109728"/>
          </a:xfrm>
          <a:prstGeom prst="ellipse">
            <a:avLst/>
          </a:prstGeom>
          <a:solidFill>
            <a:srgbClr val="9AA3AE"/>
          </a:solidFill>
          <a:ln w="9525">
            <a:solidFill>
              <a:srgbClr val="FFFFFF"/>
            </a:solidFill>
            <a:prstDash val="solid"/>
          </a:ln>
        </p:spPr>
      </p:sp>
      <p:sp>
        <p:nvSpPr>
          <p:cNvPr id="92" name="Shape 90"/>
          <p:cNvSpPr/>
          <p:nvPr/>
        </p:nvSpPr>
        <p:spPr>
          <a:xfrm>
            <a:off x="6025896" y="3992270"/>
            <a:ext cx="109728" cy="109728"/>
          </a:xfrm>
          <a:prstGeom prst="ellipse">
            <a:avLst/>
          </a:prstGeom>
          <a:solidFill>
            <a:srgbClr val="4A6FA5"/>
          </a:solidFill>
          <a:ln w="9525">
            <a:solidFill>
              <a:srgbClr val="FFFFFF"/>
            </a:solidFill>
            <a:prstDash val="solid"/>
          </a:ln>
        </p:spPr>
      </p:sp>
      <p:sp>
        <p:nvSpPr>
          <p:cNvPr id="93" name="Text 91"/>
          <p:cNvSpPr txBox="1"/>
          <p:nvPr/>
        </p:nvSpPr>
        <p:spPr>
          <a:xfrm>
            <a:off x="7772400" y="3957523"/>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94" name="Text 92"/>
          <p:cNvSpPr txBox="1"/>
          <p:nvPr/>
        </p:nvSpPr>
        <p:spPr>
          <a:xfrm>
            <a:off x="365760" y="4136746"/>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Documentación de procesos (BPMN)</a:t>
            </a:r>
            <a:endParaRPr lang="en-US" sz="850" dirty="0"/>
          </a:p>
        </p:txBody>
      </p:sp>
      <p:sp>
        <p:nvSpPr>
          <p:cNvPr id="95" name="Shape 93"/>
          <p:cNvSpPr/>
          <p:nvPr/>
        </p:nvSpPr>
        <p:spPr>
          <a:xfrm>
            <a:off x="2971800" y="4226357"/>
            <a:ext cx="4663440" cy="0"/>
          </a:xfrm>
          <a:prstGeom prst="line">
            <a:avLst/>
          </a:prstGeom>
          <a:noFill/>
          <a:ln w="15875">
            <a:solidFill>
              <a:srgbClr val="E3E6EA"/>
            </a:solidFill>
            <a:prstDash val="solid"/>
          </a:ln>
        </p:spPr>
      </p:sp>
      <p:sp>
        <p:nvSpPr>
          <p:cNvPr id="96" name="Shape 94"/>
          <p:cNvSpPr/>
          <p:nvPr/>
        </p:nvSpPr>
        <p:spPr>
          <a:xfrm>
            <a:off x="3026664" y="4226357"/>
            <a:ext cx="2999232" cy="0"/>
          </a:xfrm>
          <a:prstGeom prst="line">
            <a:avLst/>
          </a:prstGeom>
          <a:noFill/>
          <a:ln w="22225">
            <a:solidFill>
              <a:srgbClr val="4A6FA5">
                <a:alpha val="65000"/>
              </a:srgbClr>
            </a:solidFill>
            <a:prstDash val="solid"/>
            <a:tailEnd type="triangle"/>
          </a:ln>
        </p:spPr>
      </p:sp>
      <p:sp>
        <p:nvSpPr>
          <p:cNvPr id="97" name="Shape 95"/>
          <p:cNvSpPr/>
          <p:nvPr/>
        </p:nvSpPr>
        <p:spPr>
          <a:xfrm>
            <a:off x="2916936" y="4171493"/>
            <a:ext cx="109728" cy="109728"/>
          </a:xfrm>
          <a:prstGeom prst="ellipse">
            <a:avLst/>
          </a:prstGeom>
          <a:solidFill>
            <a:srgbClr val="9AA3AE"/>
          </a:solidFill>
          <a:ln w="9525">
            <a:solidFill>
              <a:srgbClr val="FFFFFF"/>
            </a:solidFill>
            <a:prstDash val="solid"/>
          </a:ln>
        </p:spPr>
      </p:sp>
      <p:sp>
        <p:nvSpPr>
          <p:cNvPr id="98" name="Shape 96"/>
          <p:cNvSpPr/>
          <p:nvPr/>
        </p:nvSpPr>
        <p:spPr>
          <a:xfrm>
            <a:off x="6025896" y="4171493"/>
            <a:ext cx="109728" cy="109728"/>
          </a:xfrm>
          <a:prstGeom prst="ellipse">
            <a:avLst/>
          </a:prstGeom>
          <a:solidFill>
            <a:srgbClr val="4A6FA5"/>
          </a:solidFill>
          <a:ln w="9525">
            <a:solidFill>
              <a:srgbClr val="FFFFFF"/>
            </a:solidFill>
            <a:prstDash val="solid"/>
          </a:ln>
        </p:spPr>
      </p:sp>
      <p:sp>
        <p:nvSpPr>
          <p:cNvPr id="99" name="Text 97"/>
          <p:cNvSpPr txBox="1"/>
          <p:nvPr/>
        </p:nvSpPr>
        <p:spPr>
          <a:xfrm>
            <a:off x="7772400" y="4136746"/>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100" name="Text 98"/>
          <p:cNvSpPr txBox="1"/>
          <p:nvPr/>
        </p:nvSpPr>
        <p:spPr>
          <a:xfrm>
            <a:off x="365760" y="4315968"/>
            <a:ext cx="1828800" cy="179222"/>
          </a:xfrm>
          <a:prstGeom prst="rect">
            <a:avLst/>
          </a:prstGeom>
          <a:noFill/>
          <a:ln/>
        </p:spPr>
        <p:txBody>
          <a:bodyPr wrap="square" lIns="0" tIns="0" rIns="0" bIns="0" rtlCol="0" anchor="ctr"/>
          <a:lstStyle/>
          <a:p>
            <a:pPr indent="0" marL="0">
              <a:buNone/>
            </a:pPr>
            <a:r>
              <a:rPr lang="en-US" sz="750" b="1" spc="150" kern="0" dirty="0">
                <a:solidFill>
                  <a:srgbClr val="8A94A0"/>
                </a:solidFill>
                <a:latin typeface="Calibri" pitchFamily="34" charset="0"/>
                <a:ea typeface="Calibri" pitchFamily="34" charset="-122"/>
                <a:cs typeface="Calibri" pitchFamily="34" charset="-120"/>
              </a:rPr>
              <a:t>SOFT SKILLS</a:t>
            </a:r>
            <a:endParaRPr lang="en-US" sz="750" dirty="0"/>
          </a:p>
        </p:txBody>
      </p:sp>
      <p:sp>
        <p:nvSpPr>
          <p:cNvPr id="101" name="Text 99"/>
          <p:cNvSpPr txBox="1"/>
          <p:nvPr/>
        </p:nvSpPr>
        <p:spPr>
          <a:xfrm>
            <a:off x="365760" y="4495190"/>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Comunicación con reguladores</a:t>
            </a:r>
            <a:endParaRPr lang="en-US" sz="850" dirty="0"/>
          </a:p>
        </p:txBody>
      </p:sp>
      <p:sp>
        <p:nvSpPr>
          <p:cNvPr id="102" name="Shape 100"/>
          <p:cNvSpPr/>
          <p:nvPr/>
        </p:nvSpPr>
        <p:spPr>
          <a:xfrm>
            <a:off x="2971800" y="4584802"/>
            <a:ext cx="4663440" cy="0"/>
          </a:xfrm>
          <a:prstGeom prst="line">
            <a:avLst/>
          </a:prstGeom>
          <a:noFill/>
          <a:ln w="15875">
            <a:solidFill>
              <a:srgbClr val="E3E6EA"/>
            </a:solidFill>
            <a:prstDash val="solid"/>
          </a:ln>
        </p:spPr>
      </p:sp>
      <p:sp>
        <p:nvSpPr>
          <p:cNvPr id="103" name="Shape 101"/>
          <p:cNvSpPr/>
          <p:nvPr/>
        </p:nvSpPr>
        <p:spPr>
          <a:xfrm>
            <a:off x="3026664" y="4584802"/>
            <a:ext cx="4553712" cy="0"/>
          </a:xfrm>
          <a:prstGeom prst="line">
            <a:avLst/>
          </a:prstGeom>
          <a:noFill/>
          <a:ln w="22225">
            <a:solidFill>
              <a:srgbClr val="4A6FA5">
                <a:alpha val="65000"/>
              </a:srgbClr>
            </a:solidFill>
            <a:prstDash val="solid"/>
            <a:tailEnd type="triangle"/>
          </a:ln>
        </p:spPr>
      </p:sp>
      <p:sp>
        <p:nvSpPr>
          <p:cNvPr id="104" name="Shape 102"/>
          <p:cNvSpPr/>
          <p:nvPr/>
        </p:nvSpPr>
        <p:spPr>
          <a:xfrm>
            <a:off x="2916936" y="4529938"/>
            <a:ext cx="109728" cy="109728"/>
          </a:xfrm>
          <a:prstGeom prst="ellipse">
            <a:avLst/>
          </a:prstGeom>
          <a:solidFill>
            <a:srgbClr val="9AA3AE"/>
          </a:solidFill>
          <a:ln w="9525">
            <a:solidFill>
              <a:srgbClr val="FFFFFF"/>
            </a:solidFill>
            <a:prstDash val="solid"/>
          </a:ln>
        </p:spPr>
      </p:sp>
      <p:sp>
        <p:nvSpPr>
          <p:cNvPr id="105" name="Shape 103"/>
          <p:cNvSpPr/>
          <p:nvPr/>
        </p:nvSpPr>
        <p:spPr>
          <a:xfrm>
            <a:off x="7580376" y="4529938"/>
            <a:ext cx="109728" cy="109728"/>
          </a:xfrm>
          <a:prstGeom prst="ellipse">
            <a:avLst/>
          </a:prstGeom>
          <a:solidFill>
            <a:srgbClr val="4A6FA5"/>
          </a:solidFill>
          <a:ln w="9525">
            <a:solidFill>
              <a:srgbClr val="FFFFFF"/>
            </a:solidFill>
            <a:prstDash val="solid"/>
          </a:ln>
        </p:spPr>
      </p:sp>
      <p:sp>
        <p:nvSpPr>
          <p:cNvPr id="106" name="Text 104"/>
          <p:cNvSpPr txBox="1"/>
          <p:nvPr/>
        </p:nvSpPr>
        <p:spPr>
          <a:xfrm>
            <a:off x="7772400" y="4495190"/>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+3</a:t>
            </a:r>
            <a:endParaRPr lang="en-US" sz="800" dirty="0"/>
          </a:p>
        </p:txBody>
      </p:sp>
      <p:sp>
        <p:nvSpPr>
          <p:cNvPr id="107" name="Text 105"/>
          <p:cNvSpPr txBox="1"/>
          <p:nvPr/>
        </p:nvSpPr>
        <p:spPr>
          <a:xfrm>
            <a:off x="365760" y="4674413"/>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Juicio normativo y criterio para escalar</a:t>
            </a:r>
            <a:endParaRPr lang="en-US" sz="850" dirty="0"/>
          </a:p>
        </p:txBody>
      </p:sp>
      <p:sp>
        <p:nvSpPr>
          <p:cNvPr id="108" name="Shape 106"/>
          <p:cNvSpPr/>
          <p:nvPr/>
        </p:nvSpPr>
        <p:spPr>
          <a:xfrm>
            <a:off x="2971800" y="4764024"/>
            <a:ext cx="4663440" cy="0"/>
          </a:xfrm>
          <a:prstGeom prst="line">
            <a:avLst/>
          </a:prstGeom>
          <a:noFill/>
          <a:ln w="15875">
            <a:solidFill>
              <a:srgbClr val="E3E6EA"/>
            </a:solidFill>
            <a:prstDash val="solid"/>
          </a:ln>
        </p:spPr>
      </p:sp>
      <p:sp>
        <p:nvSpPr>
          <p:cNvPr id="109" name="Shape 107"/>
          <p:cNvSpPr/>
          <p:nvPr/>
        </p:nvSpPr>
        <p:spPr>
          <a:xfrm>
            <a:off x="4581144" y="4764024"/>
            <a:ext cx="2999232" cy="0"/>
          </a:xfrm>
          <a:prstGeom prst="line">
            <a:avLst/>
          </a:prstGeom>
          <a:noFill/>
          <a:ln w="22225">
            <a:solidFill>
              <a:srgbClr val="4A6FA5">
                <a:alpha val="65000"/>
              </a:srgbClr>
            </a:solidFill>
            <a:prstDash val="solid"/>
            <a:tailEnd type="triangle"/>
          </a:ln>
        </p:spPr>
      </p:sp>
      <p:sp>
        <p:nvSpPr>
          <p:cNvPr id="110" name="Shape 108"/>
          <p:cNvSpPr/>
          <p:nvPr/>
        </p:nvSpPr>
        <p:spPr>
          <a:xfrm>
            <a:off x="4471416" y="4709160"/>
            <a:ext cx="109728" cy="109728"/>
          </a:xfrm>
          <a:prstGeom prst="ellipse">
            <a:avLst/>
          </a:prstGeom>
          <a:solidFill>
            <a:srgbClr val="9AA3AE"/>
          </a:solidFill>
          <a:ln w="9525">
            <a:solidFill>
              <a:srgbClr val="FFFFFF"/>
            </a:solidFill>
            <a:prstDash val="solid"/>
          </a:ln>
        </p:spPr>
      </p:sp>
      <p:sp>
        <p:nvSpPr>
          <p:cNvPr id="111" name="Shape 109"/>
          <p:cNvSpPr/>
          <p:nvPr/>
        </p:nvSpPr>
        <p:spPr>
          <a:xfrm>
            <a:off x="7580376" y="4709160"/>
            <a:ext cx="109728" cy="109728"/>
          </a:xfrm>
          <a:prstGeom prst="ellipse">
            <a:avLst/>
          </a:prstGeom>
          <a:solidFill>
            <a:srgbClr val="4A6FA5"/>
          </a:solidFill>
          <a:ln w="9525">
            <a:solidFill>
              <a:srgbClr val="FFFFFF"/>
            </a:solidFill>
            <a:prstDash val="solid"/>
          </a:ln>
        </p:spPr>
      </p:sp>
      <p:sp>
        <p:nvSpPr>
          <p:cNvPr id="112" name="Text 110"/>
          <p:cNvSpPr txBox="1"/>
          <p:nvPr/>
        </p:nvSpPr>
        <p:spPr>
          <a:xfrm>
            <a:off x="7772400" y="4674413"/>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113" name="Text 111"/>
          <p:cNvSpPr txBox="1"/>
          <p:nvPr/>
        </p:nvSpPr>
        <p:spPr>
          <a:xfrm>
            <a:off x="365760" y="4853635"/>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Colaboración transversal</a:t>
            </a:r>
            <a:endParaRPr lang="en-US" sz="850" dirty="0"/>
          </a:p>
        </p:txBody>
      </p:sp>
      <p:sp>
        <p:nvSpPr>
          <p:cNvPr id="114" name="Shape 112"/>
          <p:cNvSpPr/>
          <p:nvPr/>
        </p:nvSpPr>
        <p:spPr>
          <a:xfrm>
            <a:off x="2971800" y="4943246"/>
            <a:ext cx="4663440" cy="0"/>
          </a:xfrm>
          <a:prstGeom prst="line">
            <a:avLst/>
          </a:prstGeom>
          <a:noFill/>
          <a:ln w="15875">
            <a:solidFill>
              <a:srgbClr val="E3E6EA"/>
            </a:solidFill>
            <a:prstDash val="solid"/>
          </a:ln>
        </p:spPr>
      </p:sp>
      <p:sp>
        <p:nvSpPr>
          <p:cNvPr id="115" name="Shape 113"/>
          <p:cNvSpPr/>
          <p:nvPr/>
        </p:nvSpPr>
        <p:spPr>
          <a:xfrm>
            <a:off x="4581144" y="4943246"/>
            <a:ext cx="2999232" cy="0"/>
          </a:xfrm>
          <a:prstGeom prst="line">
            <a:avLst/>
          </a:prstGeom>
          <a:noFill/>
          <a:ln w="22225">
            <a:solidFill>
              <a:srgbClr val="4A6FA5">
                <a:alpha val="65000"/>
              </a:srgbClr>
            </a:solidFill>
            <a:prstDash val="solid"/>
            <a:tailEnd type="triangle"/>
          </a:ln>
        </p:spPr>
      </p:sp>
      <p:sp>
        <p:nvSpPr>
          <p:cNvPr id="116" name="Shape 114"/>
          <p:cNvSpPr/>
          <p:nvPr/>
        </p:nvSpPr>
        <p:spPr>
          <a:xfrm>
            <a:off x="4471416" y="4888382"/>
            <a:ext cx="109728" cy="109728"/>
          </a:xfrm>
          <a:prstGeom prst="ellipse">
            <a:avLst/>
          </a:prstGeom>
          <a:solidFill>
            <a:srgbClr val="9AA3AE"/>
          </a:solidFill>
          <a:ln w="9525">
            <a:solidFill>
              <a:srgbClr val="FFFFFF"/>
            </a:solidFill>
            <a:prstDash val="solid"/>
          </a:ln>
        </p:spPr>
      </p:sp>
      <p:sp>
        <p:nvSpPr>
          <p:cNvPr id="117" name="Shape 115"/>
          <p:cNvSpPr/>
          <p:nvPr/>
        </p:nvSpPr>
        <p:spPr>
          <a:xfrm>
            <a:off x="7580376" y="4888382"/>
            <a:ext cx="109728" cy="109728"/>
          </a:xfrm>
          <a:prstGeom prst="ellipse">
            <a:avLst/>
          </a:prstGeom>
          <a:solidFill>
            <a:srgbClr val="4A6FA5"/>
          </a:solidFill>
          <a:ln w="9525">
            <a:solidFill>
              <a:srgbClr val="FFFFFF"/>
            </a:solidFill>
            <a:prstDash val="solid"/>
          </a:ln>
        </p:spPr>
      </p:sp>
      <p:sp>
        <p:nvSpPr>
          <p:cNvPr id="118" name="Text 116"/>
          <p:cNvSpPr txBox="1"/>
          <p:nvPr/>
        </p:nvSpPr>
        <p:spPr>
          <a:xfrm>
            <a:off x="7772400" y="4853635"/>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119" name="Text 117"/>
          <p:cNvSpPr txBox="1"/>
          <p:nvPr/>
        </p:nvSpPr>
        <p:spPr>
          <a:xfrm>
            <a:off x="365760" y="5032858"/>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Análisis y causa raíz</a:t>
            </a:r>
            <a:endParaRPr lang="en-US" sz="850" dirty="0"/>
          </a:p>
        </p:txBody>
      </p:sp>
      <p:sp>
        <p:nvSpPr>
          <p:cNvPr id="120" name="Shape 118"/>
          <p:cNvSpPr/>
          <p:nvPr/>
        </p:nvSpPr>
        <p:spPr>
          <a:xfrm>
            <a:off x="2971800" y="5122469"/>
            <a:ext cx="4663440" cy="0"/>
          </a:xfrm>
          <a:prstGeom prst="line">
            <a:avLst/>
          </a:prstGeom>
          <a:noFill/>
          <a:ln w="15875">
            <a:solidFill>
              <a:srgbClr val="E3E6EA"/>
            </a:solidFill>
            <a:prstDash val="solid"/>
          </a:ln>
        </p:spPr>
      </p:sp>
      <p:sp>
        <p:nvSpPr>
          <p:cNvPr id="121" name="Shape 119"/>
          <p:cNvSpPr/>
          <p:nvPr/>
        </p:nvSpPr>
        <p:spPr>
          <a:xfrm>
            <a:off x="4581144" y="5122469"/>
            <a:ext cx="2999232" cy="0"/>
          </a:xfrm>
          <a:prstGeom prst="line">
            <a:avLst/>
          </a:prstGeom>
          <a:noFill/>
          <a:ln w="22225">
            <a:solidFill>
              <a:srgbClr val="4A6FA5">
                <a:alpha val="65000"/>
              </a:srgbClr>
            </a:solidFill>
            <a:prstDash val="solid"/>
            <a:tailEnd type="triangle"/>
          </a:ln>
        </p:spPr>
      </p:sp>
      <p:sp>
        <p:nvSpPr>
          <p:cNvPr id="122" name="Shape 120"/>
          <p:cNvSpPr/>
          <p:nvPr/>
        </p:nvSpPr>
        <p:spPr>
          <a:xfrm>
            <a:off x="4471416" y="5067605"/>
            <a:ext cx="109728" cy="109728"/>
          </a:xfrm>
          <a:prstGeom prst="ellipse">
            <a:avLst/>
          </a:prstGeom>
          <a:solidFill>
            <a:srgbClr val="9AA3AE"/>
          </a:solidFill>
          <a:ln w="9525">
            <a:solidFill>
              <a:srgbClr val="FFFFFF"/>
            </a:solidFill>
            <a:prstDash val="solid"/>
          </a:ln>
        </p:spPr>
      </p:sp>
      <p:sp>
        <p:nvSpPr>
          <p:cNvPr id="123" name="Shape 121"/>
          <p:cNvSpPr/>
          <p:nvPr/>
        </p:nvSpPr>
        <p:spPr>
          <a:xfrm>
            <a:off x="7580376" y="5067605"/>
            <a:ext cx="109728" cy="109728"/>
          </a:xfrm>
          <a:prstGeom prst="ellipse">
            <a:avLst/>
          </a:prstGeom>
          <a:solidFill>
            <a:srgbClr val="4A6FA5"/>
          </a:solidFill>
          <a:ln w="9525">
            <a:solidFill>
              <a:srgbClr val="FFFFFF"/>
            </a:solidFill>
            <a:prstDash val="solid"/>
          </a:ln>
        </p:spPr>
      </p:sp>
      <p:sp>
        <p:nvSpPr>
          <p:cNvPr id="124" name="Text 122"/>
          <p:cNvSpPr txBox="1"/>
          <p:nvPr/>
        </p:nvSpPr>
        <p:spPr>
          <a:xfrm>
            <a:off x="7772400" y="5032858"/>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125" name="Text 123"/>
          <p:cNvSpPr txBox="1"/>
          <p:nvPr/>
        </p:nvSpPr>
        <p:spPr>
          <a:xfrm>
            <a:off x="365760" y="5212080"/>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Gestión de calendario bajo plazo diario</a:t>
            </a:r>
            <a:endParaRPr lang="en-US" sz="850" dirty="0"/>
          </a:p>
        </p:txBody>
      </p:sp>
      <p:sp>
        <p:nvSpPr>
          <p:cNvPr id="126" name="Shape 124"/>
          <p:cNvSpPr/>
          <p:nvPr/>
        </p:nvSpPr>
        <p:spPr>
          <a:xfrm>
            <a:off x="2971800" y="5301691"/>
            <a:ext cx="4663440" cy="0"/>
          </a:xfrm>
          <a:prstGeom prst="line">
            <a:avLst/>
          </a:prstGeom>
          <a:noFill/>
          <a:ln w="15875">
            <a:solidFill>
              <a:srgbClr val="E3E6EA"/>
            </a:solidFill>
            <a:prstDash val="solid"/>
          </a:ln>
        </p:spPr>
      </p:sp>
      <p:sp>
        <p:nvSpPr>
          <p:cNvPr id="127" name="Shape 125"/>
          <p:cNvSpPr/>
          <p:nvPr/>
        </p:nvSpPr>
        <p:spPr>
          <a:xfrm>
            <a:off x="4581144" y="5301691"/>
            <a:ext cx="2999232" cy="0"/>
          </a:xfrm>
          <a:prstGeom prst="line">
            <a:avLst/>
          </a:prstGeom>
          <a:noFill/>
          <a:ln w="22225">
            <a:solidFill>
              <a:srgbClr val="4A6FA5">
                <a:alpha val="65000"/>
              </a:srgbClr>
            </a:solidFill>
            <a:prstDash val="solid"/>
            <a:tailEnd type="triangle"/>
          </a:ln>
        </p:spPr>
      </p:sp>
      <p:sp>
        <p:nvSpPr>
          <p:cNvPr id="128" name="Shape 126"/>
          <p:cNvSpPr/>
          <p:nvPr/>
        </p:nvSpPr>
        <p:spPr>
          <a:xfrm>
            <a:off x="4471416" y="5246827"/>
            <a:ext cx="109728" cy="109728"/>
          </a:xfrm>
          <a:prstGeom prst="ellipse">
            <a:avLst/>
          </a:prstGeom>
          <a:solidFill>
            <a:srgbClr val="9AA3AE"/>
          </a:solidFill>
          <a:ln w="9525">
            <a:solidFill>
              <a:srgbClr val="FFFFFF"/>
            </a:solidFill>
            <a:prstDash val="solid"/>
          </a:ln>
        </p:spPr>
      </p:sp>
      <p:sp>
        <p:nvSpPr>
          <p:cNvPr id="129" name="Shape 127"/>
          <p:cNvSpPr/>
          <p:nvPr/>
        </p:nvSpPr>
        <p:spPr>
          <a:xfrm>
            <a:off x="7580376" y="5246827"/>
            <a:ext cx="109728" cy="109728"/>
          </a:xfrm>
          <a:prstGeom prst="ellipse">
            <a:avLst/>
          </a:prstGeom>
          <a:solidFill>
            <a:srgbClr val="4A6FA5"/>
          </a:solidFill>
          <a:ln w="9525">
            <a:solidFill>
              <a:srgbClr val="FFFFFF"/>
            </a:solidFill>
            <a:prstDash val="solid"/>
          </a:ln>
        </p:spPr>
      </p:sp>
      <p:sp>
        <p:nvSpPr>
          <p:cNvPr id="130" name="Text 128"/>
          <p:cNvSpPr txBox="1"/>
          <p:nvPr/>
        </p:nvSpPr>
        <p:spPr>
          <a:xfrm>
            <a:off x="7772400" y="5212080"/>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131" name="Text 129"/>
          <p:cNvSpPr txBox="1"/>
          <p:nvPr/>
        </p:nvSpPr>
        <p:spPr>
          <a:xfrm>
            <a:off x="365760" y="5391302"/>
            <a:ext cx="2514600" cy="179222"/>
          </a:xfrm>
          <a:prstGeom prst="rect">
            <a:avLst/>
          </a:prstGeom>
          <a:noFill/>
          <a:ln/>
        </p:spPr>
        <p:txBody>
          <a:bodyPr wrap="square" lIns="0" tIns="0" rIns="0" bIns="0" rtlCol="0" anchor="ctr"/>
          <a:lstStyle/>
          <a:p>
            <a:pPr indent="0" marL="0">
              <a:buNone/>
            </a:pPr>
            <a:r>
              <a:rPr lang="en-US" sz="850" dirty="0">
                <a:solidFill>
                  <a:srgbClr val="2B2F36"/>
                </a:solidFill>
                <a:latin typeface="Calibri" pitchFamily="34" charset="0"/>
                <a:ea typeface="Calibri" pitchFamily="34" charset="-122"/>
                <a:cs typeface="Calibri" pitchFamily="34" charset="-120"/>
              </a:rPr>
              <a:t>Storytelling y mesas de trabajo</a:t>
            </a:r>
            <a:endParaRPr lang="en-US" sz="850" dirty="0"/>
          </a:p>
        </p:txBody>
      </p:sp>
      <p:sp>
        <p:nvSpPr>
          <p:cNvPr id="132" name="Shape 130"/>
          <p:cNvSpPr/>
          <p:nvPr/>
        </p:nvSpPr>
        <p:spPr>
          <a:xfrm>
            <a:off x="2971800" y="5480914"/>
            <a:ext cx="4663440" cy="0"/>
          </a:xfrm>
          <a:prstGeom prst="line">
            <a:avLst/>
          </a:prstGeom>
          <a:noFill/>
          <a:ln w="15875">
            <a:solidFill>
              <a:srgbClr val="E3E6EA"/>
            </a:solidFill>
            <a:prstDash val="solid"/>
          </a:ln>
        </p:spPr>
      </p:sp>
      <p:sp>
        <p:nvSpPr>
          <p:cNvPr id="133" name="Shape 131"/>
          <p:cNvSpPr/>
          <p:nvPr/>
        </p:nvSpPr>
        <p:spPr>
          <a:xfrm>
            <a:off x="3026664" y="5480914"/>
            <a:ext cx="2999232" cy="0"/>
          </a:xfrm>
          <a:prstGeom prst="line">
            <a:avLst/>
          </a:prstGeom>
          <a:noFill/>
          <a:ln w="22225">
            <a:solidFill>
              <a:srgbClr val="4A6FA5">
                <a:alpha val="65000"/>
              </a:srgbClr>
            </a:solidFill>
            <a:prstDash val="solid"/>
            <a:tailEnd type="triangle"/>
          </a:ln>
        </p:spPr>
      </p:sp>
      <p:sp>
        <p:nvSpPr>
          <p:cNvPr id="134" name="Shape 132"/>
          <p:cNvSpPr/>
          <p:nvPr/>
        </p:nvSpPr>
        <p:spPr>
          <a:xfrm>
            <a:off x="2916936" y="5426050"/>
            <a:ext cx="109728" cy="109728"/>
          </a:xfrm>
          <a:prstGeom prst="ellipse">
            <a:avLst/>
          </a:prstGeom>
          <a:solidFill>
            <a:srgbClr val="9AA3AE"/>
          </a:solidFill>
          <a:ln w="9525">
            <a:solidFill>
              <a:srgbClr val="FFFFFF"/>
            </a:solidFill>
            <a:prstDash val="solid"/>
          </a:ln>
        </p:spPr>
      </p:sp>
      <p:sp>
        <p:nvSpPr>
          <p:cNvPr id="135" name="Shape 133"/>
          <p:cNvSpPr/>
          <p:nvPr/>
        </p:nvSpPr>
        <p:spPr>
          <a:xfrm>
            <a:off x="6025896" y="5426050"/>
            <a:ext cx="109728" cy="109728"/>
          </a:xfrm>
          <a:prstGeom prst="ellipse">
            <a:avLst/>
          </a:prstGeom>
          <a:solidFill>
            <a:srgbClr val="4A6FA5"/>
          </a:solidFill>
          <a:ln w="9525">
            <a:solidFill>
              <a:srgbClr val="FFFFFF"/>
            </a:solidFill>
            <a:prstDash val="solid"/>
          </a:ln>
        </p:spPr>
      </p:sp>
      <p:sp>
        <p:nvSpPr>
          <p:cNvPr id="136" name="Text 134"/>
          <p:cNvSpPr txBox="1"/>
          <p:nvPr/>
        </p:nvSpPr>
        <p:spPr>
          <a:xfrm>
            <a:off x="7772400" y="5391302"/>
            <a:ext cx="457200" cy="179222"/>
          </a:xfrm>
          <a:prstGeom prst="rect">
            <a:avLst/>
          </a:prstGeom>
          <a:noFill/>
          <a:ln/>
        </p:spPr>
        <p:txBody>
          <a:bodyPr wrap="square" lIns="0" tIns="0" rIns="0" bIns="0" rtlCol="0" anchor="ctr"/>
          <a:lstStyle/>
          <a:p>
            <a:pPr indent="0" marL="0">
              <a:buNone/>
            </a:pPr>
            <a:r>
              <a:rPr lang="en-US" sz="800" b="1" dirty="0">
                <a:solidFill>
                  <a:srgbClr val="4A6FA5"/>
                </a:solidFill>
                <a:latin typeface="Courier New" pitchFamily="34" charset="0"/>
                <a:ea typeface="Courier New" pitchFamily="34" charset="-122"/>
                <a:cs typeface="Courier New" pitchFamily="34" charset="-120"/>
              </a:rPr>
              <a:t>+2</a:t>
            </a:r>
            <a:endParaRPr lang="en-US" sz="800" dirty="0"/>
          </a:p>
        </p:txBody>
      </p:sp>
      <p:sp>
        <p:nvSpPr>
          <p:cNvPr id="137" name="Shape 135"/>
          <p:cNvSpPr/>
          <p:nvPr/>
        </p:nvSpPr>
        <p:spPr>
          <a:xfrm>
            <a:off x="8412480" y="2240280"/>
            <a:ext cx="3410712" cy="3375965"/>
          </a:xfrm>
          <a:prstGeom prst="roundRect">
            <a:avLst>
              <a:gd name="adj" fmla="val 1625"/>
            </a:avLst>
          </a:prstGeom>
          <a:solidFill>
            <a:srgbClr val="FFFFFF"/>
          </a:solidFill>
          <a:ln w="9525">
            <a:solidFill>
              <a:srgbClr val="E3E6EA"/>
            </a:solidFill>
            <a:prstDash val="solid"/>
          </a:ln>
        </p:spPr>
      </p:sp>
      <p:sp>
        <p:nvSpPr>
          <p:cNvPr id="138" name="Text 136"/>
          <p:cNvSpPr txBox="1"/>
          <p:nvPr/>
        </p:nvSpPr>
        <p:spPr>
          <a:xfrm>
            <a:off x="8522208" y="2322576"/>
            <a:ext cx="3191256" cy="182880"/>
          </a:xfrm>
          <a:prstGeom prst="rect">
            <a:avLst/>
          </a:prstGeom>
          <a:noFill/>
          <a:ln/>
        </p:spPr>
        <p:txBody>
          <a:bodyPr wrap="square" lIns="0" tIns="0" rIns="0" bIns="0" rtlCol="0" anchor="ctr"/>
          <a:lstStyle/>
          <a:p>
            <a:pPr indent="0" marL="0">
              <a:buNone/>
            </a:pPr>
            <a:r>
              <a:rPr lang="en-US" sz="750" b="1" spc="100" kern="0" dirty="0">
                <a:solidFill>
                  <a:srgbClr val="8A94A0"/>
                </a:solidFill>
                <a:latin typeface="Calibri" pitchFamily="34" charset="0"/>
                <a:ea typeface="Calibri" pitchFamily="34" charset="-122"/>
                <a:cs typeface="Calibri" pitchFamily="34" charset="-120"/>
              </a:rPr>
              <a:t>LO QUE SE SUMÓ AL CARGO</a:t>
            </a:r>
            <a:endParaRPr lang="en-US" sz="750" dirty="0"/>
          </a:p>
        </p:txBody>
      </p:sp>
      <p:sp>
        <p:nvSpPr>
          <p:cNvPr id="139" name="Text 137"/>
          <p:cNvSpPr txBox="1"/>
          <p:nvPr/>
        </p:nvSpPr>
        <p:spPr>
          <a:xfrm>
            <a:off x="8522208" y="2542032"/>
            <a:ext cx="3191256" cy="182880"/>
          </a:xfrm>
          <a:prstGeom prst="rect">
            <a:avLst/>
          </a:prstGeom>
          <a:noFill/>
          <a:ln/>
        </p:spPr>
        <p:txBody>
          <a:bodyPr wrap="square" lIns="0" tIns="0" rIns="0" bIns="0" rtlCol="0" anchor="ctr"/>
          <a:lstStyle/>
          <a:p>
            <a:pPr indent="0" marL="0">
              <a:buNone/>
            </a:pPr>
            <a:r>
              <a:rPr lang="en-US" sz="1000" b="1" dirty="0">
                <a:solidFill>
                  <a:srgbClr val="2B2F36"/>
                </a:solidFill>
                <a:latin typeface="Cambria" pitchFamily="34" charset="0"/>
                <a:ea typeface="Cambria" pitchFamily="34" charset="-122"/>
                <a:cs typeface="Cambria" pitchFamily="34" charset="-120"/>
              </a:rPr>
              <a:t>Funciones  </a:t>
            </a:r>
            <a:pPr indent="0" marL="0">
              <a:buNone/>
            </a:pPr>
            <a:r>
              <a:rPr lang="en-US" sz="900" b="1" dirty="0">
                <a:solidFill>
                  <a:srgbClr val="4A6FA5"/>
                </a:solidFill>
                <a:latin typeface="Courier New" pitchFamily="34" charset="0"/>
                <a:ea typeface="Courier New" pitchFamily="34" charset="-122"/>
                <a:cs typeface="Courier New" pitchFamily="34" charset="-120"/>
              </a:rPr>
              <a:t>+7</a:t>
            </a:r>
            <a:endParaRPr lang="en-US" sz="1000" dirty="0"/>
          </a:p>
        </p:txBody>
      </p:sp>
      <p:sp>
        <p:nvSpPr>
          <p:cNvPr id="140" name="Shape 138"/>
          <p:cNvSpPr/>
          <p:nvPr/>
        </p:nvSpPr>
        <p:spPr>
          <a:xfrm>
            <a:off x="8522208" y="2743200"/>
            <a:ext cx="3191256" cy="182880"/>
          </a:xfrm>
          <a:prstGeom prst="roundRect">
            <a:avLst>
              <a:gd name="adj" fmla="val 20000"/>
            </a:avLst>
          </a:prstGeom>
          <a:solidFill>
            <a:srgbClr val="E6ECF5"/>
          </a:solidFill>
          <a:ln w="6350">
            <a:solidFill>
              <a:srgbClr val="4A6FA5"/>
            </a:solidFill>
            <a:prstDash val="solid"/>
          </a:ln>
        </p:spPr>
      </p:sp>
      <p:sp>
        <p:nvSpPr>
          <p:cNvPr id="141" name="Text 139"/>
          <p:cNvSpPr txBox="1"/>
          <p:nvPr/>
        </p:nvSpPr>
        <p:spPr>
          <a:xfrm>
            <a:off x="8577072" y="2743200"/>
            <a:ext cx="3081528" cy="182880"/>
          </a:xfrm>
          <a:prstGeom prst="rect">
            <a:avLst/>
          </a:prstGeom>
          <a:noFill/>
          <a:ln/>
        </p:spPr>
        <p:txBody>
          <a:bodyPr wrap="square" lIns="0" tIns="0" rIns="0" bIns="0" rtlCol="0" anchor="ctr"/>
          <a:lstStyle/>
          <a:p>
            <a:pPr algn="l" indent="0" marL="0">
              <a:buNone/>
            </a:pPr>
            <a:r>
              <a:rPr lang="en-US" sz="750" b="1" dirty="0">
                <a:solidFill>
                  <a:srgbClr val="4A6FA5"/>
                </a:solidFill>
                <a:latin typeface="Calibri" pitchFamily="34" charset="0"/>
                <a:ea typeface="Calibri" pitchFamily="34" charset="-122"/>
                <a:cs typeface="Calibri" pitchFamily="34" charset="-120"/>
              </a:rPr>
              <a:t>Reportes normativos</a:t>
            </a:r>
            <a:endParaRPr lang="en-US" sz="750" dirty="0"/>
          </a:p>
        </p:txBody>
      </p:sp>
      <p:sp>
        <p:nvSpPr>
          <p:cNvPr id="142" name="Shape 140"/>
          <p:cNvSpPr/>
          <p:nvPr/>
        </p:nvSpPr>
        <p:spPr>
          <a:xfrm>
            <a:off x="8522208" y="2962656"/>
            <a:ext cx="3191256" cy="182880"/>
          </a:xfrm>
          <a:prstGeom prst="roundRect">
            <a:avLst>
              <a:gd name="adj" fmla="val 20000"/>
            </a:avLst>
          </a:prstGeom>
          <a:solidFill>
            <a:srgbClr val="E6ECF5"/>
          </a:solidFill>
          <a:ln w="6350">
            <a:solidFill>
              <a:srgbClr val="4A6FA5"/>
            </a:solidFill>
            <a:prstDash val="solid"/>
          </a:ln>
        </p:spPr>
      </p:sp>
      <p:sp>
        <p:nvSpPr>
          <p:cNvPr id="143" name="Text 141"/>
          <p:cNvSpPr txBox="1"/>
          <p:nvPr/>
        </p:nvSpPr>
        <p:spPr>
          <a:xfrm>
            <a:off x="8577072" y="2962656"/>
            <a:ext cx="3081528" cy="182880"/>
          </a:xfrm>
          <a:prstGeom prst="rect">
            <a:avLst/>
          </a:prstGeom>
          <a:noFill/>
          <a:ln/>
        </p:spPr>
        <p:txBody>
          <a:bodyPr wrap="square" lIns="0" tIns="0" rIns="0" bIns="0" rtlCol="0" anchor="ctr"/>
          <a:lstStyle/>
          <a:p>
            <a:pPr algn="l" indent="0" marL="0">
              <a:buNone/>
            </a:pPr>
            <a:r>
              <a:rPr lang="en-US" sz="750" b="1" dirty="0">
                <a:solidFill>
                  <a:srgbClr val="4A6FA5"/>
                </a:solidFill>
                <a:latin typeface="Calibri" pitchFamily="34" charset="0"/>
                <a:ea typeface="Calibri" pitchFamily="34" charset="-122"/>
                <a:cs typeface="Calibri" pitchFamily="34" charset="-120"/>
              </a:rPr>
              <a:t>Controles e interpretación de datos</a:t>
            </a:r>
            <a:endParaRPr lang="en-US" sz="750" dirty="0"/>
          </a:p>
        </p:txBody>
      </p:sp>
      <p:sp>
        <p:nvSpPr>
          <p:cNvPr id="144" name="Shape 142"/>
          <p:cNvSpPr/>
          <p:nvPr/>
        </p:nvSpPr>
        <p:spPr>
          <a:xfrm>
            <a:off x="8522208" y="3182112"/>
            <a:ext cx="3191256" cy="182880"/>
          </a:xfrm>
          <a:prstGeom prst="roundRect">
            <a:avLst>
              <a:gd name="adj" fmla="val 20000"/>
            </a:avLst>
          </a:prstGeom>
          <a:solidFill>
            <a:srgbClr val="E6ECF5"/>
          </a:solidFill>
          <a:ln w="6350">
            <a:solidFill>
              <a:srgbClr val="4A6FA5"/>
            </a:solidFill>
            <a:prstDash val="solid"/>
          </a:ln>
        </p:spPr>
      </p:sp>
      <p:sp>
        <p:nvSpPr>
          <p:cNvPr id="145" name="Text 143"/>
          <p:cNvSpPr txBox="1"/>
          <p:nvPr/>
        </p:nvSpPr>
        <p:spPr>
          <a:xfrm>
            <a:off x="8577072" y="3182112"/>
            <a:ext cx="3081528" cy="182880"/>
          </a:xfrm>
          <a:prstGeom prst="rect">
            <a:avLst/>
          </a:prstGeom>
          <a:noFill/>
          <a:ln/>
        </p:spPr>
        <p:txBody>
          <a:bodyPr wrap="square" lIns="0" tIns="0" rIns="0" bIns="0" rtlCol="0" anchor="ctr"/>
          <a:lstStyle/>
          <a:p>
            <a:pPr algn="l" indent="0" marL="0">
              <a:buNone/>
            </a:pPr>
            <a:r>
              <a:rPr lang="en-US" sz="750" b="1" dirty="0">
                <a:solidFill>
                  <a:srgbClr val="4A6FA5"/>
                </a:solidFill>
                <a:latin typeface="Calibri" pitchFamily="34" charset="0"/>
                <a:ea typeface="Calibri" pitchFamily="34" charset="-122"/>
                <a:cs typeface="Calibri" pitchFamily="34" charset="-120"/>
              </a:rPr>
              <a:t>Análisis</a:t>
            </a:r>
            <a:endParaRPr lang="en-US" sz="750" dirty="0"/>
          </a:p>
        </p:txBody>
      </p:sp>
      <p:sp>
        <p:nvSpPr>
          <p:cNvPr id="146" name="Shape 144"/>
          <p:cNvSpPr/>
          <p:nvPr/>
        </p:nvSpPr>
        <p:spPr>
          <a:xfrm>
            <a:off x="8522208" y="3401568"/>
            <a:ext cx="3191256" cy="182880"/>
          </a:xfrm>
          <a:prstGeom prst="roundRect">
            <a:avLst>
              <a:gd name="adj" fmla="val 20000"/>
            </a:avLst>
          </a:prstGeom>
          <a:solidFill>
            <a:srgbClr val="E6ECF5"/>
          </a:solidFill>
          <a:ln w="6350">
            <a:solidFill>
              <a:srgbClr val="4A6FA5"/>
            </a:solidFill>
            <a:prstDash val="solid"/>
          </a:ln>
        </p:spPr>
      </p:sp>
      <p:sp>
        <p:nvSpPr>
          <p:cNvPr id="147" name="Text 145"/>
          <p:cNvSpPr txBox="1"/>
          <p:nvPr/>
        </p:nvSpPr>
        <p:spPr>
          <a:xfrm>
            <a:off x="8577072" y="3401568"/>
            <a:ext cx="3081528" cy="182880"/>
          </a:xfrm>
          <a:prstGeom prst="rect">
            <a:avLst/>
          </a:prstGeom>
          <a:noFill/>
          <a:ln/>
        </p:spPr>
        <p:txBody>
          <a:bodyPr wrap="square" lIns="0" tIns="0" rIns="0" bIns="0" rtlCol="0" anchor="ctr"/>
          <a:lstStyle/>
          <a:p>
            <a:pPr algn="l" indent="0" marL="0">
              <a:buNone/>
            </a:pPr>
            <a:r>
              <a:rPr lang="en-US" sz="750" b="1" dirty="0">
                <a:solidFill>
                  <a:srgbClr val="4A6FA5"/>
                </a:solidFill>
                <a:latin typeface="Calibri" pitchFamily="34" charset="0"/>
                <a:ea typeface="Calibri" pitchFamily="34" charset="-122"/>
                <a:cs typeface="Calibri" pitchFamily="34" charset="-120"/>
              </a:rPr>
              <a:t>Seguimiento de alertas</a:t>
            </a:r>
            <a:endParaRPr lang="en-US" sz="750" dirty="0"/>
          </a:p>
        </p:txBody>
      </p:sp>
      <p:sp>
        <p:nvSpPr>
          <p:cNvPr id="148" name="Shape 146"/>
          <p:cNvSpPr/>
          <p:nvPr/>
        </p:nvSpPr>
        <p:spPr>
          <a:xfrm>
            <a:off x="8522208" y="3621024"/>
            <a:ext cx="3191256" cy="182880"/>
          </a:xfrm>
          <a:prstGeom prst="roundRect">
            <a:avLst>
              <a:gd name="adj" fmla="val 20000"/>
            </a:avLst>
          </a:prstGeom>
          <a:solidFill>
            <a:srgbClr val="E6ECF5"/>
          </a:solidFill>
          <a:ln w="6350">
            <a:solidFill>
              <a:srgbClr val="4A6FA5"/>
            </a:solidFill>
            <a:prstDash val="solid"/>
          </a:ln>
        </p:spPr>
      </p:sp>
      <p:sp>
        <p:nvSpPr>
          <p:cNvPr id="149" name="Text 147"/>
          <p:cNvSpPr txBox="1"/>
          <p:nvPr/>
        </p:nvSpPr>
        <p:spPr>
          <a:xfrm>
            <a:off x="8577072" y="3621024"/>
            <a:ext cx="3081528" cy="182880"/>
          </a:xfrm>
          <a:prstGeom prst="rect">
            <a:avLst/>
          </a:prstGeom>
          <a:noFill/>
          <a:ln/>
        </p:spPr>
        <p:txBody>
          <a:bodyPr wrap="square" lIns="0" tIns="0" rIns="0" bIns="0" rtlCol="0" anchor="ctr"/>
          <a:lstStyle/>
          <a:p>
            <a:pPr algn="l" indent="0" marL="0">
              <a:buNone/>
            </a:pPr>
            <a:r>
              <a:rPr lang="en-US" sz="750" b="1" dirty="0">
                <a:solidFill>
                  <a:srgbClr val="4A6FA5"/>
                </a:solidFill>
                <a:latin typeface="Calibri" pitchFamily="34" charset="0"/>
                <a:ea typeface="Calibri" pitchFamily="34" charset="-122"/>
                <a:cs typeface="Calibri" pitchFamily="34" charset="-120"/>
              </a:rPr>
              <a:t>Rediseño de procesos</a:t>
            </a:r>
            <a:endParaRPr lang="en-US" sz="750" dirty="0"/>
          </a:p>
        </p:txBody>
      </p:sp>
      <p:sp>
        <p:nvSpPr>
          <p:cNvPr id="150" name="Shape 148"/>
          <p:cNvSpPr/>
          <p:nvPr/>
        </p:nvSpPr>
        <p:spPr>
          <a:xfrm>
            <a:off x="8522208" y="3840480"/>
            <a:ext cx="3191256" cy="182880"/>
          </a:xfrm>
          <a:prstGeom prst="roundRect">
            <a:avLst>
              <a:gd name="adj" fmla="val 20000"/>
            </a:avLst>
          </a:prstGeom>
          <a:solidFill>
            <a:srgbClr val="E6ECF5"/>
          </a:solidFill>
          <a:ln w="6350">
            <a:solidFill>
              <a:srgbClr val="4A6FA5"/>
            </a:solidFill>
            <a:prstDash val="solid"/>
          </a:ln>
        </p:spPr>
      </p:sp>
      <p:sp>
        <p:nvSpPr>
          <p:cNvPr id="151" name="Text 149"/>
          <p:cNvSpPr txBox="1"/>
          <p:nvPr/>
        </p:nvSpPr>
        <p:spPr>
          <a:xfrm>
            <a:off x="8577072" y="3840480"/>
            <a:ext cx="3081528" cy="182880"/>
          </a:xfrm>
          <a:prstGeom prst="rect">
            <a:avLst/>
          </a:prstGeom>
          <a:noFill/>
          <a:ln/>
        </p:spPr>
        <p:txBody>
          <a:bodyPr wrap="square" lIns="0" tIns="0" rIns="0" bIns="0" rtlCol="0" anchor="ctr"/>
          <a:lstStyle/>
          <a:p>
            <a:pPr algn="l" indent="0" marL="0">
              <a:buNone/>
            </a:pPr>
            <a:r>
              <a:rPr lang="en-US" sz="750" b="1" dirty="0">
                <a:solidFill>
                  <a:srgbClr val="4A6FA5"/>
                </a:solidFill>
                <a:latin typeface="Calibri" pitchFamily="34" charset="0"/>
                <a:ea typeface="Calibri" pitchFamily="34" charset="-122"/>
                <a:cs typeface="Calibri" pitchFamily="34" charset="-120"/>
              </a:rPr>
              <a:t>Mejoras reactivas y proactivas</a:t>
            </a:r>
            <a:endParaRPr lang="en-US" sz="750" dirty="0"/>
          </a:p>
        </p:txBody>
      </p:sp>
      <p:sp>
        <p:nvSpPr>
          <p:cNvPr id="152" name="Shape 150"/>
          <p:cNvSpPr/>
          <p:nvPr/>
        </p:nvSpPr>
        <p:spPr>
          <a:xfrm>
            <a:off x="8522208" y="4059936"/>
            <a:ext cx="3191256" cy="182880"/>
          </a:xfrm>
          <a:prstGeom prst="roundRect">
            <a:avLst>
              <a:gd name="adj" fmla="val 20000"/>
            </a:avLst>
          </a:prstGeom>
          <a:solidFill>
            <a:srgbClr val="E6ECF5"/>
          </a:solidFill>
          <a:ln w="6350">
            <a:solidFill>
              <a:srgbClr val="4A6FA5"/>
            </a:solidFill>
            <a:prstDash val="solid"/>
          </a:ln>
        </p:spPr>
      </p:sp>
      <p:sp>
        <p:nvSpPr>
          <p:cNvPr id="153" name="Text 151"/>
          <p:cNvSpPr txBox="1"/>
          <p:nvPr/>
        </p:nvSpPr>
        <p:spPr>
          <a:xfrm>
            <a:off x="8577072" y="4059936"/>
            <a:ext cx="3081528" cy="182880"/>
          </a:xfrm>
          <a:prstGeom prst="rect">
            <a:avLst/>
          </a:prstGeom>
          <a:noFill/>
          <a:ln/>
        </p:spPr>
        <p:txBody>
          <a:bodyPr wrap="square" lIns="0" tIns="0" rIns="0" bIns="0" rtlCol="0" anchor="ctr"/>
          <a:lstStyle/>
          <a:p>
            <a:pPr algn="l" indent="0" marL="0">
              <a:buNone/>
            </a:pPr>
            <a:r>
              <a:rPr lang="en-US" sz="750" b="1" dirty="0">
                <a:solidFill>
                  <a:srgbClr val="4A6FA5"/>
                </a:solidFill>
                <a:latin typeface="Calibri" pitchFamily="34" charset="0"/>
                <a:ea typeface="Calibri" pitchFamily="34" charset="-122"/>
                <a:cs typeface="Calibri" pitchFamily="34" charset="-120"/>
              </a:rPr>
              <a:t>Mesa de trabajo normativo (Governance)</a:t>
            </a:r>
            <a:endParaRPr lang="en-US" sz="750" dirty="0"/>
          </a:p>
        </p:txBody>
      </p:sp>
      <p:sp>
        <p:nvSpPr>
          <p:cNvPr id="154" name="Text 152"/>
          <p:cNvSpPr txBox="1"/>
          <p:nvPr/>
        </p:nvSpPr>
        <p:spPr>
          <a:xfrm>
            <a:off x="8522208" y="4315968"/>
            <a:ext cx="3191256" cy="182880"/>
          </a:xfrm>
          <a:prstGeom prst="rect">
            <a:avLst/>
          </a:prstGeom>
          <a:noFill/>
          <a:ln/>
        </p:spPr>
        <p:txBody>
          <a:bodyPr wrap="square" lIns="0" tIns="0" rIns="0" bIns="0" rtlCol="0" anchor="ctr"/>
          <a:lstStyle/>
          <a:p>
            <a:pPr indent="0" marL="0">
              <a:buNone/>
            </a:pPr>
            <a:r>
              <a:rPr lang="en-US" sz="1000" b="1" dirty="0">
                <a:solidFill>
                  <a:srgbClr val="2B2F36"/>
                </a:solidFill>
                <a:latin typeface="Cambria" pitchFamily="34" charset="0"/>
                <a:ea typeface="Cambria" pitchFamily="34" charset="-122"/>
                <a:cs typeface="Cambria" pitchFamily="34" charset="-120"/>
              </a:rPr>
              <a:t>Competencias  </a:t>
            </a:r>
            <a:pPr indent="0" marL="0">
              <a:buNone/>
            </a:pPr>
            <a:r>
              <a:rPr lang="en-US" sz="900" b="1" dirty="0">
                <a:solidFill>
                  <a:srgbClr val="4A6FA5"/>
                </a:solidFill>
                <a:latin typeface="Courier New" pitchFamily="34" charset="0"/>
                <a:ea typeface="Courier New" pitchFamily="34" charset="-122"/>
                <a:cs typeface="Courier New" pitchFamily="34" charset="-120"/>
              </a:rPr>
              <a:t>+8</a:t>
            </a:r>
            <a:endParaRPr lang="en-US" sz="1000" dirty="0"/>
          </a:p>
        </p:txBody>
      </p:sp>
      <p:sp>
        <p:nvSpPr>
          <p:cNvPr id="155" name="Shape 153"/>
          <p:cNvSpPr/>
          <p:nvPr/>
        </p:nvSpPr>
        <p:spPr>
          <a:xfrm>
            <a:off x="8522208" y="4517136"/>
            <a:ext cx="770382" cy="182880"/>
          </a:xfrm>
          <a:prstGeom prst="roundRect">
            <a:avLst>
              <a:gd name="adj" fmla="val 20000"/>
            </a:avLst>
          </a:prstGeom>
          <a:solidFill>
            <a:srgbClr val="E6ECF5"/>
          </a:solidFill>
          <a:ln w="6350">
            <a:solidFill>
              <a:srgbClr val="4A6FA5"/>
            </a:solidFill>
            <a:prstDash val="solid"/>
          </a:ln>
        </p:spPr>
      </p:sp>
      <p:sp>
        <p:nvSpPr>
          <p:cNvPr id="156" name="Text 154"/>
          <p:cNvSpPr txBox="1"/>
          <p:nvPr/>
        </p:nvSpPr>
        <p:spPr>
          <a:xfrm>
            <a:off x="8577072" y="4517136"/>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DAX</a:t>
            </a:r>
            <a:endParaRPr lang="en-US" sz="750" dirty="0"/>
          </a:p>
        </p:txBody>
      </p:sp>
      <p:sp>
        <p:nvSpPr>
          <p:cNvPr id="157" name="Shape 155"/>
          <p:cNvSpPr/>
          <p:nvPr/>
        </p:nvSpPr>
        <p:spPr>
          <a:xfrm>
            <a:off x="9329166" y="4517136"/>
            <a:ext cx="770382" cy="182880"/>
          </a:xfrm>
          <a:prstGeom prst="roundRect">
            <a:avLst>
              <a:gd name="adj" fmla="val 20000"/>
            </a:avLst>
          </a:prstGeom>
          <a:solidFill>
            <a:srgbClr val="E6ECF5"/>
          </a:solidFill>
          <a:ln w="6350">
            <a:solidFill>
              <a:srgbClr val="4A6FA5"/>
            </a:solidFill>
            <a:prstDash val="solid"/>
          </a:ln>
        </p:spPr>
      </p:sp>
      <p:sp>
        <p:nvSpPr>
          <p:cNvPr id="158" name="Text 156"/>
          <p:cNvSpPr txBox="1"/>
          <p:nvPr/>
        </p:nvSpPr>
        <p:spPr>
          <a:xfrm>
            <a:off x="9384030" y="4517136"/>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SQL</a:t>
            </a:r>
            <a:endParaRPr lang="en-US" sz="750" dirty="0"/>
          </a:p>
        </p:txBody>
      </p:sp>
      <p:sp>
        <p:nvSpPr>
          <p:cNvPr id="159" name="Shape 157"/>
          <p:cNvSpPr/>
          <p:nvPr/>
        </p:nvSpPr>
        <p:spPr>
          <a:xfrm>
            <a:off x="10136124" y="4517136"/>
            <a:ext cx="770382" cy="182880"/>
          </a:xfrm>
          <a:prstGeom prst="roundRect">
            <a:avLst>
              <a:gd name="adj" fmla="val 20000"/>
            </a:avLst>
          </a:prstGeom>
          <a:solidFill>
            <a:srgbClr val="E6ECF5"/>
          </a:solidFill>
          <a:ln w="6350">
            <a:solidFill>
              <a:srgbClr val="4A6FA5"/>
            </a:solidFill>
            <a:prstDash val="solid"/>
          </a:ln>
        </p:spPr>
      </p:sp>
      <p:sp>
        <p:nvSpPr>
          <p:cNvPr id="160" name="Text 158"/>
          <p:cNvSpPr txBox="1"/>
          <p:nvPr/>
        </p:nvSpPr>
        <p:spPr>
          <a:xfrm>
            <a:off x="10190988" y="4517136"/>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Access</a:t>
            </a:r>
            <a:endParaRPr lang="en-US" sz="750" dirty="0"/>
          </a:p>
        </p:txBody>
      </p:sp>
      <p:sp>
        <p:nvSpPr>
          <p:cNvPr id="161" name="Shape 159"/>
          <p:cNvSpPr/>
          <p:nvPr/>
        </p:nvSpPr>
        <p:spPr>
          <a:xfrm>
            <a:off x="10943082" y="4517136"/>
            <a:ext cx="770382" cy="182880"/>
          </a:xfrm>
          <a:prstGeom prst="roundRect">
            <a:avLst>
              <a:gd name="adj" fmla="val 20000"/>
            </a:avLst>
          </a:prstGeom>
          <a:solidFill>
            <a:srgbClr val="E6ECF5"/>
          </a:solidFill>
          <a:ln w="6350">
            <a:solidFill>
              <a:srgbClr val="4A6FA5"/>
            </a:solidFill>
            <a:prstDash val="solid"/>
          </a:ln>
        </p:spPr>
      </p:sp>
      <p:sp>
        <p:nvSpPr>
          <p:cNvPr id="162" name="Text 160"/>
          <p:cNvSpPr txBox="1"/>
          <p:nvPr/>
        </p:nvSpPr>
        <p:spPr>
          <a:xfrm>
            <a:off x="10997946" y="4517136"/>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Agile</a:t>
            </a:r>
            <a:endParaRPr lang="en-US" sz="750" dirty="0"/>
          </a:p>
        </p:txBody>
      </p:sp>
      <p:sp>
        <p:nvSpPr>
          <p:cNvPr id="163" name="Shape 161"/>
          <p:cNvSpPr/>
          <p:nvPr/>
        </p:nvSpPr>
        <p:spPr>
          <a:xfrm>
            <a:off x="8522208" y="4736592"/>
            <a:ext cx="770382" cy="182880"/>
          </a:xfrm>
          <a:prstGeom prst="roundRect">
            <a:avLst>
              <a:gd name="adj" fmla="val 20000"/>
            </a:avLst>
          </a:prstGeom>
          <a:solidFill>
            <a:srgbClr val="E6ECF5"/>
          </a:solidFill>
          <a:ln w="6350">
            <a:solidFill>
              <a:srgbClr val="4A6FA5"/>
            </a:solidFill>
            <a:prstDash val="solid"/>
          </a:ln>
        </p:spPr>
      </p:sp>
      <p:sp>
        <p:nvSpPr>
          <p:cNvPr id="164" name="Text 162"/>
          <p:cNvSpPr txBox="1"/>
          <p:nvPr/>
        </p:nvSpPr>
        <p:spPr>
          <a:xfrm>
            <a:off x="8577072" y="4736592"/>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Analítica</a:t>
            </a:r>
            <a:endParaRPr lang="en-US" sz="750" dirty="0"/>
          </a:p>
        </p:txBody>
      </p:sp>
      <p:sp>
        <p:nvSpPr>
          <p:cNvPr id="165" name="Shape 163"/>
          <p:cNvSpPr/>
          <p:nvPr/>
        </p:nvSpPr>
        <p:spPr>
          <a:xfrm>
            <a:off x="9329166" y="4736592"/>
            <a:ext cx="770382" cy="182880"/>
          </a:xfrm>
          <a:prstGeom prst="roundRect">
            <a:avLst>
              <a:gd name="adj" fmla="val 20000"/>
            </a:avLst>
          </a:prstGeom>
          <a:solidFill>
            <a:srgbClr val="E6ECF5"/>
          </a:solidFill>
          <a:ln w="6350">
            <a:solidFill>
              <a:srgbClr val="4A6FA5"/>
            </a:solidFill>
            <a:prstDash val="solid"/>
          </a:ln>
        </p:spPr>
      </p:sp>
      <p:sp>
        <p:nvSpPr>
          <p:cNvPr id="166" name="Text 164"/>
          <p:cNvSpPr txBox="1"/>
          <p:nvPr/>
        </p:nvSpPr>
        <p:spPr>
          <a:xfrm>
            <a:off x="9384030" y="4736592"/>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Plazos</a:t>
            </a:r>
            <a:endParaRPr lang="en-US" sz="750" dirty="0"/>
          </a:p>
        </p:txBody>
      </p:sp>
      <p:sp>
        <p:nvSpPr>
          <p:cNvPr id="167" name="Shape 165"/>
          <p:cNvSpPr/>
          <p:nvPr/>
        </p:nvSpPr>
        <p:spPr>
          <a:xfrm>
            <a:off x="10136124" y="4736592"/>
            <a:ext cx="770382" cy="182880"/>
          </a:xfrm>
          <a:prstGeom prst="roundRect">
            <a:avLst>
              <a:gd name="adj" fmla="val 20000"/>
            </a:avLst>
          </a:prstGeom>
          <a:solidFill>
            <a:srgbClr val="E6ECF5"/>
          </a:solidFill>
          <a:ln w="6350">
            <a:solidFill>
              <a:srgbClr val="4A6FA5"/>
            </a:solidFill>
            <a:prstDash val="solid"/>
          </a:ln>
        </p:spPr>
      </p:sp>
      <p:sp>
        <p:nvSpPr>
          <p:cNvPr id="168" name="Text 166"/>
          <p:cNvSpPr txBox="1"/>
          <p:nvPr/>
        </p:nvSpPr>
        <p:spPr>
          <a:xfrm>
            <a:off x="10190988" y="4736592"/>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Databricks</a:t>
            </a:r>
            <a:endParaRPr lang="en-US" sz="750" dirty="0"/>
          </a:p>
        </p:txBody>
      </p:sp>
      <p:sp>
        <p:nvSpPr>
          <p:cNvPr id="169" name="Shape 167"/>
          <p:cNvSpPr/>
          <p:nvPr/>
        </p:nvSpPr>
        <p:spPr>
          <a:xfrm>
            <a:off x="10943082" y="4736592"/>
            <a:ext cx="770382" cy="182880"/>
          </a:xfrm>
          <a:prstGeom prst="roundRect">
            <a:avLst>
              <a:gd name="adj" fmla="val 20000"/>
            </a:avLst>
          </a:prstGeom>
          <a:solidFill>
            <a:srgbClr val="E6ECF5"/>
          </a:solidFill>
          <a:ln w="6350">
            <a:solidFill>
              <a:srgbClr val="4A6FA5"/>
            </a:solidFill>
            <a:prstDash val="solid"/>
          </a:ln>
        </p:spPr>
      </p:sp>
      <p:sp>
        <p:nvSpPr>
          <p:cNvPr id="170" name="Text 168"/>
          <p:cNvSpPr txBox="1"/>
          <p:nvPr/>
        </p:nvSpPr>
        <p:spPr>
          <a:xfrm>
            <a:off x="10997946" y="4736592"/>
            <a:ext cx="660654"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Normas CMF</a:t>
            </a:r>
            <a:endParaRPr lang="en-US" sz="750" dirty="0"/>
          </a:p>
        </p:txBody>
      </p:sp>
      <p:sp>
        <p:nvSpPr>
          <p:cNvPr id="171" name="Text 169"/>
          <p:cNvSpPr txBox="1"/>
          <p:nvPr/>
        </p:nvSpPr>
        <p:spPr>
          <a:xfrm>
            <a:off x="8522208" y="4992624"/>
            <a:ext cx="3191256" cy="182880"/>
          </a:xfrm>
          <a:prstGeom prst="rect">
            <a:avLst/>
          </a:prstGeom>
          <a:noFill/>
          <a:ln/>
        </p:spPr>
        <p:txBody>
          <a:bodyPr wrap="square" lIns="0" tIns="0" rIns="0" bIns="0" rtlCol="0" anchor="ctr"/>
          <a:lstStyle/>
          <a:p>
            <a:pPr indent="0" marL="0">
              <a:buNone/>
            </a:pPr>
            <a:r>
              <a:rPr lang="en-US" sz="1000" b="1" dirty="0">
                <a:solidFill>
                  <a:srgbClr val="2B2F36"/>
                </a:solidFill>
                <a:latin typeface="Cambria" pitchFamily="34" charset="0"/>
                <a:ea typeface="Cambria" pitchFamily="34" charset="-122"/>
                <a:cs typeface="Cambria" pitchFamily="34" charset="-120"/>
              </a:rPr>
              <a:t>Interlocutores  </a:t>
            </a:r>
            <a:pPr indent="0" marL="0">
              <a:buNone/>
            </a:pPr>
            <a:r>
              <a:rPr lang="en-US" sz="900" b="1" dirty="0">
                <a:solidFill>
                  <a:srgbClr val="4A6FA5"/>
                </a:solidFill>
                <a:latin typeface="Courier New" pitchFamily="34" charset="0"/>
                <a:ea typeface="Courier New" pitchFamily="34" charset="-122"/>
                <a:cs typeface="Courier New" pitchFamily="34" charset="-120"/>
              </a:rPr>
              <a:t>+4</a:t>
            </a:r>
            <a:endParaRPr lang="en-US" sz="1000" dirty="0"/>
          </a:p>
        </p:txBody>
      </p:sp>
      <p:sp>
        <p:nvSpPr>
          <p:cNvPr id="172" name="Shape 170"/>
          <p:cNvSpPr/>
          <p:nvPr/>
        </p:nvSpPr>
        <p:spPr>
          <a:xfrm>
            <a:off x="8522208" y="5193792"/>
            <a:ext cx="1577340" cy="182880"/>
          </a:xfrm>
          <a:prstGeom prst="roundRect">
            <a:avLst>
              <a:gd name="adj" fmla="val 20000"/>
            </a:avLst>
          </a:prstGeom>
          <a:solidFill>
            <a:srgbClr val="E6ECF5"/>
          </a:solidFill>
          <a:ln w="6350">
            <a:solidFill>
              <a:srgbClr val="4A6FA5"/>
            </a:solidFill>
            <a:prstDash val="solid"/>
          </a:ln>
        </p:spPr>
      </p:sp>
      <p:sp>
        <p:nvSpPr>
          <p:cNvPr id="173" name="Text 171"/>
          <p:cNvSpPr txBox="1"/>
          <p:nvPr/>
        </p:nvSpPr>
        <p:spPr>
          <a:xfrm>
            <a:off x="8577072" y="5193792"/>
            <a:ext cx="1467612"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Reguladores Financieros</a:t>
            </a:r>
            <a:endParaRPr lang="en-US" sz="750" dirty="0"/>
          </a:p>
        </p:txBody>
      </p:sp>
      <p:sp>
        <p:nvSpPr>
          <p:cNvPr id="174" name="Shape 172"/>
          <p:cNvSpPr/>
          <p:nvPr/>
        </p:nvSpPr>
        <p:spPr>
          <a:xfrm>
            <a:off x="10136124" y="5193792"/>
            <a:ext cx="1577340" cy="182880"/>
          </a:xfrm>
          <a:prstGeom prst="roundRect">
            <a:avLst>
              <a:gd name="adj" fmla="val 20000"/>
            </a:avLst>
          </a:prstGeom>
          <a:solidFill>
            <a:srgbClr val="E6ECF5"/>
          </a:solidFill>
          <a:ln w="6350">
            <a:solidFill>
              <a:srgbClr val="4A6FA5"/>
            </a:solidFill>
            <a:prstDash val="solid"/>
          </a:ln>
        </p:spPr>
      </p:sp>
      <p:sp>
        <p:nvSpPr>
          <p:cNvPr id="175" name="Text 173"/>
          <p:cNvSpPr txBox="1"/>
          <p:nvPr/>
        </p:nvSpPr>
        <p:spPr>
          <a:xfrm>
            <a:off x="10190988" y="5193792"/>
            <a:ext cx="1467612"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Reportes Regulatorios</a:t>
            </a:r>
            <a:endParaRPr lang="en-US" sz="750" dirty="0"/>
          </a:p>
        </p:txBody>
      </p:sp>
      <p:sp>
        <p:nvSpPr>
          <p:cNvPr id="176" name="Shape 174"/>
          <p:cNvSpPr/>
          <p:nvPr/>
        </p:nvSpPr>
        <p:spPr>
          <a:xfrm>
            <a:off x="8522208" y="5413248"/>
            <a:ext cx="1577340" cy="182880"/>
          </a:xfrm>
          <a:prstGeom prst="roundRect">
            <a:avLst>
              <a:gd name="adj" fmla="val 20000"/>
            </a:avLst>
          </a:prstGeom>
          <a:solidFill>
            <a:srgbClr val="E6ECF5"/>
          </a:solidFill>
          <a:ln w="6350">
            <a:solidFill>
              <a:srgbClr val="4A6FA5"/>
            </a:solidFill>
            <a:prstDash val="solid"/>
          </a:ln>
        </p:spPr>
      </p:sp>
      <p:sp>
        <p:nvSpPr>
          <p:cNvPr id="177" name="Text 175"/>
          <p:cNvSpPr txBox="1"/>
          <p:nvPr/>
        </p:nvSpPr>
        <p:spPr>
          <a:xfrm>
            <a:off x="8577072" y="5413248"/>
            <a:ext cx="1467612"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Fiscalía</a:t>
            </a:r>
            <a:endParaRPr lang="en-US" sz="750" dirty="0"/>
          </a:p>
        </p:txBody>
      </p:sp>
      <p:sp>
        <p:nvSpPr>
          <p:cNvPr id="178" name="Shape 176"/>
          <p:cNvSpPr/>
          <p:nvPr/>
        </p:nvSpPr>
        <p:spPr>
          <a:xfrm>
            <a:off x="10136124" y="5413248"/>
            <a:ext cx="1577340" cy="182880"/>
          </a:xfrm>
          <a:prstGeom prst="roundRect">
            <a:avLst>
              <a:gd name="adj" fmla="val 20000"/>
            </a:avLst>
          </a:prstGeom>
          <a:solidFill>
            <a:srgbClr val="E6ECF5"/>
          </a:solidFill>
          <a:ln w="6350">
            <a:solidFill>
              <a:srgbClr val="4A6FA5"/>
            </a:solidFill>
            <a:prstDash val="solid"/>
          </a:ln>
        </p:spPr>
      </p:sp>
      <p:sp>
        <p:nvSpPr>
          <p:cNvPr id="179" name="Text 177"/>
          <p:cNvSpPr txBox="1"/>
          <p:nvPr/>
        </p:nvSpPr>
        <p:spPr>
          <a:xfrm>
            <a:off x="10190988" y="5413248"/>
            <a:ext cx="1467612" cy="182880"/>
          </a:xfrm>
          <a:prstGeom prst="rect">
            <a:avLst/>
          </a:prstGeom>
          <a:noFill/>
          <a:ln/>
        </p:spPr>
        <p:txBody>
          <a:bodyPr wrap="square" lIns="0" tIns="0" rIns="0" bIns="0" rtlCol="0" anchor="ctr"/>
          <a:lstStyle/>
          <a:p>
            <a:pPr algn="ctr" indent="0" marL="0">
              <a:buNone/>
            </a:pPr>
            <a:r>
              <a:rPr lang="en-US" sz="750" b="1" dirty="0">
                <a:solidFill>
                  <a:srgbClr val="4A6FA5"/>
                </a:solidFill>
                <a:latin typeface="Calibri" pitchFamily="34" charset="0"/>
                <a:ea typeface="Calibri" pitchFamily="34" charset="-122"/>
                <a:cs typeface="Calibri" pitchFamily="34" charset="-120"/>
              </a:rPr>
              <a:t>SERNAC</a:t>
            </a:r>
            <a:endParaRPr lang="en-US" sz="750" dirty="0"/>
          </a:p>
        </p:txBody>
      </p:sp>
      <p:sp>
        <p:nvSpPr>
          <p:cNvPr id="180" name="Shape 178"/>
          <p:cNvSpPr/>
          <p:nvPr/>
        </p:nvSpPr>
        <p:spPr>
          <a:xfrm>
            <a:off x="365760" y="5698541"/>
            <a:ext cx="11457432" cy="457200"/>
          </a:xfrm>
          <a:prstGeom prst="roundRect">
            <a:avLst>
              <a:gd name="adj" fmla="val 12000"/>
            </a:avLst>
          </a:prstGeom>
          <a:solidFill>
            <a:srgbClr val="F6F1D9"/>
          </a:solidFill>
          <a:ln w="9525">
            <a:solidFill>
              <a:srgbClr val="E3D9A6"/>
            </a:solidFill>
            <a:prstDash val="solid"/>
          </a:ln>
        </p:spPr>
      </p:sp>
      <p:sp>
        <p:nvSpPr>
          <p:cNvPr id="181" name="Text 179"/>
          <p:cNvSpPr txBox="1"/>
          <p:nvPr/>
        </p:nvSpPr>
        <p:spPr>
          <a:xfrm>
            <a:off x="530352" y="5698541"/>
            <a:ext cx="11128248" cy="457200"/>
          </a:xfrm>
          <a:prstGeom prst="rect">
            <a:avLst/>
          </a:prstGeom>
          <a:noFill/>
          <a:ln/>
        </p:spPr>
        <p:txBody>
          <a:bodyPr wrap="square" lIns="0" tIns="0" rIns="0" bIns="0" rtlCol="0" anchor="ctr"/>
          <a:lstStyle/>
          <a:p>
            <a:pPr indent="0" marL="0">
              <a:buNone/>
            </a:pPr>
            <a:r>
              <a:rPr lang="en-US" sz="900" b="1" dirty="0">
                <a:solidFill>
                  <a:srgbClr val="6E5F1D"/>
                </a:solidFill>
                <a:latin typeface="Calibri" pitchFamily="34" charset="0"/>
                <a:ea typeface="Calibri" pitchFamily="34" charset="-122"/>
                <a:cs typeface="Calibri" pitchFamily="34" charset="-120"/>
              </a:rPr>
              <a:t>Lo único que no cambió: la escala de cargos y remuneraciones. </a:t>
            </a:r>
            <a:pPr indent="0" marL="0">
              <a:buNone/>
            </a:pPr>
            <a:r>
              <a:rPr lang="en-US" sz="900" dirty="0">
                <a:solidFill>
                  <a:srgbClr val="2B2F36"/>
                </a:solidFill>
                <a:latin typeface="Calibri" pitchFamily="34" charset="0"/>
                <a:ea typeface="Calibri" pitchFamily="34" charset="-122"/>
                <a:cs typeface="Calibri" pitchFamily="34" charset="-120"/>
              </a:rPr>
              <a:t>Las 15 competencias subieron en promedio 2,2 niveles; las funciones pasaron de 4 a 11, los interlocutores de 3 a 7 y la consecuencia de un error de operativa a legal (Ley 21.680). El rediseño de 2024 dejó pendiente el pesaje de remuneración respecto a responsabilidad.</a:t>
            </a:r>
            <a:endParaRPr lang="en-US" sz="900" dirty="0"/>
          </a:p>
        </p:txBody>
      </p:sp>
      <p:sp>
        <p:nvSpPr>
          <p:cNvPr id="182" name="Text 180"/>
          <p:cNvSpPr txBox="1"/>
          <p:nvPr/>
        </p:nvSpPr>
        <p:spPr>
          <a:xfrm>
            <a:off x="365760" y="6192317"/>
            <a:ext cx="11457432" cy="182880"/>
          </a:xfrm>
          <a:prstGeom prst="rect">
            <a:avLst/>
          </a:prstGeom>
          <a:noFill/>
          <a:ln/>
        </p:spPr>
        <p:txBody>
          <a:bodyPr wrap="square" lIns="0" tIns="0" rIns="0" bIns="0" rtlCol="0" anchor="ctr"/>
          <a:lstStyle/>
          <a:p>
            <a:pPr indent="0" marL="0">
              <a:buNone/>
            </a:pPr>
            <a:r>
              <a:rPr lang="en-US" sz="650" dirty="0">
                <a:solidFill>
                  <a:srgbClr val="8A94A0"/>
                </a:solidFill>
                <a:latin typeface="Calibri" pitchFamily="34" charset="0"/>
                <a:ea typeface="Calibri" pitchFamily="34" charset="-122"/>
                <a:cs typeface="Calibri" pitchFamily="34" charset="-120"/>
              </a:rPr>
              <a:t>Fuentes: descripción de cargo 2020, rediseño 2024 y lámina de funciones, competencias e interacción (Diseño Organizacional Compliance 2024); perfil actual deducido del análisis de los 18 reportes normativos. Niveles 2020 literales de la descripción; niveles actuales son exigencia de la función, no evaluación de personas.</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LA FUNCIÓN</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8</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La confiabilidad no la da una persona talentosa sino una cadena con roles separados</a:t>
            </a:r>
            <a:endParaRPr lang="en-US" sz="2600" dirty="0"/>
          </a:p>
        </p:txBody>
      </p:sp>
      <p:sp>
        <p:nvSpPr>
          <p:cNvPr id="9" name="Shape 7"/>
          <p:cNvSpPr/>
          <p:nvPr/>
        </p:nvSpPr>
        <p:spPr>
          <a:xfrm>
            <a:off x="548640" y="1965960"/>
            <a:ext cx="2606040" cy="2651760"/>
          </a:xfrm>
          <a:prstGeom prst="roundRect">
            <a:avLst>
              <a:gd name="adj" fmla="val 2105"/>
            </a:avLst>
          </a:prstGeom>
          <a:solidFill>
            <a:srgbClr val="F6F7F9"/>
          </a:solidFill>
          <a:ln w="9525">
            <a:solidFill>
              <a:srgbClr val="F6F7F9"/>
            </a:solidFill>
            <a:prstDash val="solid"/>
          </a:ln>
        </p:spPr>
      </p:sp>
      <p:sp>
        <p:nvSpPr>
          <p:cNvPr id="10" name="Shape 8"/>
          <p:cNvSpPr/>
          <p:nvPr/>
        </p:nvSpPr>
        <p:spPr>
          <a:xfrm>
            <a:off x="777240" y="2194560"/>
            <a:ext cx="502920" cy="502920"/>
          </a:xfrm>
          <a:prstGeom prst="ellipse">
            <a:avLst/>
          </a:prstGeom>
          <a:solidFill>
            <a:srgbClr val="A9BEDC"/>
          </a:solidFill>
          <a:ln w="12700">
            <a:solidFill>
              <a:srgbClr val="A9BEDC"/>
            </a:solidFill>
            <a:prstDash val="solid"/>
          </a:ln>
        </p:spPr>
      </p:sp>
      <p:sp>
        <p:nvSpPr>
          <p:cNvPr id="11" name="Text 9"/>
          <p:cNvSpPr txBox="1"/>
          <p:nvPr/>
        </p:nvSpPr>
        <p:spPr>
          <a:xfrm>
            <a:off x="777240" y="2194560"/>
            <a:ext cx="502920" cy="502920"/>
          </a:xfrm>
          <a:prstGeom prst="rect">
            <a:avLst/>
          </a:prstGeom>
          <a:noFill/>
          <a:ln/>
        </p:spPr>
        <p:txBody>
          <a:bodyPr wrap="square" lIns="0" tIns="0" rIns="0" bIns="0" rtlCol="0" anchor="ctr"/>
          <a:lstStyle/>
          <a:p>
            <a:pPr algn="ctr" indent="0" marL="0">
              <a:buNone/>
            </a:pPr>
            <a:r>
              <a:rPr lang="en-US" sz="1200" b="1" dirty="0">
                <a:solidFill>
                  <a:srgbClr val="2B2F36"/>
                </a:solidFill>
                <a:latin typeface="Courier New" pitchFamily="34" charset="0"/>
                <a:ea typeface="Courier New" pitchFamily="34" charset="-122"/>
                <a:cs typeface="Courier New" pitchFamily="34" charset="-120"/>
              </a:rPr>
              <a:t>G1</a:t>
            </a:r>
            <a:endParaRPr lang="en-US" sz="1200" dirty="0"/>
          </a:p>
        </p:txBody>
      </p:sp>
      <p:sp>
        <p:nvSpPr>
          <p:cNvPr id="12" name="Text 10"/>
          <p:cNvSpPr txBox="1"/>
          <p:nvPr/>
        </p:nvSpPr>
        <p:spPr>
          <a:xfrm>
            <a:off x="1417320" y="2167128"/>
            <a:ext cx="1600200" cy="292608"/>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Analista</a:t>
            </a:r>
            <a:endParaRPr lang="en-US" sz="1400" dirty="0"/>
          </a:p>
        </p:txBody>
      </p:sp>
      <p:sp>
        <p:nvSpPr>
          <p:cNvPr id="13" name="Text 11"/>
          <p:cNvSpPr txBox="1"/>
          <p:nvPr/>
        </p:nvSpPr>
        <p:spPr>
          <a:xfrm>
            <a:off x="1417320" y="2459736"/>
            <a:ext cx="1600200" cy="256032"/>
          </a:xfrm>
          <a:prstGeom prst="rect">
            <a:avLst/>
          </a:prstGeom>
          <a:noFill/>
          <a:ln/>
        </p:spPr>
        <p:txBody>
          <a:bodyPr wrap="square" lIns="0" tIns="0" rIns="0" bIns="0" rtlCol="0" anchor="ctr"/>
          <a:lstStyle/>
          <a:p>
            <a:pPr indent="0" marL="0">
              <a:buNone/>
            </a:pPr>
            <a:r>
              <a:rPr lang="en-US" sz="1100" i="1" dirty="0">
                <a:solidFill>
                  <a:srgbClr val="4A6FA5"/>
                </a:solidFill>
                <a:latin typeface="Calibri" pitchFamily="34" charset="0"/>
                <a:ea typeface="Calibri" pitchFamily="34" charset="-122"/>
                <a:cs typeface="Calibri" pitchFamily="34" charset="-120"/>
              </a:rPr>
              <a:t>Produce</a:t>
            </a:r>
            <a:endParaRPr lang="en-US" sz="1100" dirty="0"/>
          </a:p>
        </p:txBody>
      </p:sp>
      <p:sp>
        <p:nvSpPr>
          <p:cNvPr id="14" name="Text 12"/>
          <p:cNvSpPr txBox="1"/>
          <p:nvPr/>
        </p:nvSpPr>
        <p:spPr>
          <a:xfrm>
            <a:off x="777240" y="2926080"/>
            <a:ext cx="2148840" cy="160020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Ejecuta extracción, cuadratura y carga de reportes de rutina y alta frecuencia con procedimiento documentado.</a:t>
            </a:r>
            <a:endParaRPr lang="en-US" sz="1100" dirty="0"/>
          </a:p>
        </p:txBody>
      </p:sp>
      <p:sp>
        <p:nvSpPr>
          <p:cNvPr id="15" name="Shape 13"/>
          <p:cNvSpPr/>
          <p:nvPr/>
        </p:nvSpPr>
        <p:spPr>
          <a:xfrm>
            <a:off x="3337560" y="1965960"/>
            <a:ext cx="2606040" cy="2651760"/>
          </a:xfrm>
          <a:prstGeom prst="roundRect">
            <a:avLst>
              <a:gd name="adj" fmla="val 2105"/>
            </a:avLst>
          </a:prstGeom>
          <a:solidFill>
            <a:srgbClr val="F6F7F9"/>
          </a:solidFill>
          <a:ln w="9525">
            <a:solidFill>
              <a:srgbClr val="F6F7F9"/>
            </a:solidFill>
            <a:prstDash val="solid"/>
          </a:ln>
        </p:spPr>
      </p:sp>
      <p:sp>
        <p:nvSpPr>
          <p:cNvPr id="16" name="Shape 14"/>
          <p:cNvSpPr/>
          <p:nvPr/>
        </p:nvSpPr>
        <p:spPr>
          <a:xfrm>
            <a:off x="3566160" y="2194560"/>
            <a:ext cx="502920" cy="502920"/>
          </a:xfrm>
          <a:prstGeom prst="ellipse">
            <a:avLst/>
          </a:prstGeom>
          <a:solidFill>
            <a:srgbClr val="A9BEDC"/>
          </a:solidFill>
          <a:ln w="12700">
            <a:solidFill>
              <a:srgbClr val="A9BEDC"/>
            </a:solidFill>
            <a:prstDash val="solid"/>
          </a:ln>
        </p:spPr>
      </p:sp>
      <p:sp>
        <p:nvSpPr>
          <p:cNvPr id="17" name="Text 15"/>
          <p:cNvSpPr txBox="1"/>
          <p:nvPr/>
        </p:nvSpPr>
        <p:spPr>
          <a:xfrm>
            <a:off x="3566160" y="2194560"/>
            <a:ext cx="502920" cy="502920"/>
          </a:xfrm>
          <a:prstGeom prst="rect">
            <a:avLst/>
          </a:prstGeom>
          <a:noFill/>
          <a:ln/>
        </p:spPr>
        <p:txBody>
          <a:bodyPr wrap="square" lIns="0" tIns="0" rIns="0" bIns="0" rtlCol="0" anchor="ctr"/>
          <a:lstStyle/>
          <a:p>
            <a:pPr algn="ctr" indent="0" marL="0">
              <a:buNone/>
            </a:pPr>
            <a:r>
              <a:rPr lang="en-US" sz="1200" b="1" dirty="0">
                <a:solidFill>
                  <a:srgbClr val="2B2F36"/>
                </a:solidFill>
                <a:latin typeface="Courier New" pitchFamily="34" charset="0"/>
                <a:ea typeface="Courier New" pitchFamily="34" charset="-122"/>
                <a:cs typeface="Courier New" pitchFamily="34" charset="-120"/>
              </a:rPr>
              <a:t>G2</a:t>
            </a:r>
            <a:endParaRPr lang="en-US" sz="1200" dirty="0"/>
          </a:p>
        </p:txBody>
      </p:sp>
      <p:sp>
        <p:nvSpPr>
          <p:cNvPr id="18" name="Text 16"/>
          <p:cNvSpPr txBox="1"/>
          <p:nvPr/>
        </p:nvSpPr>
        <p:spPr>
          <a:xfrm>
            <a:off x="4206240" y="2167128"/>
            <a:ext cx="1600200" cy="292608"/>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Analista Senior</a:t>
            </a:r>
            <a:endParaRPr lang="en-US" sz="1400" dirty="0"/>
          </a:p>
        </p:txBody>
      </p:sp>
      <p:sp>
        <p:nvSpPr>
          <p:cNvPr id="19" name="Text 17"/>
          <p:cNvSpPr txBox="1"/>
          <p:nvPr/>
        </p:nvSpPr>
        <p:spPr>
          <a:xfrm>
            <a:off x="4206240" y="2459736"/>
            <a:ext cx="1600200" cy="256032"/>
          </a:xfrm>
          <a:prstGeom prst="rect">
            <a:avLst/>
          </a:prstGeom>
          <a:noFill/>
          <a:ln/>
        </p:spPr>
        <p:txBody>
          <a:bodyPr wrap="square" lIns="0" tIns="0" rIns="0" bIns="0" rtlCol="0" anchor="ctr"/>
          <a:lstStyle/>
          <a:p>
            <a:pPr indent="0" marL="0">
              <a:buNone/>
            </a:pPr>
            <a:r>
              <a:rPr lang="en-US" sz="1100" i="1" dirty="0">
                <a:solidFill>
                  <a:srgbClr val="4A6FA5"/>
                </a:solidFill>
                <a:latin typeface="Calibri" pitchFamily="34" charset="0"/>
                <a:ea typeface="Calibri" pitchFamily="34" charset="-122"/>
                <a:cs typeface="Calibri" pitchFamily="34" charset="-120"/>
              </a:rPr>
              <a:t>Controla</a:t>
            </a:r>
            <a:endParaRPr lang="en-US" sz="1100" dirty="0"/>
          </a:p>
        </p:txBody>
      </p:sp>
      <p:sp>
        <p:nvSpPr>
          <p:cNvPr id="20" name="Text 18"/>
          <p:cNvSpPr txBox="1"/>
          <p:nvPr/>
        </p:nvSpPr>
        <p:spPr>
          <a:xfrm>
            <a:off x="3566160" y="2926080"/>
            <a:ext cx="2148840" cy="160020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Dueño técnico de un bloque de reportes; segundo par de ojos; responde observaciones técnicas del regulador.</a:t>
            </a:r>
            <a:endParaRPr lang="en-US" sz="1100" dirty="0"/>
          </a:p>
        </p:txBody>
      </p:sp>
      <p:sp>
        <p:nvSpPr>
          <p:cNvPr id="21" name="Shape 19"/>
          <p:cNvSpPr/>
          <p:nvPr/>
        </p:nvSpPr>
        <p:spPr>
          <a:xfrm>
            <a:off x="6126480" y="1965960"/>
            <a:ext cx="2606040" cy="2651760"/>
          </a:xfrm>
          <a:prstGeom prst="roundRect">
            <a:avLst>
              <a:gd name="adj" fmla="val 2105"/>
            </a:avLst>
          </a:prstGeom>
          <a:solidFill>
            <a:srgbClr val="F6F7F9"/>
          </a:solidFill>
          <a:ln w="9525">
            <a:solidFill>
              <a:srgbClr val="F6F7F9"/>
            </a:solidFill>
            <a:prstDash val="solid"/>
          </a:ln>
        </p:spPr>
      </p:sp>
      <p:sp>
        <p:nvSpPr>
          <p:cNvPr id="22" name="Shape 20"/>
          <p:cNvSpPr/>
          <p:nvPr/>
        </p:nvSpPr>
        <p:spPr>
          <a:xfrm>
            <a:off x="6355080" y="2194560"/>
            <a:ext cx="502920" cy="502920"/>
          </a:xfrm>
          <a:prstGeom prst="ellipse">
            <a:avLst/>
          </a:prstGeom>
          <a:solidFill>
            <a:srgbClr val="4A6FA5"/>
          </a:solidFill>
          <a:ln w="12700">
            <a:solidFill>
              <a:srgbClr val="4A6FA5"/>
            </a:solidFill>
            <a:prstDash val="solid"/>
          </a:ln>
        </p:spPr>
      </p:sp>
      <p:sp>
        <p:nvSpPr>
          <p:cNvPr id="23" name="Text 21"/>
          <p:cNvSpPr txBox="1"/>
          <p:nvPr/>
        </p:nvSpPr>
        <p:spPr>
          <a:xfrm>
            <a:off x="6355080" y="219456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G3</a:t>
            </a:r>
            <a:endParaRPr lang="en-US" sz="1200" dirty="0"/>
          </a:p>
        </p:txBody>
      </p:sp>
      <p:sp>
        <p:nvSpPr>
          <p:cNvPr id="24" name="Text 22"/>
          <p:cNvSpPr txBox="1"/>
          <p:nvPr/>
        </p:nvSpPr>
        <p:spPr>
          <a:xfrm>
            <a:off x="6995160" y="2167128"/>
            <a:ext cx="1600200" cy="292608"/>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Jefe</a:t>
            </a:r>
            <a:endParaRPr lang="en-US" sz="1400" dirty="0"/>
          </a:p>
        </p:txBody>
      </p:sp>
      <p:sp>
        <p:nvSpPr>
          <p:cNvPr id="25" name="Text 23"/>
          <p:cNvSpPr txBox="1"/>
          <p:nvPr/>
        </p:nvSpPr>
        <p:spPr>
          <a:xfrm>
            <a:off x="6995160" y="2459736"/>
            <a:ext cx="1600200" cy="256032"/>
          </a:xfrm>
          <a:prstGeom prst="rect">
            <a:avLst/>
          </a:prstGeom>
          <a:noFill/>
          <a:ln/>
        </p:spPr>
        <p:txBody>
          <a:bodyPr wrap="square" lIns="0" tIns="0" rIns="0" bIns="0" rtlCol="0" anchor="ctr"/>
          <a:lstStyle/>
          <a:p>
            <a:pPr indent="0" marL="0">
              <a:buNone/>
            </a:pPr>
            <a:r>
              <a:rPr lang="en-US" sz="1100" i="1" dirty="0">
                <a:solidFill>
                  <a:srgbClr val="4A6FA5"/>
                </a:solidFill>
                <a:latin typeface="Calibri" pitchFamily="34" charset="0"/>
                <a:ea typeface="Calibri" pitchFamily="34" charset="-122"/>
                <a:cs typeface="Calibri" pitchFamily="34" charset="-120"/>
              </a:rPr>
              <a:t>Responde</a:t>
            </a:r>
            <a:endParaRPr lang="en-US" sz="1100" dirty="0"/>
          </a:p>
        </p:txBody>
      </p:sp>
      <p:sp>
        <p:nvSpPr>
          <p:cNvPr id="26" name="Text 24"/>
          <p:cNvSpPr txBox="1"/>
          <p:nvPr/>
        </p:nvSpPr>
        <p:spPr>
          <a:xfrm>
            <a:off x="6355080" y="2926080"/>
            <a:ext cx="2148840" cy="160020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Aprueba el envío, gestiona el calendario regulatorio, atiende al supervisor y a auditoría, asigna respaldos.</a:t>
            </a:r>
            <a:endParaRPr lang="en-US" sz="1100" dirty="0"/>
          </a:p>
        </p:txBody>
      </p:sp>
      <p:sp>
        <p:nvSpPr>
          <p:cNvPr id="27" name="Shape 25"/>
          <p:cNvSpPr/>
          <p:nvPr/>
        </p:nvSpPr>
        <p:spPr>
          <a:xfrm>
            <a:off x="8915400" y="1965960"/>
            <a:ext cx="2606040" cy="2651760"/>
          </a:xfrm>
          <a:prstGeom prst="roundRect">
            <a:avLst>
              <a:gd name="adj" fmla="val 2105"/>
            </a:avLst>
          </a:prstGeom>
          <a:solidFill>
            <a:srgbClr val="F6F7F9"/>
          </a:solidFill>
          <a:ln w="9525">
            <a:solidFill>
              <a:srgbClr val="F6F7F9"/>
            </a:solidFill>
            <a:prstDash val="solid"/>
          </a:ln>
        </p:spPr>
      </p:sp>
      <p:sp>
        <p:nvSpPr>
          <p:cNvPr id="28" name="Shape 26"/>
          <p:cNvSpPr/>
          <p:nvPr/>
        </p:nvSpPr>
        <p:spPr>
          <a:xfrm>
            <a:off x="9144000" y="2194560"/>
            <a:ext cx="502920" cy="502920"/>
          </a:xfrm>
          <a:prstGeom prst="ellipse">
            <a:avLst/>
          </a:prstGeom>
          <a:solidFill>
            <a:srgbClr val="34517D"/>
          </a:solidFill>
          <a:ln w="12700">
            <a:solidFill>
              <a:srgbClr val="34517D"/>
            </a:solidFill>
            <a:prstDash val="solid"/>
          </a:ln>
        </p:spPr>
      </p:sp>
      <p:sp>
        <p:nvSpPr>
          <p:cNvPr id="29" name="Text 27"/>
          <p:cNvSpPr txBox="1"/>
          <p:nvPr/>
        </p:nvSpPr>
        <p:spPr>
          <a:xfrm>
            <a:off x="9144000" y="219456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G4</a:t>
            </a:r>
            <a:endParaRPr lang="en-US" sz="1200" dirty="0"/>
          </a:p>
        </p:txBody>
      </p:sp>
      <p:sp>
        <p:nvSpPr>
          <p:cNvPr id="30" name="Text 28"/>
          <p:cNvSpPr txBox="1"/>
          <p:nvPr/>
        </p:nvSpPr>
        <p:spPr>
          <a:xfrm>
            <a:off x="9784080" y="2167128"/>
            <a:ext cx="1600200" cy="292608"/>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Subgerente</a:t>
            </a:r>
            <a:endParaRPr lang="en-US" sz="1400" dirty="0"/>
          </a:p>
        </p:txBody>
      </p:sp>
      <p:sp>
        <p:nvSpPr>
          <p:cNvPr id="31" name="Text 29"/>
          <p:cNvSpPr txBox="1"/>
          <p:nvPr/>
        </p:nvSpPr>
        <p:spPr>
          <a:xfrm>
            <a:off x="9784080" y="2459736"/>
            <a:ext cx="1600200" cy="256032"/>
          </a:xfrm>
          <a:prstGeom prst="rect">
            <a:avLst/>
          </a:prstGeom>
          <a:noFill/>
          <a:ln/>
        </p:spPr>
        <p:txBody>
          <a:bodyPr wrap="square" lIns="0" tIns="0" rIns="0" bIns="0" rtlCol="0" anchor="ctr"/>
          <a:lstStyle/>
          <a:p>
            <a:pPr indent="0" marL="0">
              <a:buNone/>
            </a:pPr>
            <a:r>
              <a:rPr lang="en-US" sz="1100" i="1" dirty="0">
                <a:solidFill>
                  <a:srgbClr val="4A6FA5"/>
                </a:solidFill>
                <a:latin typeface="Calibri" pitchFamily="34" charset="0"/>
                <a:ea typeface="Calibri" pitchFamily="34" charset="-122"/>
                <a:cs typeface="Calibri" pitchFamily="34" charset="-120"/>
              </a:rPr>
              <a:t>Rinde cuentas</a:t>
            </a:r>
            <a:endParaRPr lang="en-US" sz="1100" dirty="0"/>
          </a:p>
        </p:txBody>
      </p:sp>
      <p:sp>
        <p:nvSpPr>
          <p:cNvPr id="32" name="Text 30"/>
          <p:cNvSpPr txBox="1"/>
          <p:nvPr/>
        </p:nvSpPr>
        <p:spPr>
          <a:xfrm>
            <a:off x="9144000" y="2926080"/>
            <a:ext cx="2148840" cy="160020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Dueño del proceso: controles, automatización, nuevas normas, firma del núcleo de cumplimiento.</a:t>
            </a:r>
            <a:endParaRPr lang="en-US" sz="1100" dirty="0"/>
          </a:p>
        </p:txBody>
      </p:sp>
      <p:sp>
        <p:nvSpPr>
          <p:cNvPr id="33" name="Text 31"/>
          <p:cNvSpPr txBox="1"/>
          <p:nvPr/>
        </p:nvSpPr>
        <p:spPr>
          <a:xfrm>
            <a:off x="548640" y="4846320"/>
            <a:ext cx="5486400" cy="320040"/>
          </a:xfrm>
          <a:prstGeom prst="rect">
            <a:avLst/>
          </a:prstGeom>
          <a:noFill/>
          <a:ln/>
        </p:spPr>
        <p:txBody>
          <a:bodyPr wrap="square" lIns="0" tIns="0" rIns="0" bIns="0" rtlCol="0" anchor="ctr"/>
          <a:lstStyle/>
          <a:p>
            <a:pPr indent="0" marL="0">
              <a:buNone/>
            </a:pPr>
            <a:r>
              <a:rPr lang="en-US" sz="1400" b="1" dirty="0">
                <a:solidFill>
                  <a:srgbClr val="2B2F36"/>
                </a:solidFill>
                <a:latin typeface="Calibri" pitchFamily="34" charset="0"/>
                <a:ea typeface="Calibri" pitchFamily="34" charset="-122"/>
                <a:cs typeface="Calibri" pitchFamily="34" charset="-120"/>
              </a:rPr>
              <a:t>Dónde está el equipo hoy</a:t>
            </a:r>
            <a:endParaRPr lang="en-US" sz="1400" dirty="0"/>
          </a:p>
        </p:txBody>
      </p:sp>
      <p:sp>
        <p:nvSpPr>
          <p:cNvPr id="34" name="Text 32"/>
          <p:cNvSpPr txBox="1"/>
          <p:nvPr/>
        </p:nvSpPr>
        <p:spPr>
          <a:xfrm>
            <a:off x="548640" y="5193792"/>
            <a:ext cx="11091672" cy="91440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Seis profesionales (ingeniería comercial, informática y finanzas) cubren en la práctica funciones de G1 a G3: producen, controlan y responden ante el regulador. La escala con la que están valorados proviene del proceso de portabilidad de 2020. El grado formal de cada uno debe confirmarse con Personas en el diagnóstico. Regla: quien prepara nunca firma; ningún reporte crítico depende de una sola persona.</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EL MERCADO</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9</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Los bancos sistémicos ya tratan esta función como especializada; competimos por el mismo talento</a:t>
            </a:r>
            <a:endParaRPr lang="en-US" sz="2600" dirty="0"/>
          </a:p>
        </p:txBody>
      </p:sp>
      <p:sp>
        <p:nvSpPr>
          <p:cNvPr id="9" name="Shape 7"/>
          <p:cNvSpPr/>
          <p:nvPr/>
        </p:nvSpPr>
        <p:spPr>
          <a:xfrm>
            <a:off x="548640" y="1965960"/>
            <a:ext cx="2606040" cy="3291840"/>
          </a:xfrm>
          <a:prstGeom prst="roundRect">
            <a:avLst>
              <a:gd name="adj" fmla="val 2105"/>
            </a:avLst>
          </a:prstGeom>
          <a:solidFill>
            <a:srgbClr val="F6F7F9"/>
          </a:solidFill>
          <a:ln w="9525">
            <a:solidFill>
              <a:srgbClr val="F6F7F9"/>
            </a:solidFill>
            <a:prstDash val="solid"/>
          </a:ln>
        </p:spPr>
      </p:sp>
      <p:sp>
        <p:nvSpPr>
          <p:cNvPr id="10" name="Text 8"/>
          <p:cNvSpPr txBox="1"/>
          <p:nvPr/>
        </p:nvSpPr>
        <p:spPr>
          <a:xfrm>
            <a:off x="777240" y="2148840"/>
            <a:ext cx="2148840" cy="548640"/>
          </a:xfrm>
          <a:prstGeom prst="rect">
            <a:avLst/>
          </a:prstGeom>
          <a:noFill/>
          <a:ln/>
        </p:spPr>
        <p:txBody>
          <a:bodyPr wrap="square" lIns="0" tIns="0" rIns="0" bIns="0" rtlCol="0" anchor="ctr"/>
          <a:lstStyle/>
          <a:p>
            <a:pPr indent="0" marL="0">
              <a:buNone/>
            </a:pPr>
            <a:r>
              <a:rPr lang="en-US" sz="1350" b="1" dirty="0">
                <a:solidFill>
                  <a:srgbClr val="2B2F36"/>
                </a:solidFill>
                <a:latin typeface="Calibri" pitchFamily="34" charset="0"/>
                <a:ea typeface="Calibri" pitchFamily="34" charset="-122"/>
                <a:cs typeface="Calibri" pitchFamily="34" charset="-120"/>
              </a:rPr>
              <a:t>Función especializada</a:t>
            </a:r>
            <a:endParaRPr lang="en-US" sz="1350" dirty="0"/>
          </a:p>
        </p:txBody>
      </p:sp>
      <p:sp>
        <p:nvSpPr>
          <p:cNvPr id="11" name="Text 9"/>
          <p:cNvSpPr txBox="1"/>
          <p:nvPr/>
        </p:nvSpPr>
        <p:spPr>
          <a:xfrm>
            <a:off x="777240" y="2743200"/>
            <a:ext cx="2148840" cy="237744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La reportería regulatoria opera en unidades dedicadas, separadas de los procesos de producto, con dueños por bloque de archivos del MSI y un responsable del proceso completo.</a:t>
            </a:r>
            <a:endParaRPr lang="en-US" sz="1050" dirty="0"/>
          </a:p>
        </p:txBody>
      </p:sp>
      <p:sp>
        <p:nvSpPr>
          <p:cNvPr id="12" name="Shape 10"/>
          <p:cNvSpPr/>
          <p:nvPr/>
        </p:nvSpPr>
        <p:spPr>
          <a:xfrm>
            <a:off x="3337560" y="1965960"/>
            <a:ext cx="2606040" cy="3291840"/>
          </a:xfrm>
          <a:prstGeom prst="roundRect">
            <a:avLst>
              <a:gd name="adj" fmla="val 2105"/>
            </a:avLst>
          </a:prstGeom>
          <a:solidFill>
            <a:srgbClr val="F6F7F9"/>
          </a:solidFill>
          <a:ln w="9525">
            <a:solidFill>
              <a:srgbClr val="F6F7F9"/>
            </a:solidFill>
            <a:prstDash val="solid"/>
          </a:ln>
        </p:spPr>
      </p:sp>
      <p:sp>
        <p:nvSpPr>
          <p:cNvPr id="13" name="Text 11"/>
          <p:cNvSpPr txBox="1"/>
          <p:nvPr/>
        </p:nvSpPr>
        <p:spPr>
          <a:xfrm>
            <a:off x="3566160" y="2148840"/>
            <a:ext cx="2148840" cy="548640"/>
          </a:xfrm>
          <a:prstGeom prst="rect">
            <a:avLst/>
          </a:prstGeom>
          <a:noFill/>
          <a:ln/>
        </p:spPr>
        <p:txBody>
          <a:bodyPr wrap="square" lIns="0" tIns="0" rIns="0" bIns="0" rtlCol="0" anchor="ctr"/>
          <a:lstStyle/>
          <a:p>
            <a:pPr indent="0" marL="0">
              <a:buNone/>
            </a:pPr>
            <a:r>
              <a:rPr lang="en-US" sz="1350" b="1" dirty="0">
                <a:solidFill>
                  <a:srgbClr val="2B2F36"/>
                </a:solidFill>
                <a:latin typeface="Calibri" pitchFamily="34" charset="0"/>
                <a:ea typeface="Calibri" pitchFamily="34" charset="-122"/>
                <a:cs typeface="Calibri" pitchFamily="34" charset="-120"/>
              </a:rPr>
              <a:t>Escala diferenciada</a:t>
            </a:r>
            <a:endParaRPr lang="en-US" sz="1350" dirty="0"/>
          </a:p>
        </p:txBody>
      </p:sp>
      <p:sp>
        <p:nvSpPr>
          <p:cNvPr id="14" name="Text 12"/>
          <p:cNvSpPr txBox="1"/>
          <p:nvPr/>
        </p:nvSpPr>
        <p:spPr>
          <a:xfrm>
            <a:off x="3566160" y="2743200"/>
            <a:ext cx="2148840" cy="237744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Analista, analista senior, jefe y subgerente son grados distintos, con separación entre quien prepara y quien firma. Las referencias públicas ubican jefaturas y especialistas contables en bandas distintas a los analistas operativos.</a:t>
            </a:r>
            <a:endParaRPr lang="en-US" sz="1050" dirty="0"/>
          </a:p>
        </p:txBody>
      </p:sp>
      <p:sp>
        <p:nvSpPr>
          <p:cNvPr id="15" name="Shape 13"/>
          <p:cNvSpPr/>
          <p:nvPr/>
        </p:nvSpPr>
        <p:spPr>
          <a:xfrm>
            <a:off x="6126480" y="1965960"/>
            <a:ext cx="2606040" cy="3291840"/>
          </a:xfrm>
          <a:prstGeom prst="roundRect">
            <a:avLst>
              <a:gd name="adj" fmla="val 2105"/>
            </a:avLst>
          </a:prstGeom>
          <a:solidFill>
            <a:srgbClr val="F6F7F9"/>
          </a:solidFill>
          <a:ln w="9525">
            <a:solidFill>
              <a:srgbClr val="F6F7F9"/>
            </a:solidFill>
            <a:prstDash val="solid"/>
          </a:ln>
        </p:spPr>
      </p:sp>
      <p:sp>
        <p:nvSpPr>
          <p:cNvPr id="16" name="Text 14"/>
          <p:cNvSpPr txBox="1"/>
          <p:nvPr/>
        </p:nvSpPr>
        <p:spPr>
          <a:xfrm>
            <a:off x="6355080" y="2148840"/>
            <a:ext cx="2148840" cy="548640"/>
          </a:xfrm>
          <a:prstGeom prst="rect">
            <a:avLst/>
          </a:prstGeom>
          <a:noFill/>
          <a:ln/>
        </p:spPr>
        <p:txBody>
          <a:bodyPr wrap="square" lIns="0" tIns="0" rIns="0" bIns="0" rtlCol="0" anchor="ctr"/>
          <a:lstStyle/>
          <a:p>
            <a:pPr indent="0" marL="0">
              <a:buNone/>
            </a:pPr>
            <a:r>
              <a:rPr lang="en-US" sz="1350" b="1" dirty="0">
                <a:solidFill>
                  <a:srgbClr val="2B2F36"/>
                </a:solidFill>
                <a:latin typeface="Calibri" pitchFamily="34" charset="0"/>
                <a:ea typeface="Calibri" pitchFamily="34" charset="-122"/>
                <a:cs typeface="Calibri" pitchFamily="34" charset="-120"/>
              </a:rPr>
              <a:t>Competencias disputadas</a:t>
            </a:r>
            <a:endParaRPr lang="en-US" sz="1350" dirty="0"/>
          </a:p>
        </p:txBody>
      </p:sp>
      <p:sp>
        <p:nvSpPr>
          <p:cNvPr id="17" name="Text 15"/>
          <p:cNvSpPr txBox="1"/>
          <p:nvPr/>
        </p:nvSpPr>
        <p:spPr>
          <a:xfrm>
            <a:off x="6355080" y="2743200"/>
            <a:ext cx="2148840" cy="237744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SQL, plataformas de datos como Databricks y conocimiento del MSI, del REDEC y de Basilea III son el perfil que buscan Riesgo, Contabilidad, las áreas de datos y los pares. Un reemplazo se paga en meses de curva de aprendizaje.</a:t>
            </a:r>
            <a:endParaRPr lang="en-US" sz="1050" dirty="0"/>
          </a:p>
        </p:txBody>
      </p:sp>
      <p:sp>
        <p:nvSpPr>
          <p:cNvPr id="18" name="Shape 16"/>
          <p:cNvSpPr/>
          <p:nvPr/>
        </p:nvSpPr>
        <p:spPr>
          <a:xfrm>
            <a:off x="8915400" y="1965960"/>
            <a:ext cx="2606040" cy="3291840"/>
          </a:xfrm>
          <a:prstGeom prst="roundRect">
            <a:avLst>
              <a:gd name="adj" fmla="val 2105"/>
            </a:avLst>
          </a:prstGeom>
          <a:solidFill>
            <a:srgbClr val="F6F7F9"/>
          </a:solidFill>
          <a:ln w="9525">
            <a:solidFill>
              <a:srgbClr val="F6F7F9"/>
            </a:solidFill>
            <a:prstDash val="solid"/>
          </a:ln>
        </p:spPr>
      </p:sp>
      <p:sp>
        <p:nvSpPr>
          <p:cNvPr id="19" name="Text 17"/>
          <p:cNvSpPr txBox="1"/>
          <p:nvPr/>
        </p:nvSpPr>
        <p:spPr>
          <a:xfrm>
            <a:off x="9144000" y="2148840"/>
            <a:ext cx="2148840" cy="548640"/>
          </a:xfrm>
          <a:prstGeom prst="rect">
            <a:avLst/>
          </a:prstGeom>
          <a:noFill/>
          <a:ln/>
        </p:spPr>
        <p:txBody>
          <a:bodyPr wrap="square" lIns="0" tIns="0" rIns="0" bIns="0" rtlCol="0" anchor="ctr"/>
          <a:lstStyle/>
          <a:p>
            <a:pPr indent="0" marL="0">
              <a:buNone/>
            </a:pPr>
            <a:r>
              <a:rPr lang="en-US" sz="1350" b="1" dirty="0">
                <a:solidFill>
                  <a:srgbClr val="2B2F36"/>
                </a:solidFill>
                <a:latin typeface="Calibri" pitchFamily="34" charset="0"/>
                <a:ea typeface="Calibri" pitchFamily="34" charset="-122"/>
                <a:cs typeface="Calibri" pitchFamily="34" charset="-120"/>
              </a:rPr>
              <a:t>Perímetro en expansión</a:t>
            </a:r>
            <a:endParaRPr lang="en-US" sz="1350" dirty="0"/>
          </a:p>
        </p:txBody>
      </p:sp>
      <p:sp>
        <p:nvSpPr>
          <p:cNvPr id="20" name="Text 18"/>
          <p:cNvSpPr txBox="1"/>
          <p:nvPr/>
        </p:nvSpPr>
        <p:spPr>
          <a:xfrm>
            <a:off x="9144000" y="2743200"/>
            <a:ext cx="2148840" cy="237744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Registro de Deuda Consolidada, cierre de Basilea III y cambios permanentes al MSI aumentan la carga en todos los bancos, lo que intensifica la competencia por el mismo talento.</a:t>
            </a:r>
            <a:endParaRPr lang="en-US" sz="1050" dirty="0"/>
          </a:p>
        </p:txBody>
      </p:sp>
      <p:sp>
        <p:nvSpPr>
          <p:cNvPr id="21" name="Text 19"/>
          <p:cNvSpPr txBox="1"/>
          <p:nvPr/>
        </p:nvSpPr>
        <p:spPr>
          <a:xfrm>
            <a:off x="548640" y="5486400"/>
            <a:ext cx="11091672" cy="457200"/>
          </a:xfrm>
          <a:prstGeom prst="rect">
            <a:avLst/>
          </a:prstGeom>
          <a:noFill/>
          <a:ln/>
        </p:spPr>
        <p:txBody>
          <a:bodyPr wrap="square" lIns="0" tIns="0" rIns="0" bIns="0"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Referencia cualitativa a propósito: las cifras de mercado llegan al comité con el diagnóstico de la fase 1, validadas con una fuente formal de remuneraciones.</a:t>
            </a:r>
            <a:endParaRPr lang="en-US" sz="1100" dirty="0"/>
          </a:p>
        </p:txBody>
      </p:sp>
      <p:sp>
        <p:nvSpPr>
          <p:cNvPr id="22" name="Text 20"/>
          <p:cNvSpPr txBox="1"/>
          <p:nvPr/>
        </p:nvSpPr>
        <p:spPr>
          <a:xfrm>
            <a:off x="548640" y="6400800"/>
            <a:ext cx="10360152" cy="228600"/>
          </a:xfrm>
          <a:prstGeom prst="rect">
            <a:avLst/>
          </a:prstGeom>
          <a:noFill/>
          <a:ln/>
        </p:spPr>
        <p:txBody>
          <a:bodyPr wrap="square" lIns="0" tIns="0" rIns="0" bIns="0" rtlCol="0" anchor="ctr"/>
          <a:lstStyle/>
          <a:p>
            <a:pPr indent="0" marL="0">
              <a:buNone/>
            </a:pPr>
            <a:r>
              <a:rPr lang="en-US" sz="800" dirty="0">
                <a:solidFill>
                  <a:srgbClr val="8A94A0"/>
                </a:solidFill>
                <a:latin typeface="Calibri" pitchFamily="34" charset="0"/>
                <a:ea typeface="Calibri" pitchFamily="34" charset="-122"/>
                <a:cs typeface="Calibri" pitchFamily="34" charset="-120"/>
              </a:rPr>
              <a:t>Basado en el documento de respaldo y en las fuentes públicas ahí citadas (Robert Half 2026, avisos de empleo de bancos en Chile).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LA PROPUESTA</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10</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Tres fases; cada una termina con un entregable verificable para el comité</a:t>
            </a:r>
            <a:endParaRPr lang="en-US" sz="2600" dirty="0"/>
          </a:p>
        </p:txBody>
      </p:sp>
      <p:sp>
        <p:nvSpPr>
          <p:cNvPr id="9" name="Shape 7"/>
          <p:cNvSpPr/>
          <p:nvPr/>
        </p:nvSpPr>
        <p:spPr>
          <a:xfrm>
            <a:off x="548640" y="1965960"/>
            <a:ext cx="3566160" cy="3840480"/>
          </a:xfrm>
          <a:prstGeom prst="roundRect">
            <a:avLst>
              <a:gd name="adj" fmla="val 1538"/>
            </a:avLst>
          </a:prstGeom>
          <a:solidFill>
            <a:srgbClr val="E8F0E8"/>
          </a:solidFill>
          <a:ln w="9525">
            <a:solidFill>
              <a:srgbClr val="E8F0E8"/>
            </a:solidFill>
            <a:prstDash val="solid"/>
          </a:ln>
        </p:spPr>
      </p:sp>
      <p:sp>
        <p:nvSpPr>
          <p:cNvPr id="10" name="Text 8"/>
          <p:cNvSpPr txBox="1"/>
          <p:nvPr/>
        </p:nvSpPr>
        <p:spPr>
          <a:xfrm>
            <a:off x="804672" y="2148840"/>
            <a:ext cx="1371600" cy="228600"/>
          </a:xfrm>
          <a:prstGeom prst="rect">
            <a:avLst/>
          </a:prstGeom>
          <a:noFill/>
          <a:ln/>
        </p:spPr>
        <p:txBody>
          <a:bodyPr wrap="square" lIns="0" tIns="0" rIns="0" bIns="0" rtlCol="0" anchor="ctr"/>
          <a:lstStyle/>
          <a:p>
            <a:pPr indent="0" marL="0">
              <a:buNone/>
            </a:pPr>
            <a:r>
              <a:rPr lang="en-US" sz="850" b="1" spc="200" kern="0" dirty="0">
                <a:solidFill>
                  <a:srgbClr val="6A9B6E"/>
                </a:solidFill>
                <a:latin typeface="Calibri" pitchFamily="34" charset="0"/>
                <a:ea typeface="Calibri" pitchFamily="34" charset="-122"/>
                <a:cs typeface="Calibri" pitchFamily="34" charset="-120"/>
              </a:rPr>
              <a:t>FASE 1</a:t>
            </a:r>
            <a:endParaRPr lang="en-US" sz="850" dirty="0"/>
          </a:p>
        </p:txBody>
      </p:sp>
      <p:sp>
        <p:nvSpPr>
          <p:cNvPr id="11" name="Text 9"/>
          <p:cNvSpPr txBox="1"/>
          <p:nvPr/>
        </p:nvSpPr>
        <p:spPr>
          <a:xfrm>
            <a:off x="804672" y="2377440"/>
            <a:ext cx="3054096" cy="411480"/>
          </a:xfrm>
          <a:prstGeom prst="rect">
            <a:avLst/>
          </a:prstGeom>
          <a:noFill/>
          <a:ln/>
        </p:spPr>
        <p:txBody>
          <a:bodyPr wrap="square" lIns="0" tIns="0" rIns="0" bIns="0" rtlCol="0" anchor="ctr"/>
          <a:lstStyle/>
          <a:p>
            <a:pPr indent="0" marL="0">
              <a:buNone/>
            </a:pPr>
            <a:r>
              <a:rPr lang="en-US" sz="1800" b="1" dirty="0">
                <a:solidFill>
                  <a:srgbClr val="2B2F36"/>
                </a:solidFill>
                <a:latin typeface="Calibri" pitchFamily="34" charset="0"/>
                <a:ea typeface="Calibri" pitchFamily="34" charset="-122"/>
                <a:cs typeface="Calibri" pitchFamily="34" charset="-120"/>
              </a:rPr>
              <a:t>Diagnóstico</a:t>
            </a:r>
            <a:endParaRPr lang="en-US" sz="1800" dirty="0"/>
          </a:p>
        </p:txBody>
      </p:sp>
      <p:sp>
        <p:nvSpPr>
          <p:cNvPr id="12" name="Text 10"/>
          <p:cNvSpPr txBox="1"/>
          <p:nvPr/>
        </p:nvSpPr>
        <p:spPr>
          <a:xfrm>
            <a:off x="804672" y="2880360"/>
            <a:ext cx="3054096" cy="21945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Valoración formal de los cargos con Personas, con la rúbrica de alcance: cobertura de reportes, autoridad de firma, interlocución con el regulador, equipo y complejidad.</a:t>
            </a:r>
            <a:endParaRPr lang="en-US" sz="1100" dirty="0"/>
          </a:p>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Matriz de responsabilidades por reporte: quién prepara, revisa, valida y firma.</a:t>
            </a:r>
            <a:endParaRPr lang="en-US" sz="1100" dirty="0"/>
          </a:p>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Mapa de puntos únicos de falla.</a:t>
            </a:r>
            <a:endParaRPr lang="en-US" sz="1100" dirty="0"/>
          </a:p>
        </p:txBody>
      </p:sp>
      <p:sp>
        <p:nvSpPr>
          <p:cNvPr id="13" name="Text 11"/>
          <p:cNvSpPr txBox="1"/>
          <p:nvPr/>
        </p:nvSpPr>
        <p:spPr>
          <a:xfrm>
            <a:off x="804672" y="5166360"/>
            <a:ext cx="3054096" cy="502920"/>
          </a:xfrm>
          <a:prstGeom prst="rect">
            <a:avLst/>
          </a:prstGeom>
          <a:noFill/>
          <a:ln/>
        </p:spPr>
        <p:txBody>
          <a:bodyPr wrap="square" lIns="0" tIns="0" rIns="0" bIns="0" rtlCol="0" anchor="b"/>
          <a:lstStyle/>
          <a:p>
            <a:pPr indent="0" marL="0">
              <a:buNone/>
            </a:pPr>
            <a:r>
              <a:rPr lang="en-US" sz="1050" i="1" dirty="0">
                <a:solidFill>
                  <a:srgbClr val="4F7A53"/>
                </a:solidFill>
                <a:latin typeface="Calibri" pitchFamily="34" charset="0"/>
                <a:ea typeface="Calibri" pitchFamily="34" charset="-122"/>
                <a:cs typeface="Calibri" pitchFamily="34" charset="-120"/>
              </a:rPr>
              <a:t>Entregable: informe de brechas de grado y de continuidad.</a:t>
            </a:r>
            <a:endParaRPr lang="en-US" sz="1050" dirty="0"/>
          </a:p>
        </p:txBody>
      </p:sp>
      <p:sp>
        <p:nvSpPr>
          <p:cNvPr id="14" name="Shape 12"/>
          <p:cNvSpPr/>
          <p:nvPr/>
        </p:nvSpPr>
        <p:spPr>
          <a:xfrm>
            <a:off x="4297680" y="1965960"/>
            <a:ext cx="3566160" cy="3840480"/>
          </a:xfrm>
          <a:prstGeom prst="roundRect">
            <a:avLst>
              <a:gd name="adj" fmla="val 1538"/>
            </a:avLst>
          </a:prstGeom>
          <a:solidFill>
            <a:srgbClr val="F6F7F9"/>
          </a:solidFill>
          <a:ln w="9525">
            <a:solidFill>
              <a:srgbClr val="F6F7F9"/>
            </a:solidFill>
            <a:prstDash val="solid"/>
          </a:ln>
        </p:spPr>
      </p:sp>
      <p:sp>
        <p:nvSpPr>
          <p:cNvPr id="15" name="Text 13"/>
          <p:cNvSpPr txBox="1"/>
          <p:nvPr/>
        </p:nvSpPr>
        <p:spPr>
          <a:xfrm>
            <a:off x="4553712" y="2148840"/>
            <a:ext cx="1371600" cy="228600"/>
          </a:xfrm>
          <a:prstGeom prst="rect">
            <a:avLst/>
          </a:prstGeom>
          <a:noFill/>
          <a:ln/>
        </p:spPr>
        <p:txBody>
          <a:bodyPr wrap="square" lIns="0" tIns="0" rIns="0" bIns="0" rtlCol="0" anchor="ctr"/>
          <a:lstStyle/>
          <a:p>
            <a:pPr indent="0" marL="0">
              <a:buNone/>
            </a:pPr>
            <a:r>
              <a:rPr lang="en-US" sz="850" b="1" spc="200" kern="0" dirty="0">
                <a:solidFill>
                  <a:srgbClr val="6A9B6E"/>
                </a:solidFill>
                <a:latin typeface="Calibri" pitchFamily="34" charset="0"/>
                <a:ea typeface="Calibri" pitchFamily="34" charset="-122"/>
                <a:cs typeface="Calibri" pitchFamily="34" charset="-120"/>
              </a:rPr>
              <a:t>FASE 2</a:t>
            </a:r>
            <a:endParaRPr lang="en-US" sz="850" dirty="0"/>
          </a:p>
        </p:txBody>
      </p:sp>
      <p:sp>
        <p:nvSpPr>
          <p:cNvPr id="16" name="Text 14"/>
          <p:cNvSpPr txBox="1"/>
          <p:nvPr/>
        </p:nvSpPr>
        <p:spPr>
          <a:xfrm>
            <a:off x="4553712" y="2377440"/>
            <a:ext cx="3054096" cy="411480"/>
          </a:xfrm>
          <a:prstGeom prst="rect">
            <a:avLst/>
          </a:prstGeom>
          <a:noFill/>
          <a:ln/>
        </p:spPr>
        <p:txBody>
          <a:bodyPr wrap="square" lIns="0" tIns="0" rIns="0" bIns="0" rtlCol="0" anchor="ctr"/>
          <a:lstStyle/>
          <a:p>
            <a:pPr indent="0" marL="0">
              <a:buNone/>
            </a:pPr>
            <a:r>
              <a:rPr lang="en-US" sz="1800" b="1" dirty="0">
                <a:solidFill>
                  <a:srgbClr val="2B2F36"/>
                </a:solidFill>
                <a:latin typeface="Calibri" pitchFamily="34" charset="0"/>
                <a:ea typeface="Calibri" pitchFamily="34" charset="-122"/>
                <a:cs typeface="Calibri" pitchFamily="34" charset="-120"/>
              </a:rPr>
              <a:t>Diseño</a:t>
            </a:r>
            <a:endParaRPr lang="en-US" sz="1800" dirty="0"/>
          </a:p>
        </p:txBody>
      </p:sp>
      <p:sp>
        <p:nvSpPr>
          <p:cNvPr id="17" name="Text 15"/>
          <p:cNvSpPr txBox="1"/>
          <p:nvPr/>
        </p:nvSpPr>
        <p:spPr>
          <a:xfrm>
            <a:off x="4553712" y="2880360"/>
            <a:ext cx="3054096" cy="21945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Escala de grados G1 a G4 específica para la función, con perfiles y competencias.</a:t>
            </a:r>
            <a:endParaRPr lang="en-US" sz="1100" dirty="0"/>
          </a:p>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Plan de respaldos y de desarrollo por persona.</a:t>
            </a:r>
            <a:endParaRPr lang="en-US" sz="1100" dirty="0"/>
          </a:p>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Referencia de mercado validada con una fuente formal.</a:t>
            </a:r>
            <a:endParaRPr lang="en-US" sz="1100" dirty="0"/>
          </a:p>
        </p:txBody>
      </p:sp>
      <p:sp>
        <p:nvSpPr>
          <p:cNvPr id="18" name="Text 16"/>
          <p:cNvSpPr txBox="1"/>
          <p:nvPr/>
        </p:nvSpPr>
        <p:spPr>
          <a:xfrm>
            <a:off x="4553712" y="5166360"/>
            <a:ext cx="3054096" cy="502920"/>
          </a:xfrm>
          <a:prstGeom prst="rect">
            <a:avLst/>
          </a:prstGeom>
          <a:noFill/>
          <a:ln/>
        </p:spPr>
        <p:txBody>
          <a:bodyPr wrap="square" lIns="0" tIns="0" rIns="0" bIns="0" rtlCol="0" anchor="b"/>
          <a:lstStyle/>
          <a:p>
            <a:pPr indent="0" marL="0">
              <a:buNone/>
            </a:pPr>
            <a:r>
              <a:rPr lang="en-US" sz="1050" i="1" dirty="0">
                <a:solidFill>
                  <a:srgbClr val="4F7A53"/>
                </a:solidFill>
                <a:latin typeface="Calibri" pitchFamily="34" charset="0"/>
                <a:ea typeface="Calibri" pitchFamily="34" charset="-122"/>
                <a:cs typeface="Calibri" pitchFamily="34" charset="-120"/>
              </a:rPr>
              <a:t>Entregable: escala propuesta con su costo, para decisión del comité.</a:t>
            </a:r>
            <a:endParaRPr lang="en-US" sz="1050" dirty="0"/>
          </a:p>
        </p:txBody>
      </p:sp>
      <p:sp>
        <p:nvSpPr>
          <p:cNvPr id="19" name="Shape 17"/>
          <p:cNvSpPr/>
          <p:nvPr/>
        </p:nvSpPr>
        <p:spPr>
          <a:xfrm>
            <a:off x="8046720" y="1965960"/>
            <a:ext cx="3566160" cy="3840480"/>
          </a:xfrm>
          <a:prstGeom prst="roundRect">
            <a:avLst>
              <a:gd name="adj" fmla="val 1538"/>
            </a:avLst>
          </a:prstGeom>
          <a:solidFill>
            <a:srgbClr val="F6F7F9"/>
          </a:solidFill>
          <a:ln w="9525">
            <a:solidFill>
              <a:srgbClr val="F6F7F9"/>
            </a:solidFill>
            <a:prstDash val="solid"/>
          </a:ln>
        </p:spPr>
      </p:sp>
      <p:sp>
        <p:nvSpPr>
          <p:cNvPr id="20" name="Text 18"/>
          <p:cNvSpPr txBox="1"/>
          <p:nvPr/>
        </p:nvSpPr>
        <p:spPr>
          <a:xfrm>
            <a:off x="8302752" y="2148840"/>
            <a:ext cx="1371600" cy="228600"/>
          </a:xfrm>
          <a:prstGeom prst="rect">
            <a:avLst/>
          </a:prstGeom>
          <a:noFill/>
          <a:ln/>
        </p:spPr>
        <p:txBody>
          <a:bodyPr wrap="square" lIns="0" tIns="0" rIns="0" bIns="0" rtlCol="0" anchor="ctr"/>
          <a:lstStyle/>
          <a:p>
            <a:pPr indent="0" marL="0">
              <a:buNone/>
            </a:pPr>
            <a:r>
              <a:rPr lang="en-US" sz="850" b="1" spc="200" kern="0" dirty="0">
                <a:solidFill>
                  <a:srgbClr val="6A9B6E"/>
                </a:solidFill>
                <a:latin typeface="Calibri" pitchFamily="34" charset="0"/>
                <a:ea typeface="Calibri" pitchFamily="34" charset="-122"/>
                <a:cs typeface="Calibri" pitchFamily="34" charset="-120"/>
              </a:rPr>
              <a:t>FASE 3</a:t>
            </a:r>
            <a:endParaRPr lang="en-US" sz="850" dirty="0"/>
          </a:p>
        </p:txBody>
      </p:sp>
      <p:sp>
        <p:nvSpPr>
          <p:cNvPr id="21" name="Text 19"/>
          <p:cNvSpPr txBox="1"/>
          <p:nvPr/>
        </p:nvSpPr>
        <p:spPr>
          <a:xfrm>
            <a:off x="8302752" y="2377440"/>
            <a:ext cx="3054096" cy="411480"/>
          </a:xfrm>
          <a:prstGeom prst="rect">
            <a:avLst/>
          </a:prstGeom>
          <a:noFill/>
          <a:ln/>
        </p:spPr>
        <p:txBody>
          <a:bodyPr wrap="square" lIns="0" tIns="0" rIns="0" bIns="0" rtlCol="0" anchor="ctr"/>
          <a:lstStyle/>
          <a:p>
            <a:pPr indent="0" marL="0">
              <a:buNone/>
            </a:pPr>
            <a:r>
              <a:rPr lang="en-US" sz="1800" b="1" dirty="0">
                <a:solidFill>
                  <a:srgbClr val="2B2F36"/>
                </a:solidFill>
                <a:latin typeface="Calibri" pitchFamily="34" charset="0"/>
                <a:ea typeface="Calibri" pitchFamily="34" charset="-122"/>
                <a:cs typeface="Calibri" pitchFamily="34" charset="-120"/>
              </a:rPr>
              <a:t>Implementación</a:t>
            </a:r>
            <a:endParaRPr lang="en-US" sz="1800" dirty="0"/>
          </a:p>
        </p:txBody>
      </p:sp>
      <p:sp>
        <p:nvSpPr>
          <p:cNvPr id="22" name="Text 20"/>
          <p:cNvSpPr txBox="1"/>
          <p:nvPr/>
        </p:nvSpPr>
        <p:spPr>
          <a:xfrm>
            <a:off x="8302752" y="2880360"/>
            <a:ext cx="3054096" cy="21945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Ajuste gradual según criticidad: primero el núcleo de cumplimiento y la operación crítica.</a:t>
            </a:r>
            <a:endParaRPr lang="en-US" sz="1100" dirty="0"/>
          </a:p>
          <a:p>
            <a:pPr marL="152400" indent="-152400">
              <a:spcAft>
                <a:spcPts val="600"/>
              </a:spcAft>
              <a:buSzPct val="100000"/>
              <a:buChar char="•"/>
            </a:pPr>
            <a:r>
              <a:rPr lang="en-US" sz="1100" dirty="0">
                <a:solidFill>
                  <a:srgbClr val="5B6470"/>
                </a:solidFill>
                <a:latin typeface="Calibri" pitchFamily="34" charset="0"/>
                <a:ea typeface="Calibri" pitchFamily="34" charset="-122"/>
                <a:cs typeface="Calibri" pitchFamily="34" charset="-120"/>
              </a:rPr>
              <a:t>Indicadores: envíos a tiempo y sin reenvío, observaciones del regulador, cobertura de respaldos.</a:t>
            </a:r>
            <a:endParaRPr lang="en-US" sz="1100" dirty="0"/>
          </a:p>
        </p:txBody>
      </p:sp>
      <p:sp>
        <p:nvSpPr>
          <p:cNvPr id="23" name="Text 21"/>
          <p:cNvSpPr txBox="1"/>
          <p:nvPr/>
        </p:nvSpPr>
        <p:spPr>
          <a:xfrm>
            <a:off x="8302752" y="5166360"/>
            <a:ext cx="3054096" cy="502920"/>
          </a:xfrm>
          <a:prstGeom prst="rect">
            <a:avLst/>
          </a:prstGeom>
          <a:noFill/>
          <a:ln/>
        </p:spPr>
        <p:txBody>
          <a:bodyPr wrap="square" lIns="0" tIns="0" rIns="0" bIns="0" rtlCol="0" anchor="b"/>
          <a:lstStyle/>
          <a:p>
            <a:pPr indent="0" marL="0">
              <a:buNone/>
            </a:pPr>
            <a:r>
              <a:rPr lang="en-US" sz="1050" i="1" dirty="0">
                <a:solidFill>
                  <a:srgbClr val="4F7A53"/>
                </a:solidFill>
                <a:latin typeface="Calibri" pitchFamily="34" charset="0"/>
                <a:ea typeface="Calibri" pitchFamily="34" charset="-122"/>
                <a:cs typeface="Calibri" pitchFamily="34" charset="-120"/>
              </a:rPr>
              <a:t>Entregable: seguimiento trimestral al comité.</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LOS ESCENARIOS</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11</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600" b="1" dirty="0">
                <a:solidFill>
                  <a:srgbClr val="2B2F36"/>
                </a:solidFill>
                <a:latin typeface="Calibri" pitchFamily="34" charset="0"/>
                <a:ea typeface="Calibri" pitchFamily="34" charset="-122"/>
                <a:cs typeface="Calibri" pitchFamily="34" charset="-120"/>
              </a:rPr>
              <a:t>Dos escenarios a doce meses</a:t>
            </a:r>
            <a:endParaRPr lang="en-US" sz="2600" dirty="0"/>
          </a:p>
        </p:txBody>
      </p:sp>
      <p:sp>
        <p:nvSpPr>
          <p:cNvPr id="9" name="Shape 7"/>
          <p:cNvSpPr/>
          <p:nvPr/>
        </p:nvSpPr>
        <p:spPr>
          <a:xfrm>
            <a:off x="548640" y="1965960"/>
            <a:ext cx="5440680" cy="3931920"/>
          </a:xfrm>
          <a:prstGeom prst="roundRect">
            <a:avLst>
              <a:gd name="adj" fmla="val 1395"/>
            </a:avLst>
          </a:prstGeom>
          <a:solidFill>
            <a:srgbClr val="F6E7E5"/>
          </a:solidFill>
          <a:ln w="9525">
            <a:solidFill>
              <a:srgbClr val="F6E7E5"/>
            </a:solidFill>
            <a:prstDash val="solid"/>
          </a:ln>
        </p:spPr>
      </p:sp>
      <p:sp>
        <p:nvSpPr>
          <p:cNvPr id="10" name="Shape 8"/>
          <p:cNvSpPr/>
          <p:nvPr/>
        </p:nvSpPr>
        <p:spPr>
          <a:xfrm>
            <a:off x="6172200" y="1965960"/>
            <a:ext cx="5440680" cy="3931920"/>
          </a:xfrm>
          <a:prstGeom prst="roundRect">
            <a:avLst>
              <a:gd name="adj" fmla="val 1395"/>
            </a:avLst>
          </a:prstGeom>
          <a:solidFill>
            <a:srgbClr val="E8F0E8"/>
          </a:solidFill>
          <a:ln w="9525">
            <a:solidFill>
              <a:srgbClr val="E8F0E8"/>
            </a:solidFill>
            <a:prstDash val="solid"/>
          </a:ln>
        </p:spPr>
      </p:sp>
      <p:sp>
        <p:nvSpPr>
          <p:cNvPr id="11" name="Text 9"/>
          <p:cNvSpPr txBox="1"/>
          <p:nvPr/>
        </p:nvSpPr>
        <p:spPr>
          <a:xfrm>
            <a:off x="822960" y="2148840"/>
            <a:ext cx="4846320" cy="411480"/>
          </a:xfrm>
          <a:prstGeom prst="rect">
            <a:avLst/>
          </a:prstGeom>
          <a:noFill/>
          <a:ln/>
        </p:spPr>
        <p:txBody>
          <a:bodyPr wrap="square" lIns="0" tIns="0" rIns="0" bIns="0" rtlCol="0" anchor="ctr"/>
          <a:lstStyle/>
          <a:p>
            <a:pPr indent="0" marL="0">
              <a:buNone/>
            </a:pPr>
            <a:r>
              <a:rPr lang="en-US" sz="1700" b="1" dirty="0">
                <a:solidFill>
                  <a:srgbClr val="B85C55"/>
                </a:solidFill>
                <a:latin typeface="Calibri" pitchFamily="34" charset="0"/>
                <a:ea typeface="Calibri" pitchFamily="34" charset="-122"/>
                <a:cs typeface="Calibri" pitchFamily="34" charset="-120"/>
              </a:rPr>
              <a:t>Si no se actúa</a:t>
            </a:r>
            <a:endParaRPr lang="en-US" sz="1700" dirty="0"/>
          </a:p>
        </p:txBody>
      </p:sp>
      <p:sp>
        <p:nvSpPr>
          <p:cNvPr id="12" name="Text 10"/>
          <p:cNvSpPr txBox="1"/>
          <p:nvPr/>
        </p:nvSpPr>
        <p:spPr>
          <a:xfrm>
            <a:off x="822960" y="2651760"/>
            <a:ext cx="4892040" cy="310896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La escala sigue anclada al proceso de portabilidad de 2020.</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Salida de una o dos personas clave hacia áreas o bancos que ya reconocen la función; meses de curva de aprendizaje por reemplazo.</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Reportes diarios del RDC sostenidos con respaldos improvisados; mayor probabilidad de atraso o error, con riesgo de bloqueo de acceso.</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La conversación sobre remuneración se da igual, pero en modo reactivo, después de un incidente.</a:t>
            </a:r>
            <a:endParaRPr lang="en-US" sz="1150" dirty="0"/>
          </a:p>
        </p:txBody>
      </p:sp>
      <p:sp>
        <p:nvSpPr>
          <p:cNvPr id="13" name="Text 11"/>
          <p:cNvSpPr txBox="1"/>
          <p:nvPr/>
        </p:nvSpPr>
        <p:spPr>
          <a:xfrm>
            <a:off x="6446520" y="2148840"/>
            <a:ext cx="4846320" cy="411480"/>
          </a:xfrm>
          <a:prstGeom prst="rect">
            <a:avLst/>
          </a:prstGeom>
          <a:noFill/>
          <a:ln/>
        </p:spPr>
        <p:txBody>
          <a:bodyPr wrap="square" lIns="0" tIns="0" rIns="0" bIns="0" rtlCol="0" anchor="ctr"/>
          <a:lstStyle/>
          <a:p>
            <a:pPr indent="0" marL="0">
              <a:buNone/>
            </a:pPr>
            <a:r>
              <a:rPr lang="en-US" sz="1700" b="1" dirty="0">
                <a:solidFill>
                  <a:srgbClr val="4F7A53"/>
                </a:solidFill>
                <a:latin typeface="Calibri" pitchFamily="34" charset="0"/>
                <a:ea typeface="Calibri" pitchFamily="34" charset="-122"/>
                <a:cs typeface="Calibri" pitchFamily="34" charset="-120"/>
              </a:rPr>
              <a:t>Si se aprueba el mandato</a:t>
            </a:r>
            <a:endParaRPr lang="en-US" sz="1700" dirty="0"/>
          </a:p>
        </p:txBody>
      </p:sp>
      <p:sp>
        <p:nvSpPr>
          <p:cNvPr id="14" name="Text 12"/>
          <p:cNvSpPr txBox="1"/>
          <p:nvPr/>
        </p:nvSpPr>
        <p:spPr>
          <a:xfrm>
            <a:off x="6446520" y="2651760"/>
            <a:ext cx="4892040" cy="310896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Cargos valorados según lo que hoy hacen: producir, controlar y responder ante el regulador.</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Cadena de confiabilidad formalizada: quién prepara, quién firma, quién respalda cada reporte.</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Retención del conocimiento normativo y técnico acumulado desde 2022; capacidad para absorber los cambios del MSI.</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El comité decide sobre cifras validadas, en la fecha acordada, y no bajo presión.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1280160"/>
            <a:ext cx="182880" cy="182880"/>
          </a:xfrm>
          <a:prstGeom prst="rect">
            <a:avLst/>
          </a:prstGeom>
          <a:solidFill>
            <a:srgbClr val="6A9B6E"/>
          </a:solidFill>
          <a:ln w="12700">
            <a:solidFill>
              <a:srgbClr val="6A9B6E"/>
            </a:solidFill>
            <a:prstDash val="solid"/>
          </a:ln>
        </p:spPr>
      </p:sp>
      <p:sp>
        <p:nvSpPr>
          <p:cNvPr id="3" name="Shape 1"/>
          <p:cNvSpPr/>
          <p:nvPr/>
        </p:nvSpPr>
        <p:spPr>
          <a:xfrm>
            <a:off x="822960" y="1280160"/>
            <a:ext cx="182880" cy="182880"/>
          </a:xfrm>
          <a:prstGeom prst="rect">
            <a:avLst/>
          </a:prstGeom>
          <a:solidFill>
            <a:srgbClr val="B85C55"/>
          </a:solidFill>
          <a:ln w="12700">
            <a:solidFill>
              <a:srgbClr val="B85C55"/>
            </a:solidFill>
            <a:prstDash val="solid"/>
          </a:ln>
        </p:spPr>
      </p:sp>
      <p:sp>
        <p:nvSpPr>
          <p:cNvPr id="4" name="Shape 2"/>
          <p:cNvSpPr/>
          <p:nvPr/>
        </p:nvSpPr>
        <p:spPr>
          <a:xfrm>
            <a:off x="1097280" y="1280160"/>
            <a:ext cx="182880" cy="182880"/>
          </a:xfrm>
          <a:prstGeom prst="rect">
            <a:avLst/>
          </a:prstGeom>
          <a:solidFill>
            <a:srgbClr val="4A6FA5"/>
          </a:solidFill>
          <a:ln w="12700">
            <a:solidFill>
              <a:srgbClr val="4A6FA5"/>
            </a:solidFill>
            <a:prstDash val="solid"/>
          </a:ln>
        </p:spPr>
      </p:sp>
      <p:sp>
        <p:nvSpPr>
          <p:cNvPr id="5" name="Shape 3"/>
          <p:cNvSpPr/>
          <p:nvPr/>
        </p:nvSpPr>
        <p:spPr>
          <a:xfrm>
            <a:off x="1371600" y="1280160"/>
            <a:ext cx="182880" cy="182880"/>
          </a:xfrm>
          <a:prstGeom prst="rect">
            <a:avLst/>
          </a:prstGeom>
          <a:solidFill>
            <a:srgbClr val="C9B458"/>
          </a:solidFill>
          <a:ln w="12700">
            <a:solidFill>
              <a:srgbClr val="C9B458"/>
            </a:solidFill>
            <a:prstDash val="solid"/>
          </a:ln>
        </p:spPr>
      </p:sp>
      <p:sp>
        <p:nvSpPr>
          <p:cNvPr id="6" name="Text 4"/>
          <p:cNvSpPr txBox="1"/>
          <p:nvPr/>
        </p:nvSpPr>
        <p:spPr>
          <a:xfrm>
            <a:off x="548640" y="1828800"/>
            <a:ext cx="10058400" cy="822960"/>
          </a:xfrm>
          <a:prstGeom prst="rect">
            <a:avLst/>
          </a:prstGeom>
          <a:noFill/>
          <a:ln/>
        </p:spPr>
        <p:txBody>
          <a:bodyPr wrap="square" lIns="0" tIns="0" rIns="0" bIns="0" rtlCol="0" anchor="ctr"/>
          <a:lstStyle/>
          <a:p>
            <a:pPr indent="0" marL="0">
              <a:buNone/>
            </a:pPr>
            <a:r>
              <a:rPr lang="en-US" sz="4000" b="1" dirty="0">
                <a:solidFill>
                  <a:srgbClr val="2B2F36"/>
                </a:solidFill>
                <a:latin typeface="Cambria" pitchFamily="34" charset="0"/>
                <a:ea typeface="Cambria" pitchFamily="34" charset="-122"/>
                <a:cs typeface="Cambria" pitchFamily="34" charset="-120"/>
              </a:rPr>
              <a:t>Lo que se pide hoy</a:t>
            </a:r>
            <a:endParaRPr lang="en-US" sz="4000" dirty="0"/>
          </a:p>
        </p:txBody>
      </p:sp>
      <p:sp>
        <p:nvSpPr>
          <p:cNvPr id="7" name="Shape 5"/>
          <p:cNvSpPr/>
          <p:nvPr/>
        </p:nvSpPr>
        <p:spPr>
          <a:xfrm>
            <a:off x="548640" y="2907792"/>
            <a:ext cx="457200" cy="457200"/>
          </a:xfrm>
          <a:prstGeom prst="ellipse">
            <a:avLst/>
          </a:prstGeom>
          <a:solidFill>
            <a:srgbClr val="6A9B6E"/>
          </a:solidFill>
          <a:ln w="12700">
            <a:solidFill>
              <a:srgbClr val="6A9B6E"/>
            </a:solidFill>
            <a:prstDash val="solid"/>
          </a:ln>
        </p:spPr>
      </p:sp>
      <p:sp>
        <p:nvSpPr>
          <p:cNvPr id="8" name="Text 6"/>
          <p:cNvSpPr txBox="1"/>
          <p:nvPr/>
        </p:nvSpPr>
        <p:spPr>
          <a:xfrm>
            <a:off x="548640" y="2907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234440" y="2834640"/>
            <a:ext cx="9601200" cy="603504"/>
          </a:xfrm>
          <a:prstGeom prst="rect">
            <a:avLst/>
          </a:prstGeom>
          <a:noFill/>
          <a:ln/>
        </p:spPr>
        <p:txBody>
          <a:bodyPr wrap="square" lIns="0" tIns="0" rIns="0" bIns="0" rtlCol="0" anchor="ctr"/>
          <a:lstStyle/>
          <a:p>
            <a:pPr indent="0" marL="0">
              <a:buNone/>
            </a:pPr>
            <a:r>
              <a:rPr lang="en-US" sz="1600" b="1" dirty="0">
                <a:solidFill>
                  <a:srgbClr val="2B2F36"/>
                </a:solidFill>
                <a:latin typeface="Calibri" pitchFamily="34" charset="0"/>
                <a:ea typeface="Calibri" pitchFamily="34" charset="-122"/>
                <a:cs typeface="Calibri" pitchFamily="34" charset="-120"/>
              </a:rPr>
              <a:t>Mandato </a:t>
            </a:r>
            <a:pPr indent="0" marL="0">
              <a:buNone/>
            </a:pPr>
            <a:r>
              <a:rPr lang="en-US" sz="1600" dirty="0">
                <a:solidFill>
                  <a:srgbClr val="5B6470"/>
                </a:solidFill>
                <a:latin typeface="Calibri" pitchFamily="34" charset="0"/>
                <a:ea typeface="Calibri" pitchFamily="34" charset="-122"/>
                <a:cs typeface="Calibri" pitchFamily="34" charset="-120"/>
              </a:rPr>
              <a:t>para reevaluar la escala de cargos del equipo junto con Personas.</a:t>
            </a:r>
            <a:endParaRPr lang="en-US" sz="1600" dirty="0"/>
          </a:p>
        </p:txBody>
      </p:sp>
      <p:sp>
        <p:nvSpPr>
          <p:cNvPr id="10" name="Shape 8"/>
          <p:cNvSpPr/>
          <p:nvPr/>
        </p:nvSpPr>
        <p:spPr>
          <a:xfrm>
            <a:off x="548640" y="3685032"/>
            <a:ext cx="457200" cy="457200"/>
          </a:xfrm>
          <a:prstGeom prst="ellipse">
            <a:avLst/>
          </a:prstGeom>
          <a:solidFill>
            <a:srgbClr val="6A9B6E"/>
          </a:solidFill>
          <a:ln w="12700">
            <a:solidFill>
              <a:srgbClr val="6A9B6E"/>
            </a:solidFill>
            <a:prstDash val="solid"/>
          </a:ln>
        </p:spPr>
      </p:sp>
      <p:sp>
        <p:nvSpPr>
          <p:cNvPr id="11" name="Text 9"/>
          <p:cNvSpPr txBox="1"/>
          <p:nvPr/>
        </p:nvSpPr>
        <p:spPr>
          <a:xfrm>
            <a:off x="548640" y="3685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234440" y="3611880"/>
            <a:ext cx="9601200" cy="603504"/>
          </a:xfrm>
          <a:prstGeom prst="rect">
            <a:avLst/>
          </a:prstGeom>
          <a:noFill/>
          <a:ln/>
        </p:spPr>
        <p:txBody>
          <a:bodyPr wrap="square" lIns="0" tIns="0" rIns="0" bIns="0" rtlCol="0" anchor="ctr"/>
          <a:lstStyle/>
          <a:p>
            <a:pPr indent="0" marL="0">
              <a:buNone/>
            </a:pPr>
            <a:r>
              <a:rPr lang="en-US" sz="1600" b="1" dirty="0">
                <a:solidFill>
                  <a:srgbClr val="2B2F36"/>
                </a:solidFill>
                <a:latin typeface="Calibri" pitchFamily="34" charset="0"/>
                <a:ea typeface="Calibri" pitchFamily="34" charset="-122"/>
                <a:cs typeface="Calibri" pitchFamily="34" charset="-120"/>
              </a:rPr>
              <a:t>Reconocimiento </a:t>
            </a:r>
            <a:pPr indent="0" marL="0">
              <a:buNone/>
            </a:pPr>
            <a:r>
              <a:rPr lang="en-US" sz="1600" dirty="0">
                <a:solidFill>
                  <a:srgbClr val="5B6470"/>
                </a:solidFill>
                <a:latin typeface="Calibri" pitchFamily="34" charset="0"/>
                <a:ea typeface="Calibri" pitchFamily="34" charset="-122"/>
                <a:cs typeface="Calibri" pitchFamily="34" charset="-120"/>
              </a:rPr>
              <a:t>de la función como crítica de cumplimiento dentro de la estructura.</a:t>
            </a:r>
            <a:endParaRPr lang="en-US" sz="1600" dirty="0"/>
          </a:p>
        </p:txBody>
      </p:sp>
      <p:sp>
        <p:nvSpPr>
          <p:cNvPr id="13" name="Shape 11"/>
          <p:cNvSpPr/>
          <p:nvPr/>
        </p:nvSpPr>
        <p:spPr>
          <a:xfrm>
            <a:off x="548640" y="4462272"/>
            <a:ext cx="457200" cy="457200"/>
          </a:xfrm>
          <a:prstGeom prst="ellipse">
            <a:avLst/>
          </a:prstGeom>
          <a:solidFill>
            <a:srgbClr val="6A9B6E"/>
          </a:solidFill>
          <a:ln w="12700">
            <a:solidFill>
              <a:srgbClr val="6A9B6E"/>
            </a:solidFill>
            <a:prstDash val="solid"/>
          </a:ln>
        </p:spPr>
      </p:sp>
      <p:sp>
        <p:nvSpPr>
          <p:cNvPr id="14" name="Text 12"/>
          <p:cNvSpPr txBox="1"/>
          <p:nvPr/>
        </p:nvSpPr>
        <p:spPr>
          <a:xfrm>
            <a:off x="548640" y="44622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234440" y="4389120"/>
            <a:ext cx="9601200" cy="603504"/>
          </a:xfrm>
          <a:prstGeom prst="rect">
            <a:avLst/>
          </a:prstGeom>
          <a:noFill/>
          <a:ln/>
        </p:spPr>
        <p:txBody>
          <a:bodyPr wrap="square" lIns="0" tIns="0" rIns="0" bIns="0" rtlCol="0" anchor="ctr"/>
          <a:lstStyle/>
          <a:p>
            <a:pPr indent="0" marL="0">
              <a:buNone/>
            </a:pPr>
            <a:r>
              <a:rPr lang="en-US" sz="1600" b="1" dirty="0">
                <a:solidFill>
                  <a:srgbClr val="2B2F36"/>
                </a:solidFill>
                <a:latin typeface="Calibri" pitchFamily="34" charset="0"/>
                <a:ea typeface="Calibri" pitchFamily="34" charset="-122"/>
                <a:cs typeface="Calibri" pitchFamily="34" charset="-120"/>
              </a:rPr>
              <a:t>Patrocinio </a:t>
            </a:r>
            <a:pPr indent="0" marL="0">
              <a:buNone/>
            </a:pPr>
            <a:r>
              <a:rPr lang="en-US" sz="1600" dirty="0">
                <a:solidFill>
                  <a:srgbClr val="5B6470"/>
                </a:solidFill>
                <a:latin typeface="Calibri" pitchFamily="34" charset="0"/>
                <a:ea typeface="Calibri" pitchFamily="34" charset="-122"/>
                <a:cs typeface="Calibri" pitchFamily="34" charset="-120"/>
              </a:rPr>
              <a:t>de un gerente y una fecha de retorno al comité, sugerida a 60 días.</a:t>
            </a:r>
            <a:endParaRPr lang="en-US" sz="1600" dirty="0"/>
          </a:p>
        </p:txBody>
      </p:sp>
      <p:sp>
        <p:nvSpPr>
          <p:cNvPr id="16" name="Text 14"/>
          <p:cNvSpPr txBox="1"/>
          <p:nvPr/>
        </p:nvSpPr>
        <p:spPr>
          <a:xfrm>
            <a:off x="548640" y="5669280"/>
            <a:ext cx="10058400" cy="365760"/>
          </a:xfrm>
          <a:prstGeom prst="rect">
            <a:avLst/>
          </a:prstGeom>
          <a:noFill/>
          <a:ln/>
        </p:spPr>
        <p:txBody>
          <a:bodyPr wrap="square" lIns="0" tIns="0" rIns="0" bIns="0" rtlCol="0" anchor="ctr"/>
          <a:lstStyle/>
          <a:p>
            <a:pPr indent="0" marL="0">
              <a:buNone/>
            </a:pPr>
            <a:r>
              <a:rPr lang="en-US" sz="1200" i="1" dirty="0">
                <a:solidFill>
                  <a:srgbClr val="8A94A0"/>
                </a:solidFill>
                <a:latin typeface="Calibri" pitchFamily="34" charset="0"/>
                <a:ea typeface="Calibri" pitchFamily="34" charset="-122"/>
                <a:cs typeface="Calibri" pitchFamily="34" charset="-120"/>
              </a:rPr>
              <a:t>Sin montos ni dotación adicional en esta etapa. Las cifras llegan con el diagnóstico.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ANEXO 1</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13</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000" b="1" dirty="0">
                <a:solidFill>
                  <a:srgbClr val="2B2F36"/>
                </a:solidFill>
                <a:latin typeface="Calibri" pitchFamily="34" charset="0"/>
                <a:ea typeface="Calibri" pitchFamily="34" charset="-122"/>
                <a:cs typeface="Calibri" pitchFamily="34" charset="-120"/>
              </a:rPr>
              <a:t>Catálogo de los 18 reportes del equipo</a:t>
            </a:r>
            <a:endParaRPr lang="en-US" sz="2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645920"/>
                <a:gridCol w="1554480"/>
                <a:gridCol w="3657600"/>
                <a:gridCol w="4233672"/>
              </a:tblGrid>
              <a:tr h="301752">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Código</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Frecuencia</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Qué es</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Observación</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RDC40</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Diario</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Registro de Deuda Consolidada</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Gestión diaria de solicitudes de deudores (derechos ARCC); responsable sugerido G4</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R05</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Diario</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Sistema de Riesgo, codificación previa a Basilea III</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Contenido por confirmar en el MSI</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RDC01</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Semanal y 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Registro de Deuda Consolidada</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Deuda positiva y negativa de los deudores; responsable G3</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RDC02</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Semanal (viernes)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Registro de Deuda Consolidada</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Rectificaciones trazables al RDC01; responsable G3</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D10</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Semanal y 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Estado de Deudores, art. 14 LGB y RAN 18-5</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Precedente de multa por criterio de inclusión (2024); frecuencia semanal en consulta</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D03</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Deudores: identificación, categoría, actividad, activos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Alimenta la clasificación de la cartera</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D02</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Deudores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Último envío septiembre 2026, Circular N° 2.376 (verificar)</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D51</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Trimestral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Deudores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Contenido por confirmar</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E23 · T01</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Por confirmar</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Sin referencia pública encontrada; T01 incorporado en 2024</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Sernac</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Mensual, primeros 5 días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Ley 21.236 y Circular del SERNAC</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Incumplimientos de portabilidad de la institución inicial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P14 · P16</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Estado de las Colocaciones · Colocaciones por actividad</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Conciliación con balance; contabilidad avanzada</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P37 · P38 · P39</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Tarjetas de débito y cajeros · Tarjetas de crédito · Uso como medio de pago</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Rutina estadística; candidatos a automatización</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indent="0" marL="0">
                        <a:buNone/>
                      </a:pPr>
                      <a:r>
                        <a:rPr lang="en-US" sz="900" b="1" dirty="0">
                          <a:solidFill>
                            <a:srgbClr val="2B2F36"/>
                          </a:solidFill>
                          <a:latin typeface="Courier New" pitchFamily="34" charset="0"/>
                          <a:ea typeface="Courier New" pitchFamily="34" charset="-122"/>
                          <a:cs typeface="Courier New" pitchFamily="34" charset="-120"/>
                        </a:rPr>
                        <a:t>P15 · P22</a:t>
                      </a:r>
                      <a:endParaRPr lang="en-US" sz="90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Mensual</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Sistema de Productos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900" dirty="0">
                          <a:solidFill>
                            <a:srgbClr val="2B2F36"/>
                          </a:solidFill>
                          <a:latin typeface="Calibri" pitchFamily="34" charset="0"/>
                          <a:ea typeface="Calibri" pitchFamily="34" charset="-122"/>
                          <a:cs typeface="Calibri" pitchFamily="34" charset="-120"/>
                        </a:rPr>
                        <a:t>Último envío septiembre 2026, Circular N° 2.376 (verificar)</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ANEXO 2</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14</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000" b="1" dirty="0">
                <a:solidFill>
                  <a:srgbClr val="2B2F36"/>
                </a:solidFill>
                <a:latin typeface="Calibri" pitchFamily="34" charset="0"/>
                <a:ea typeface="Calibri" pitchFamily="34" charset="-122"/>
                <a:cs typeface="Calibri" pitchFamily="34" charset="-120"/>
              </a:rPr>
              <a:t>Perfil requerido por grado</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737360"/>
                <a:gridCol w="1188720"/>
                <a:gridCol w="2560320"/>
                <a:gridCol w="3108960"/>
                <a:gridCol w="2496312"/>
              </a:tblGrid>
              <a:tr h="365760">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Grado</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Rol</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Experiencia</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Conocimiento normativo</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900" b="1" dirty="0">
                          <a:solidFill>
                            <a:srgbClr val="5B6470"/>
                          </a:solidFill>
                          <a:latin typeface="Calibri" pitchFamily="34" charset="0"/>
                          <a:ea typeface="Calibri" pitchFamily="34" charset="-122"/>
                          <a:cs typeface="Calibri" pitchFamily="34" charset="-120"/>
                        </a:rPr>
                        <a:t>Herramientas</a:t>
                      </a:r>
                      <a:endParaRPr lang="en-US" sz="900" dirty="0">
                        <a:latin typeface="Calibri" charset="0"/>
                        <a:ea typeface="Calibri" charset="0"/>
                        <a:cs typeface="Calibri" charset="0"/>
                      </a:endParaRPr>
                    </a:p>
                  </a:txBody>
                  <a:tcPr marL="76200" marR="762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6F7F9"/>
                    </a:solidFill>
                  </a:tcPr>
                </a:tc>
              </a:tr>
              <a:tr h="868680">
                <a:tc>
                  <a:txBody>
                    <a:bodyPr/>
                    <a:lstStyle/>
                    <a:p>
                      <a:pPr indent="0" marL="0">
                        <a:buNone/>
                      </a:pPr>
                      <a:r>
                        <a:rPr lang="en-US" sz="1050" b="1" dirty="0">
                          <a:solidFill>
                            <a:srgbClr val="2B2F36"/>
                          </a:solidFill>
                          <a:latin typeface="Courier New" pitchFamily="34" charset="0"/>
                          <a:ea typeface="Courier New" pitchFamily="34" charset="-122"/>
                          <a:cs typeface="Courier New" pitchFamily="34" charset="-120"/>
                        </a:rPr>
                        <a:t>G1 Analista</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Produce</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Título profesional afín; 0 a 3 años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Estructura del MSI, formatos y validaciones; nociones contables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SQL básico, Excel avanzado, herramienta de reportería</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868680">
                <a:tc>
                  <a:txBody>
                    <a:bodyPr/>
                    <a:lstStyle/>
                    <a:p>
                      <a:pPr indent="0" marL="0">
                        <a:buNone/>
                      </a:pPr>
                      <a:r>
                        <a:rPr lang="en-US" sz="1050" b="1" dirty="0">
                          <a:solidFill>
                            <a:srgbClr val="2B2F36"/>
                          </a:solidFill>
                          <a:latin typeface="Courier New" pitchFamily="34" charset="0"/>
                          <a:ea typeface="Courier New" pitchFamily="34" charset="-122"/>
                          <a:cs typeface="Courier New" pitchFamily="34" charset="-120"/>
                        </a:rPr>
                        <a:t>G2 Analista Senior</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Controla</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3 a 6 años en reportería, contabilidad bancaria o riesgo</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Compendio de Normas Contables, RAN 18-5, Ley 21.680 y NCG 540, circulares recientes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SQL avanzado, Python o Databricks, control de versiones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868680">
                <a:tc>
                  <a:txBody>
                    <a:bodyPr/>
                    <a:lstStyle/>
                    <a:p>
                      <a:pPr indent="0" marL="0">
                        <a:buNone/>
                      </a:pPr>
                      <a:r>
                        <a:rPr lang="en-US" sz="1050" b="1" dirty="0">
                          <a:solidFill>
                            <a:srgbClr val="2B2F36"/>
                          </a:solidFill>
                          <a:latin typeface="Courier New" pitchFamily="34" charset="0"/>
                          <a:ea typeface="Courier New" pitchFamily="34" charset="-122"/>
                          <a:cs typeface="Courier New" pitchFamily="34" charset="-120"/>
                        </a:rPr>
                        <a:t>G3 Jefe</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Responde</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6 a 10 años; ha liderado cierres o fiscalizaciones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Dominio integral del MSI y su relación con el balance; gestión del cambio normativo</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Tableros de cumplimiento; capacidad de auditar lo que firma</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868680">
                <a:tc>
                  <a:txBody>
                    <a:bodyPr/>
                    <a:lstStyle/>
                    <a:p>
                      <a:pPr indent="0" marL="0">
                        <a:buNone/>
                      </a:pPr>
                      <a:r>
                        <a:rPr lang="en-US" sz="1050" b="1" dirty="0">
                          <a:solidFill>
                            <a:srgbClr val="2B2F36"/>
                          </a:solidFill>
                          <a:latin typeface="Courier New" pitchFamily="34" charset="0"/>
                          <a:ea typeface="Courier New" pitchFamily="34" charset="-122"/>
                          <a:cs typeface="Courier New" pitchFamily="34" charset="-120"/>
                        </a:rPr>
                        <a:t>G4 Subgerente</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Rinde cuentas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10 a 15 años; dos áreas entre contabilidad, riesgo, auditoría y TI</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Basilea III completo, normativa del Banco Central, interlocución con la CMF</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2B2F36"/>
                          </a:solidFill>
                          <a:latin typeface="Calibri" pitchFamily="34" charset="0"/>
                          <a:ea typeface="Calibri" pitchFamily="34" charset="-122"/>
                          <a:cs typeface="Calibri" pitchFamily="34" charset="-120"/>
                        </a:rPr>
                        <a:t>Arquitectura y gobierno de datos financieros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84048"/>
            <a:ext cx="100584" cy="100584"/>
          </a:xfrm>
          <a:prstGeom prst="rect">
            <a:avLst/>
          </a:prstGeom>
          <a:solidFill>
            <a:srgbClr val="6A9B6E"/>
          </a:solidFill>
          <a:ln w="12700">
            <a:solidFill>
              <a:srgbClr val="6A9B6E"/>
            </a:solidFill>
            <a:prstDash val="solid"/>
          </a:ln>
        </p:spPr>
      </p:sp>
      <p:sp>
        <p:nvSpPr>
          <p:cNvPr id="3" name="Shape 1"/>
          <p:cNvSpPr/>
          <p:nvPr/>
        </p:nvSpPr>
        <p:spPr>
          <a:xfrm>
            <a:off x="694944" y="384048"/>
            <a:ext cx="100584" cy="100584"/>
          </a:xfrm>
          <a:prstGeom prst="rect">
            <a:avLst/>
          </a:prstGeom>
          <a:solidFill>
            <a:srgbClr val="B85C55"/>
          </a:solidFill>
          <a:ln w="12700">
            <a:solidFill>
              <a:srgbClr val="B85C55"/>
            </a:solidFill>
            <a:prstDash val="solid"/>
          </a:ln>
        </p:spPr>
      </p:sp>
      <p:sp>
        <p:nvSpPr>
          <p:cNvPr id="4" name="Shape 2"/>
          <p:cNvSpPr/>
          <p:nvPr/>
        </p:nvSpPr>
        <p:spPr>
          <a:xfrm>
            <a:off x="841248" y="384048"/>
            <a:ext cx="100584" cy="100584"/>
          </a:xfrm>
          <a:prstGeom prst="rect">
            <a:avLst/>
          </a:prstGeom>
          <a:solidFill>
            <a:srgbClr val="4A6FA5"/>
          </a:solidFill>
          <a:ln w="12700">
            <a:solidFill>
              <a:srgbClr val="4A6FA5"/>
            </a:solidFill>
            <a:prstDash val="solid"/>
          </a:ln>
        </p:spPr>
      </p:sp>
      <p:sp>
        <p:nvSpPr>
          <p:cNvPr id="5" name="Shape 3"/>
          <p:cNvSpPr/>
          <p:nvPr/>
        </p:nvSpPr>
        <p:spPr>
          <a:xfrm>
            <a:off x="987552" y="384048"/>
            <a:ext cx="100584" cy="100584"/>
          </a:xfrm>
          <a:prstGeom prst="rect">
            <a:avLst/>
          </a:prstGeom>
          <a:solidFill>
            <a:srgbClr val="C9B458"/>
          </a:solidFill>
          <a:ln w="12700">
            <a:solidFill>
              <a:srgbClr val="C9B458"/>
            </a:solidFill>
            <a:prstDash val="solid"/>
          </a:ln>
        </p:spPr>
      </p:sp>
      <p:sp>
        <p:nvSpPr>
          <p:cNvPr id="6" name="Text 4"/>
          <p:cNvSpPr txBox="1"/>
          <p:nvPr/>
        </p:nvSpPr>
        <p:spPr>
          <a:xfrm>
            <a:off x="1234440" y="329184"/>
            <a:ext cx="5486400" cy="201168"/>
          </a:xfrm>
          <a:prstGeom prst="rect">
            <a:avLst/>
          </a:prstGeom>
          <a:noFill/>
          <a:ln/>
        </p:spPr>
        <p:txBody>
          <a:bodyPr wrap="square" lIns="0" tIns="0" rIns="0" bIns="0" rtlCol="0" anchor="ctr"/>
          <a:lstStyle/>
          <a:p>
            <a:pPr indent="0" marL="0">
              <a:buNone/>
            </a:pPr>
            <a:r>
              <a:rPr lang="en-US" sz="850" spc="200" kern="0" dirty="0">
                <a:solidFill>
                  <a:srgbClr val="8A94A0"/>
                </a:solidFill>
                <a:latin typeface="Calibri" pitchFamily="34" charset="0"/>
                <a:ea typeface="Calibri" pitchFamily="34" charset="-122"/>
                <a:cs typeface="Calibri" pitchFamily="34" charset="-120"/>
              </a:rPr>
              <a:t>ANEXO 3</a:t>
            </a:r>
            <a:endParaRPr lang="en-US" sz="850" dirty="0"/>
          </a:p>
        </p:txBody>
      </p:sp>
      <p:sp>
        <p:nvSpPr>
          <p:cNvPr id="7" name="Text 5"/>
          <p:cNvSpPr txBox="1"/>
          <p:nvPr/>
        </p:nvSpPr>
        <p:spPr>
          <a:xfrm>
            <a:off x="11091672" y="6400800"/>
            <a:ext cx="548640" cy="228600"/>
          </a:xfrm>
          <a:prstGeom prst="rect">
            <a:avLst/>
          </a:prstGeom>
          <a:noFill/>
          <a:ln/>
        </p:spPr>
        <p:txBody>
          <a:bodyPr wrap="square" lIns="0" tIns="0" rIns="0" bIns="0" rtlCol="0" anchor="ctr"/>
          <a:lstStyle/>
          <a:p>
            <a:pPr algn="r" indent="0" marL="0">
              <a:buNone/>
            </a:pPr>
            <a:r>
              <a:rPr lang="en-US" sz="850" dirty="0">
                <a:solidFill>
                  <a:srgbClr val="8A94A0"/>
                </a:solidFill>
                <a:latin typeface="Calibri" pitchFamily="34" charset="0"/>
                <a:ea typeface="Calibri" pitchFamily="34" charset="-122"/>
                <a:cs typeface="Calibri" pitchFamily="34" charset="-120"/>
              </a:rPr>
              <a:t>15</a:t>
            </a:r>
            <a:endParaRPr lang="en-US" sz="850" dirty="0"/>
          </a:p>
        </p:txBody>
      </p:sp>
      <p:sp>
        <p:nvSpPr>
          <p:cNvPr id="8" name="Text 6"/>
          <p:cNvSpPr txBox="1"/>
          <p:nvPr/>
        </p:nvSpPr>
        <p:spPr>
          <a:xfrm>
            <a:off x="548640" y="658368"/>
            <a:ext cx="11091672" cy="777240"/>
          </a:xfrm>
          <a:prstGeom prst="rect">
            <a:avLst/>
          </a:prstGeom>
          <a:noFill/>
          <a:ln/>
        </p:spPr>
        <p:txBody>
          <a:bodyPr wrap="square" lIns="0" tIns="0" rIns="0" bIns="0" rtlCol="0" anchor="t"/>
          <a:lstStyle/>
          <a:p>
            <a:pPr indent="0" marL="0">
              <a:buNone/>
            </a:pPr>
            <a:r>
              <a:rPr lang="en-US" sz="2000" b="1" dirty="0">
                <a:solidFill>
                  <a:srgbClr val="2B2F36"/>
                </a:solidFill>
                <a:latin typeface="Calibri" pitchFamily="34" charset="0"/>
                <a:ea typeface="Calibri" pitchFamily="34" charset="-122"/>
                <a:cs typeface="Calibri" pitchFamily="34" charset="-120"/>
              </a:rPr>
              <a:t>Supuestos y fuentes</a:t>
            </a:r>
            <a:endParaRPr lang="en-US" sz="2000" dirty="0"/>
          </a:p>
        </p:txBody>
      </p:sp>
      <p:sp>
        <p:nvSpPr>
          <p:cNvPr id="9" name="Text 7"/>
          <p:cNvSpPr txBox="1"/>
          <p:nvPr/>
        </p:nvSpPr>
        <p:spPr>
          <a:xfrm>
            <a:off x="548640" y="1463040"/>
            <a:ext cx="11091672" cy="457200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Listado de reportes, frecuencias, dotación y riesgos: entregados por el responsable del área (septiembre 2026).</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Historia, métricas de portabilidad, eficacia de envíos y descripciones de cargo 2020 y 2024: presentaciones internas de la unidad.</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Precedentes: CMF, 4 de julio de 2024, Resoluciones Exentas N° 5.664 (Banco Santander Chile, UF 2.500) y N° 5.666 (Coopeuch, UF 1.000) por el Estado de Deudores, RAN 18-5 y art. 14 LGB; CMF, 30 de enero de 2026, Resolución N° 1.183 (Banco Santander-Chile, UF 2.500) por el archivo R13, RAN 21-13. Identificación de archivos: Ley 21.680 y NCG N° 540 del Registro de Deuda Consolidada; Manual del Sistema de Información (Sistema de Productos y de Deudores); Circular N° 2.376; Circular Interpretativa del SERNAC sobre portabilidad.</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Mapa complejidad × criticidad, escala de grados, perfiles y competencias: documento de respaldo del área, con rúbrica declarada; no es una valoración formal de cargos.</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Referencia de mercado: cualitativa; las cifras se presentarán con el diagnóstico de la fase 1.</a:t>
            </a:r>
            <a:endParaRPr lang="en-US" sz="1150" dirty="0"/>
          </a:p>
          <a:p>
            <a:pPr marL="152400" indent="-152400">
              <a:spcAft>
                <a:spcPts val="600"/>
              </a:spcAft>
              <a:buSzPct val="100000"/>
              <a:buChar char="•"/>
            </a:pPr>
            <a:r>
              <a:rPr lang="en-US" sz="1150" dirty="0">
                <a:solidFill>
                  <a:srgbClr val="2B2F36"/>
                </a:solidFill>
                <a:latin typeface="Calibri" pitchFamily="34" charset="0"/>
                <a:ea typeface="Calibri" pitchFamily="34" charset="-122"/>
                <a:cs typeface="Calibri" pitchFamily="34" charset="-120"/>
              </a:rPr>
              <a:t>La presentación no contiene montos ni datos individuales de remuneración por decisión del área. Verificar cada cita en su fuente antes del comité.</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2026-09-05T21:52:43Z</dcterms:created>
  <dcterms:modified xsi:type="dcterms:W3CDTF">2026-09-05T21:52:43Z</dcterms:modified>
</cp:coreProperties>
</file>
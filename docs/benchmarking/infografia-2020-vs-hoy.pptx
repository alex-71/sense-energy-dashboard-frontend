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evidencia documental: los niveles de 2020 salen textualmente de la descripción de cargo publicada; los actuales, de la exigencia de los 18 reportes. Mensaje: el trabajo cambió de naturaleza y la escala de cargos no lo registró. Objeción probable: "el perfil ya se actualizó en 2024". Respuesta: se actualizaron funciones y requisitos;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Complementa la lámina anterior: no solo subió el nivel de cada competencia, también se sumaron funciones, competencias e interlocutores completos, sin retirar los anteriores. Mensaje: el equipo hace hoy el trabajo de 2020 más el normativo, con la misma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Contabilidad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8E9A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Contabilidad de Entrada (Portabilidad Financiera)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4EEFB"/>
          </a:solidFill>
          <a:ln w="12700">
            <a:solidFill>
              <a:srgbClr val="E4E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8E9AA6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1C5CA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y DAX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43200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43200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62656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62656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82112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82112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401568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401568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621024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621024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840480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840480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4059936"/>
            <a:ext cx="3191256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4059936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31596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517136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517136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9329166" y="4517136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4030" y="4517136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10136124" y="4517136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90988" y="4517136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10943082" y="4517136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7946" y="4517136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8522208" y="4736592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736592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329166" y="4736592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4030" y="4736592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10136124" y="4736592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90988" y="4736592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10943082" y="4736592"/>
            <a:ext cx="770382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7946" y="4736592"/>
            <a:ext cx="66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5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99262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193792"/>
            <a:ext cx="1577340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193792"/>
            <a:ext cx="1467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10136124" y="5193792"/>
            <a:ext cx="1577340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10190988" y="5193792"/>
            <a:ext cx="1467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8522208" y="5413248"/>
            <a:ext cx="1577340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8577072" y="5413248"/>
            <a:ext cx="1467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50" dirty="0"/>
          </a:p>
        </p:txBody>
      </p:sp>
      <p:sp>
        <p:nvSpPr>
          <p:cNvPr id="178" name="Shape 176"/>
          <p:cNvSpPr/>
          <p:nvPr/>
        </p:nvSpPr>
        <p:spPr>
          <a:xfrm>
            <a:off x="10136124" y="5413248"/>
            <a:ext cx="1577340" cy="182880"/>
          </a:xfrm>
          <a:prstGeom prst="roundRect">
            <a:avLst>
              <a:gd name="adj" fmla="val 20000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10190988" y="5413248"/>
            <a:ext cx="1467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7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2" name="Text 180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salto de competencias que la escala no registró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03504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por la descripción de cargo de 2020 frente al que exige hoy la generación, validación y envío de 18 reportes normativos.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5591556" cy="658368"/>
          </a:xfrm>
          <a:prstGeom prst="roundRect">
            <a:avLst>
              <a:gd name="adj" fmla="val 8333"/>
            </a:avLst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914400"/>
            <a:ext cx="53172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E9A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Contabilidad de Entrada (Portabilidad Financiera)</a:t>
            </a:r>
            <a:endParaRPr lang="en-US" sz="750" dirty="0"/>
          </a:p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vía Redbanc. Requisito excluyente: Excel básico.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85916" y="914400"/>
            <a:ext cx="5591556" cy="658368"/>
          </a:xfrm>
          <a:prstGeom prst="roundRect">
            <a:avLst>
              <a:gd name="adj" fmla="val 8333"/>
            </a:avLst>
          </a:prstGeom>
          <a:solidFill>
            <a:srgbClr val="E4EEFB"/>
          </a:solidFill>
          <a:ln w="12700">
            <a:solidFill>
              <a:srgbClr val="E4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23076" y="914400"/>
            <a:ext cx="53172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controles y alertas; posición del banco en mesas normativas.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11480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básico → título, SQL, Power BI, Excel avanzado, normativa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02966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2694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812694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12694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portabilidad, que se mantienen, + 7 normativas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994453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04181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104181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04181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Contabilidad, fábricas y Redbanc → más Reguladores Financieros, Reportes Regulatorios, Fiscalía y SERNAC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285939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5667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395667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95667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diarios · 3 semanales · 12 mensuales · 1 trimestral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577426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87154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87154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87154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Discrepancia de pago → multas y suspensión de acceso, Ley 21.680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1480" y="2523744"/>
            <a:ext cx="118872" cy="118872"/>
          </a:xfrm>
          <a:prstGeom prst="ellipse">
            <a:avLst/>
          </a:prstGeom>
          <a:solidFill>
            <a:srgbClr val="8E9AA6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6072" y="24780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en 2020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011680" y="2523744"/>
            <a:ext cx="118872" cy="118872"/>
          </a:xfrm>
          <a:prstGeom prst="ellipse">
            <a:avLst/>
          </a:prstGeom>
          <a:solidFill>
            <a:srgbClr val="1C5CA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76272" y="24780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hoy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017520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586984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0360152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338560" y="24688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29000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98464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67928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37392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11480" y="2743200"/>
            <a:ext cx="1828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2937053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29000" y="3033979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62472" y="3033979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934456" y="2969971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073384" y="2969971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338560" y="2937053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11480" y="3130906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29000" y="3227832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93008" y="3227832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364992" y="3163824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73384" y="3163824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338560" y="3130906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3324758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3421685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93008" y="3421685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3364992" y="3357677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073384" y="3357677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338560" y="3324758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3518611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y DAX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29000" y="3615538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493008" y="3615538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3364992" y="3551530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551530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1338560" y="3518611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11480" y="3712464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29000" y="3809390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493008" y="3809390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364992" y="3745382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073384" y="3745382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1338560" y="3712464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72" name="Text 70"/>
          <p:cNvSpPr txBox="1"/>
          <p:nvPr/>
        </p:nvSpPr>
        <p:spPr>
          <a:xfrm>
            <a:off x="411480" y="3906317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429000" y="4003243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62472" y="4003243"/>
            <a:ext cx="2441448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5934456" y="3939235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503920" y="3939235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1338560" y="3906317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411480" y="4100170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429000" y="4197096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62472" y="4197096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5934456" y="4133088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073384" y="4133088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338560" y="4100170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4294022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3429000" y="4390949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493008" y="4390949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3364992" y="4326941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503920" y="4326941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338560" y="4294022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90" name="Text 88"/>
          <p:cNvSpPr txBox="1"/>
          <p:nvPr/>
        </p:nvSpPr>
        <p:spPr>
          <a:xfrm>
            <a:off x="411480" y="4487875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3429000" y="4584802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493008" y="4584802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3364992" y="4520794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503920" y="4520794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338560" y="4487875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96" name="Text 94"/>
          <p:cNvSpPr txBox="1"/>
          <p:nvPr/>
        </p:nvSpPr>
        <p:spPr>
          <a:xfrm>
            <a:off x="411480" y="4681728"/>
            <a:ext cx="1828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4875581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 (CMF, SERNAC)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429000" y="4972507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493008" y="4972507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3364992" y="4908499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73384" y="4908499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338560" y="4875581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103" name="Text 101"/>
          <p:cNvSpPr txBox="1"/>
          <p:nvPr/>
        </p:nvSpPr>
        <p:spPr>
          <a:xfrm>
            <a:off x="411480" y="5069434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429000" y="5166360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062472" y="5166360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6" name="Shape 104"/>
          <p:cNvSpPr/>
          <p:nvPr/>
        </p:nvSpPr>
        <p:spPr>
          <a:xfrm>
            <a:off x="5934456" y="5102352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1073384" y="5102352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11338560" y="5069434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411480" y="5263286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3429000" y="5360213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062472" y="5360213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5934456" y="5296205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1073384" y="5296205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338560" y="5263286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5457139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3429000" y="5554066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2472" y="5554066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8" name="Shape 116"/>
          <p:cNvSpPr/>
          <p:nvPr/>
        </p:nvSpPr>
        <p:spPr>
          <a:xfrm>
            <a:off x="5934456" y="5490058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1073384" y="5490058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38560" y="5457139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21" name="Text 119"/>
          <p:cNvSpPr txBox="1"/>
          <p:nvPr/>
        </p:nvSpPr>
        <p:spPr>
          <a:xfrm>
            <a:off x="411480" y="5650992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3429000" y="5747918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062472" y="5747918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4" name="Shape 122"/>
          <p:cNvSpPr/>
          <p:nvPr/>
        </p:nvSpPr>
        <p:spPr>
          <a:xfrm>
            <a:off x="5934456" y="5683910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073384" y="5683910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1338560" y="5650992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27" name="Text 125"/>
          <p:cNvSpPr txBox="1"/>
          <p:nvPr/>
        </p:nvSpPr>
        <p:spPr>
          <a:xfrm>
            <a:off x="411480" y="5844845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3429000" y="5941771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493008" y="5941771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>
            <a:off x="3364992" y="5877763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503920" y="5877763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11338560" y="5844845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11480" y="6148426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76072" y="6148426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rediseño de 2024 actualizó misión, funciones y requisitos y dejó pendiente el pesaje de remuneración respecto a responsabilidad. Las 15 competencias subieron en promedio 2,2 niveles; el grado, ninguno.</a:t>
            </a:r>
            <a:endParaRPr lang="en-US" sz="95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6642202"/>
            <a:ext cx="11365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 y rediseño 2024 (Diseño Organizacional Compliance 2024); perfil actual deducido del análisis de los 18 reportes.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Funciones, competencias e interlocutores: lo previo y lo nuevo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Tomado de la descripción de cargo vigente. En gris, lo que ya exigía el cargo de Portabilidad; en azul, lo que se agregó con la función de reportes normativos. Nada se quitó.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8ECF0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2020 · Portabilidad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697480" y="960120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4EEF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914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 con la función 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3258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4 → 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709928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" y="1709928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el cumplimiento de plazos de productos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2020824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" y="2020824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pérdida patrimonial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331720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" y="2331720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eficientemente la carga de datos en Redbanc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264261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" y="264261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con los plazos legales de Portabilidad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00837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" y="300837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reportes normativos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319272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" y="3319272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controles e interpretar datos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630168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" y="3630168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941064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1208" y="3941064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y dar seguimiento a alertas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4251960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" y="4251960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el rediseño de procesos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456285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1208" y="456285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Promover y gestionar mejoras reactivas y proactivas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" y="4873752"/>
            <a:ext cx="4709160" cy="420624"/>
          </a:xfrm>
          <a:prstGeom prst="roundRect">
            <a:avLst>
              <a:gd name="adj" fmla="val 10870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21208" y="4873752"/>
            <a:ext cx="4489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Participar en la mesa de trabajo normativo y promover una cultura de cumplimiento (Governance)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→ 13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03520" y="170992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13248" y="170992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de procesos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303520" y="202082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13248" y="202082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hojas de cálculo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03520" y="2331720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13248" y="2331720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del banco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0" y="2642616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13248" y="2642616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Portabilidad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03520" y="295351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295351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Conocimientos contables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03520" y="331927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13248" y="331927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(Power BI)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303520" y="363016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13248" y="363016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(MS-SQL Server)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303520" y="394106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13248" y="394106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303520" y="4251960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13248" y="4251960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Agile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303520" y="4562856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13248" y="4562856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 analíticas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303520" y="487375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13248" y="487375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gestionar plazos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303520" y="518464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13248" y="518464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303520" y="549554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13248" y="549554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Normativas CMF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8549640" y="13258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Interacción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3 → 7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549640" y="1709928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659368" y="1709928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49640" y="2020824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59368" y="2020824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Fábricas de productos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8549640" y="2331720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659368" y="2331720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Redbanc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549640" y="2697480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659368" y="2697480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de Reguladores Financieros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8549640" y="3008376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59368" y="3008376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Reportes Regulatorios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549640" y="3319272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659368" y="3319272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8549640" y="3630168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659368" y="3630168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411480" y="6053328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76072" y="6053328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cargo no se reemplazó, se amplió: </a:t>
            </a:r>
            <a:pPr indent="0" marL="0">
              <a:buNone/>
            </a:pPr>
            <a:r>
              <a:rPr lang="en-US" sz="9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funciones pasaron de 4 a 11, las competencias de 5 a 13 y los interlocutores de 3 a 7, incluidos dos reguladores y la Fiscalía. La escala de cargos sigue siendo la del punto de partida.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47104"/>
            <a:ext cx="11365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descripción de cargo vigente (Diseño Organizacional Compliance 2024), lámina "Funciones, competencias e interacción". Los elementos en azul corresponden a los destacados en azul en el documento original.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2026-09-05T20:36:08Z</dcterms:created>
  <dcterms:modified xsi:type="dcterms:W3CDTF">2026-09-05T20:36:08Z</dcterms:modified>
</cp:coreProperties>
</file>
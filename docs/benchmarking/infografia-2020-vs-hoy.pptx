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Lámina de evidencia documental: los niveles de 2020 salen textualmente de la descripción de cargo publicada; los actuales, de la exigencia de los 18 reportes. Mensaje: el trabajo cambió de naturaleza y la escala de cargos no lo registró. Objeción probable: "el perfil ya se actualizó en 2024". Respuesta: se actualizaron funciones y requisitos; el pesaje de remuneración quedó pendiente en ese mismo documento.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Complementa la lámina anterior: no solo subió el nivel de cada competencia, también se sumaron funciones, competencias e interlocutores completos, sin retirar los anteriores. Mensaje: el equipo hace hoy el trabajo de 2020 más el normativo, con la misma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salto de competencias que la escala no registró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03504"/>
            <a:ext cx="11365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exigido por la descripción de cargo de 2020 frente al que exige hoy la generación, validación y envío de 18 reportes normativos.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5591556" cy="658368"/>
          </a:xfrm>
          <a:prstGeom prst="roundRect">
            <a:avLst>
              <a:gd name="adj" fmla="val 8333"/>
            </a:avLst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914400"/>
            <a:ext cx="53172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E9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2020 · PUNTO DE PARTIDA</a:t>
            </a:r>
            <a:endParaRPr lang="en-US" sz="7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B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Analista de Contabilidad de Entrada (Portabilidad Financiera)</a:t>
            </a:r>
            <a:endParaRPr lang="en-US" sz="750" dirty="0"/>
          </a:p>
          <a:p>
            <a:pPr indent="0" marL="0">
              <a:buNone/>
            </a:pPr>
            <a:r>
              <a:rPr lang="en-US" sz="900" dirty="0">
                <a:solidFill>
                  <a:srgbClr val="4A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el flujo de entrada de portabilidad, cuadrar pagos y resolver discrepancias vía Redbanc. Requisito excluyente: Excel básico.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85916" y="914400"/>
            <a:ext cx="5591556" cy="658368"/>
          </a:xfrm>
          <a:prstGeom prst="roundRect">
            <a:avLst>
              <a:gd name="adj" fmla="val 8333"/>
            </a:avLst>
          </a:prstGeom>
          <a:solidFill>
            <a:srgbClr val="E4EEFB"/>
          </a:solidFill>
          <a:ln w="12700">
            <a:solidFill>
              <a:srgbClr val="E4EE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23076" y="914400"/>
            <a:ext cx="53172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C5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HOY · PERFIL NORMATIVO</a:t>
            </a:r>
            <a:endParaRPr lang="en-US" sz="7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B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Especialista en Información Normativa</a:t>
            </a:r>
            <a:endParaRPr lang="en-US" sz="750" dirty="0"/>
          </a:p>
          <a:p>
            <a:pPr indent="0" marL="0">
              <a:buNone/>
            </a:pPr>
            <a:r>
              <a:rPr lang="en-US" sz="900" dirty="0">
                <a:solidFill>
                  <a:srgbClr val="4A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Modelar, monitorear y validar la información que responde a la CMF y al SERNAC; controles y alertas; posición del banco en mesas normativas.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11480" y="1664208"/>
            <a:ext cx="2200046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1208" y="1719072"/>
            <a:ext cx="19805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A9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EXCLUYENTES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521208" y="1883664"/>
            <a:ext cx="1980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8A9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2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21208" y="2157984"/>
            <a:ext cx="19805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básico → título, SQL, Power BI, Excel avanzado, normativa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02966" y="1664208"/>
            <a:ext cx="2200046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12694" y="1719072"/>
            <a:ext cx="19805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A9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DEL CARGO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2812694" y="1883664"/>
            <a:ext cx="1980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indent="0" marL="0">
              <a:buNone/>
            </a:pPr>
            <a:r>
              <a:rPr lang="en-US" sz="1000" dirty="0">
                <a:solidFill>
                  <a:srgbClr val="8A9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2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812694" y="2157984"/>
            <a:ext cx="19805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 portabilidad, que se mantienen, + 7 normativas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994453" y="1664208"/>
            <a:ext cx="2200046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04181" y="1719072"/>
            <a:ext cx="19805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A9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INTERLOCUTORES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5104181" y="1883664"/>
            <a:ext cx="1980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8A9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2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104181" y="2157984"/>
            <a:ext cx="19805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Contabilidad, fábricas y Redbanc → más Reguladores Financieros, Reportes Regulatorios, Fiscalía y SERNAC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285939" y="1664208"/>
            <a:ext cx="2200046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95667" y="1719072"/>
            <a:ext cx="19805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A9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NORMATIVOS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7395667" y="1883664"/>
            <a:ext cx="1980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8A9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2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95667" y="2157984"/>
            <a:ext cx="19805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diarios · 3 semanales · 12 mensuales · 1 trimestral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9577426" y="1664208"/>
            <a:ext cx="2200046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87154" y="1719072"/>
            <a:ext cx="19805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A9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 DE UN ERROR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9687154" y="1883664"/>
            <a:ext cx="1980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Operativa</a:t>
            </a:r>
            <a:pPr indent="0" marL="0">
              <a:buNone/>
            </a:pPr>
            <a:r>
              <a:rPr lang="en-US" sz="1000" dirty="0">
                <a:solidFill>
                  <a:srgbClr val="8A9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5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687154" y="2157984"/>
            <a:ext cx="19805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Discrepancia de pago → multas y suspensión de acceso, Ley 21.680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11480" y="2523744"/>
            <a:ext cx="118872" cy="118872"/>
          </a:xfrm>
          <a:prstGeom prst="ellipse">
            <a:avLst/>
          </a:prstGeom>
          <a:solidFill>
            <a:srgbClr val="8E9AA6"/>
          </a:solidFill>
          <a:ln w="12700">
            <a:solidFill>
              <a:srgbClr val="8E9AA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76072" y="24780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exigido en 2020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011680" y="2523744"/>
            <a:ext cx="118872" cy="118872"/>
          </a:xfrm>
          <a:prstGeom prst="ellipse">
            <a:avLst/>
          </a:prstGeom>
          <a:solidFill>
            <a:srgbClr val="1C5CAB"/>
          </a:solidFill>
          <a:ln w="12700">
            <a:solidFill>
              <a:srgbClr val="1C5CA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176272" y="247802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exigido hoy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3017520" y="24688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5586984" y="24688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8156448" y="24688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Intermedio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10360152" y="24688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Avanzado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11338560" y="24688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5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Salto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429000" y="2743200"/>
            <a:ext cx="0" cy="3295498"/>
          </a:xfrm>
          <a:prstGeom prst="line">
            <a:avLst/>
          </a:prstGeom>
          <a:noFill/>
          <a:ln w="9525">
            <a:solidFill>
              <a:srgbClr val="D9DFE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98464" y="2743200"/>
            <a:ext cx="0" cy="3295498"/>
          </a:xfrm>
          <a:prstGeom prst="line">
            <a:avLst/>
          </a:prstGeom>
          <a:noFill/>
          <a:ln w="9525">
            <a:solidFill>
              <a:srgbClr val="D9DFE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67928" y="2743200"/>
            <a:ext cx="0" cy="3295498"/>
          </a:xfrm>
          <a:prstGeom prst="line">
            <a:avLst/>
          </a:prstGeom>
          <a:noFill/>
          <a:ln w="9525">
            <a:solidFill>
              <a:srgbClr val="D9DFE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137392" y="2743200"/>
            <a:ext cx="0" cy="3295498"/>
          </a:xfrm>
          <a:prstGeom prst="line">
            <a:avLst/>
          </a:prstGeom>
          <a:noFill/>
          <a:ln w="9525">
            <a:solidFill>
              <a:srgbClr val="D9DFE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11480" y="2743200"/>
            <a:ext cx="1828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9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SKILLS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411480" y="2937053"/>
            <a:ext cx="292608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429000" y="3033979"/>
            <a:ext cx="7708392" cy="0"/>
          </a:xfrm>
          <a:prstGeom prst="line">
            <a:avLst/>
          </a:prstGeom>
          <a:noFill/>
          <a:ln w="19050">
            <a:solidFill>
              <a:srgbClr val="D9DFE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62472" y="3033979"/>
            <a:ext cx="5010912" cy="0"/>
          </a:xfrm>
          <a:prstGeom prst="line">
            <a:avLst/>
          </a:prstGeom>
          <a:noFill/>
          <a:ln w="25400">
            <a:solidFill>
              <a:srgbClr val="1C5CAB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5934456" y="2969971"/>
            <a:ext cx="128016" cy="128016"/>
          </a:xfrm>
          <a:prstGeom prst="ellipse">
            <a:avLst/>
          </a:prstGeom>
          <a:solidFill>
            <a:srgbClr val="8E9A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073384" y="2969971"/>
            <a:ext cx="128016" cy="128016"/>
          </a:xfrm>
          <a:prstGeom prst="ellipse">
            <a:avLst/>
          </a:prstGeom>
          <a:solidFill>
            <a:srgbClr val="1C5C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1338560" y="2937053"/>
            <a:ext cx="4572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5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411480" y="3130906"/>
            <a:ext cx="292608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429000" y="3227832"/>
            <a:ext cx="7708392" cy="0"/>
          </a:xfrm>
          <a:prstGeom prst="line">
            <a:avLst/>
          </a:prstGeom>
          <a:noFill/>
          <a:ln w="19050">
            <a:solidFill>
              <a:srgbClr val="D9DFE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493008" y="3227832"/>
            <a:ext cx="7580376" cy="0"/>
          </a:xfrm>
          <a:prstGeom prst="line">
            <a:avLst/>
          </a:prstGeom>
          <a:noFill/>
          <a:ln w="25400">
            <a:solidFill>
              <a:srgbClr val="1C5CAB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3364992" y="3163824"/>
            <a:ext cx="128016" cy="128016"/>
          </a:xfrm>
          <a:prstGeom prst="ellipse">
            <a:avLst/>
          </a:prstGeom>
          <a:solidFill>
            <a:srgbClr val="8E9A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073384" y="3163824"/>
            <a:ext cx="128016" cy="128016"/>
          </a:xfrm>
          <a:prstGeom prst="ellipse">
            <a:avLst/>
          </a:prstGeom>
          <a:solidFill>
            <a:srgbClr val="1C5C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1338560" y="3130906"/>
            <a:ext cx="4572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5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</a:t>
            </a:r>
            <a:endParaRPr lang="en-US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411480" y="3324758"/>
            <a:ext cx="292608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PySpark y Databricks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429000" y="3421685"/>
            <a:ext cx="7708392" cy="0"/>
          </a:xfrm>
          <a:prstGeom prst="line">
            <a:avLst/>
          </a:prstGeom>
          <a:noFill/>
          <a:ln w="19050">
            <a:solidFill>
              <a:srgbClr val="D9DFE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493008" y="3421685"/>
            <a:ext cx="7580376" cy="0"/>
          </a:xfrm>
          <a:prstGeom prst="line">
            <a:avLst/>
          </a:prstGeom>
          <a:noFill/>
          <a:ln w="25400">
            <a:solidFill>
              <a:srgbClr val="1C5CAB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3364992" y="3357677"/>
            <a:ext cx="128016" cy="128016"/>
          </a:xfrm>
          <a:prstGeom prst="ellipse">
            <a:avLst/>
          </a:prstGeom>
          <a:solidFill>
            <a:srgbClr val="8E9A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073384" y="3357677"/>
            <a:ext cx="128016" cy="128016"/>
          </a:xfrm>
          <a:prstGeom prst="ellipse">
            <a:avLst/>
          </a:prstGeom>
          <a:solidFill>
            <a:srgbClr val="1C5C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1338560" y="3324758"/>
            <a:ext cx="4572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5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</a:t>
            </a:r>
            <a:endParaRPr lang="en-US" sz="850" dirty="0"/>
          </a:p>
        </p:txBody>
      </p:sp>
      <p:sp>
        <p:nvSpPr>
          <p:cNvPr id="60" name="Text 58"/>
          <p:cNvSpPr txBox="1"/>
          <p:nvPr/>
        </p:nvSpPr>
        <p:spPr>
          <a:xfrm>
            <a:off x="411480" y="3518611"/>
            <a:ext cx="292608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y DAX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429000" y="3615538"/>
            <a:ext cx="7708392" cy="0"/>
          </a:xfrm>
          <a:prstGeom prst="line">
            <a:avLst/>
          </a:prstGeom>
          <a:noFill/>
          <a:ln w="19050">
            <a:solidFill>
              <a:srgbClr val="D9DFE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493008" y="3615538"/>
            <a:ext cx="5010912" cy="0"/>
          </a:xfrm>
          <a:prstGeom prst="line">
            <a:avLst/>
          </a:prstGeom>
          <a:noFill/>
          <a:ln w="25400">
            <a:solidFill>
              <a:srgbClr val="1C5CAB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3364992" y="3551530"/>
            <a:ext cx="128016" cy="128016"/>
          </a:xfrm>
          <a:prstGeom prst="ellipse">
            <a:avLst/>
          </a:prstGeom>
          <a:solidFill>
            <a:srgbClr val="8E9A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503920" y="3551530"/>
            <a:ext cx="128016" cy="128016"/>
          </a:xfrm>
          <a:prstGeom prst="ellipse">
            <a:avLst/>
          </a:prstGeom>
          <a:solidFill>
            <a:srgbClr val="1C5C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1338560" y="3518611"/>
            <a:ext cx="4572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5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</a:t>
            </a:r>
            <a:endParaRPr lang="en-US" sz="850" dirty="0"/>
          </a:p>
        </p:txBody>
      </p:sp>
      <p:sp>
        <p:nvSpPr>
          <p:cNvPr id="66" name="Text 64"/>
          <p:cNvSpPr txBox="1"/>
          <p:nvPr/>
        </p:nvSpPr>
        <p:spPr>
          <a:xfrm>
            <a:off x="411480" y="3712464"/>
            <a:ext cx="292608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Normativa CMF: MSI, RAN 18-5, Ley 21.680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429000" y="3809390"/>
            <a:ext cx="7708392" cy="0"/>
          </a:xfrm>
          <a:prstGeom prst="line">
            <a:avLst/>
          </a:prstGeom>
          <a:noFill/>
          <a:ln w="19050">
            <a:solidFill>
              <a:srgbClr val="D9DFE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493008" y="3809390"/>
            <a:ext cx="7580376" cy="0"/>
          </a:xfrm>
          <a:prstGeom prst="line">
            <a:avLst/>
          </a:prstGeom>
          <a:noFill/>
          <a:ln w="25400">
            <a:solidFill>
              <a:srgbClr val="1C5CAB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3364992" y="3745382"/>
            <a:ext cx="128016" cy="128016"/>
          </a:xfrm>
          <a:prstGeom prst="ellipse">
            <a:avLst/>
          </a:prstGeom>
          <a:solidFill>
            <a:srgbClr val="8E9A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073384" y="3745382"/>
            <a:ext cx="128016" cy="128016"/>
          </a:xfrm>
          <a:prstGeom prst="ellipse">
            <a:avLst/>
          </a:prstGeom>
          <a:solidFill>
            <a:srgbClr val="1C5C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11338560" y="3712464"/>
            <a:ext cx="4572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5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</a:t>
            </a:r>
            <a:endParaRPr lang="en-US" sz="850" dirty="0"/>
          </a:p>
        </p:txBody>
      </p:sp>
      <p:sp>
        <p:nvSpPr>
          <p:cNvPr id="72" name="Text 70"/>
          <p:cNvSpPr txBox="1"/>
          <p:nvPr/>
        </p:nvSpPr>
        <p:spPr>
          <a:xfrm>
            <a:off x="411480" y="3906317"/>
            <a:ext cx="292608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 bancaria (Compendio)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3429000" y="4003243"/>
            <a:ext cx="7708392" cy="0"/>
          </a:xfrm>
          <a:prstGeom prst="line">
            <a:avLst/>
          </a:prstGeom>
          <a:noFill/>
          <a:ln w="19050">
            <a:solidFill>
              <a:srgbClr val="D9DFE7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062472" y="4003243"/>
            <a:ext cx="2441448" cy="0"/>
          </a:xfrm>
          <a:prstGeom prst="line">
            <a:avLst/>
          </a:prstGeom>
          <a:noFill/>
          <a:ln w="25400">
            <a:solidFill>
              <a:srgbClr val="1C5CAB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5934456" y="3939235"/>
            <a:ext cx="128016" cy="128016"/>
          </a:xfrm>
          <a:prstGeom prst="ellipse">
            <a:avLst/>
          </a:prstGeom>
          <a:solidFill>
            <a:srgbClr val="8E9A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503920" y="3939235"/>
            <a:ext cx="128016" cy="128016"/>
          </a:xfrm>
          <a:prstGeom prst="ellipse">
            <a:avLst/>
          </a:prstGeom>
          <a:solidFill>
            <a:srgbClr val="1C5C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11338560" y="3906317"/>
            <a:ext cx="4572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5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</a:t>
            </a:r>
            <a:endParaRPr lang="en-US" sz="850" dirty="0"/>
          </a:p>
        </p:txBody>
      </p:sp>
      <p:sp>
        <p:nvSpPr>
          <p:cNvPr id="78" name="Text 76"/>
          <p:cNvSpPr txBox="1"/>
          <p:nvPr/>
        </p:nvSpPr>
        <p:spPr>
          <a:xfrm>
            <a:off x="411480" y="4100170"/>
            <a:ext cx="292608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datos y trazabilidad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3429000" y="4197096"/>
            <a:ext cx="7708392" cy="0"/>
          </a:xfrm>
          <a:prstGeom prst="line">
            <a:avLst/>
          </a:prstGeom>
          <a:noFill/>
          <a:ln w="19050">
            <a:solidFill>
              <a:srgbClr val="D9DFE7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062472" y="4197096"/>
            <a:ext cx="5010912" cy="0"/>
          </a:xfrm>
          <a:prstGeom prst="line">
            <a:avLst/>
          </a:prstGeom>
          <a:noFill/>
          <a:ln w="25400">
            <a:solidFill>
              <a:srgbClr val="1C5CAB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5934456" y="4133088"/>
            <a:ext cx="128016" cy="128016"/>
          </a:xfrm>
          <a:prstGeom prst="ellipse">
            <a:avLst/>
          </a:prstGeom>
          <a:solidFill>
            <a:srgbClr val="8E9A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073384" y="4133088"/>
            <a:ext cx="128016" cy="128016"/>
          </a:xfrm>
          <a:prstGeom prst="ellipse">
            <a:avLst/>
          </a:prstGeom>
          <a:solidFill>
            <a:srgbClr val="1C5C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11338560" y="4100170"/>
            <a:ext cx="4572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5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</a:t>
            </a:r>
            <a:endParaRPr lang="en-US" sz="850" dirty="0"/>
          </a:p>
        </p:txBody>
      </p:sp>
      <p:sp>
        <p:nvSpPr>
          <p:cNvPr id="84" name="Text 82"/>
          <p:cNvSpPr txBox="1"/>
          <p:nvPr/>
        </p:nvSpPr>
        <p:spPr>
          <a:xfrm>
            <a:off x="411480" y="4294022"/>
            <a:ext cx="292608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datos, Ley 19.628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3429000" y="4390949"/>
            <a:ext cx="7708392" cy="0"/>
          </a:xfrm>
          <a:prstGeom prst="line">
            <a:avLst/>
          </a:prstGeom>
          <a:noFill/>
          <a:ln w="19050">
            <a:solidFill>
              <a:srgbClr val="D9DFE7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493008" y="4390949"/>
            <a:ext cx="5010912" cy="0"/>
          </a:xfrm>
          <a:prstGeom prst="line">
            <a:avLst/>
          </a:prstGeom>
          <a:noFill/>
          <a:ln w="25400">
            <a:solidFill>
              <a:srgbClr val="1C5CAB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3364992" y="4326941"/>
            <a:ext cx="128016" cy="128016"/>
          </a:xfrm>
          <a:prstGeom prst="ellipse">
            <a:avLst/>
          </a:prstGeom>
          <a:solidFill>
            <a:srgbClr val="8E9A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503920" y="4326941"/>
            <a:ext cx="128016" cy="128016"/>
          </a:xfrm>
          <a:prstGeom prst="ellipse">
            <a:avLst/>
          </a:prstGeom>
          <a:solidFill>
            <a:srgbClr val="1C5C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11338560" y="4294022"/>
            <a:ext cx="4572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5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</a:t>
            </a:r>
            <a:endParaRPr lang="en-US" sz="850" dirty="0"/>
          </a:p>
        </p:txBody>
      </p:sp>
      <p:sp>
        <p:nvSpPr>
          <p:cNvPr id="90" name="Text 88"/>
          <p:cNvSpPr txBox="1"/>
          <p:nvPr/>
        </p:nvSpPr>
        <p:spPr>
          <a:xfrm>
            <a:off x="411480" y="4487875"/>
            <a:ext cx="292608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de procesos (BPMN)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3429000" y="4584802"/>
            <a:ext cx="7708392" cy="0"/>
          </a:xfrm>
          <a:prstGeom prst="line">
            <a:avLst/>
          </a:prstGeom>
          <a:noFill/>
          <a:ln w="19050">
            <a:solidFill>
              <a:srgbClr val="D9DFE7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493008" y="4584802"/>
            <a:ext cx="5010912" cy="0"/>
          </a:xfrm>
          <a:prstGeom prst="line">
            <a:avLst/>
          </a:prstGeom>
          <a:noFill/>
          <a:ln w="25400">
            <a:solidFill>
              <a:srgbClr val="1C5CAB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93" name="Shape 91"/>
          <p:cNvSpPr/>
          <p:nvPr/>
        </p:nvSpPr>
        <p:spPr>
          <a:xfrm>
            <a:off x="3364992" y="4520794"/>
            <a:ext cx="128016" cy="128016"/>
          </a:xfrm>
          <a:prstGeom prst="ellipse">
            <a:avLst/>
          </a:prstGeom>
          <a:solidFill>
            <a:srgbClr val="8E9A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503920" y="4520794"/>
            <a:ext cx="128016" cy="128016"/>
          </a:xfrm>
          <a:prstGeom prst="ellipse">
            <a:avLst/>
          </a:prstGeom>
          <a:solidFill>
            <a:srgbClr val="1C5C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11338560" y="4487875"/>
            <a:ext cx="4572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5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</a:t>
            </a:r>
            <a:endParaRPr lang="en-US" sz="850" dirty="0"/>
          </a:p>
        </p:txBody>
      </p:sp>
      <p:sp>
        <p:nvSpPr>
          <p:cNvPr id="96" name="Text 94"/>
          <p:cNvSpPr txBox="1"/>
          <p:nvPr/>
        </p:nvSpPr>
        <p:spPr>
          <a:xfrm>
            <a:off x="411480" y="4681728"/>
            <a:ext cx="1828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9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SKILLS</a:t>
            </a:r>
            <a:endParaRPr lang="en-US" sz="800" dirty="0"/>
          </a:p>
        </p:txBody>
      </p:sp>
      <p:sp>
        <p:nvSpPr>
          <p:cNvPr id="97" name="Text 95"/>
          <p:cNvSpPr txBox="1"/>
          <p:nvPr/>
        </p:nvSpPr>
        <p:spPr>
          <a:xfrm>
            <a:off x="411480" y="4875581"/>
            <a:ext cx="292608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con reguladores (CMF, SERNAC)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3429000" y="4972507"/>
            <a:ext cx="7708392" cy="0"/>
          </a:xfrm>
          <a:prstGeom prst="line">
            <a:avLst/>
          </a:prstGeom>
          <a:noFill/>
          <a:ln w="19050">
            <a:solidFill>
              <a:srgbClr val="D9DFE7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493008" y="4972507"/>
            <a:ext cx="7580376" cy="0"/>
          </a:xfrm>
          <a:prstGeom prst="line">
            <a:avLst/>
          </a:prstGeom>
          <a:noFill/>
          <a:ln w="25400">
            <a:solidFill>
              <a:srgbClr val="1C5CAB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100" name="Shape 98"/>
          <p:cNvSpPr/>
          <p:nvPr/>
        </p:nvSpPr>
        <p:spPr>
          <a:xfrm>
            <a:off x="3364992" y="4908499"/>
            <a:ext cx="128016" cy="128016"/>
          </a:xfrm>
          <a:prstGeom prst="ellipse">
            <a:avLst/>
          </a:prstGeom>
          <a:solidFill>
            <a:srgbClr val="8E9A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073384" y="4908499"/>
            <a:ext cx="128016" cy="128016"/>
          </a:xfrm>
          <a:prstGeom prst="ellipse">
            <a:avLst/>
          </a:prstGeom>
          <a:solidFill>
            <a:srgbClr val="1C5C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11338560" y="4875581"/>
            <a:ext cx="4572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5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</a:t>
            </a:r>
            <a:endParaRPr lang="en-US" sz="850" dirty="0"/>
          </a:p>
        </p:txBody>
      </p:sp>
      <p:sp>
        <p:nvSpPr>
          <p:cNvPr id="103" name="Text 101"/>
          <p:cNvSpPr txBox="1"/>
          <p:nvPr/>
        </p:nvSpPr>
        <p:spPr>
          <a:xfrm>
            <a:off x="411480" y="5069434"/>
            <a:ext cx="292608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Juicio normativo y criterio para escalar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3429000" y="5166360"/>
            <a:ext cx="7708392" cy="0"/>
          </a:xfrm>
          <a:prstGeom prst="line">
            <a:avLst/>
          </a:prstGeom>
          <a:noFill/>
          <a:ln w="19050">
            <a:solidFill>
              <a:srgbClr val="D9DFE7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062472" y="5166360"/>
            <a:ext cx="5010912" cy="0"/>
          </a:xfrm>
          <a:prstGeom prst="line">
            <a:avLst/>
          </a:prstGeom>
          <a:noFill/>
          <a:ln w="25400">
            <a:solidFill>
              <a:srgbClr val="1C5CAB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106" name="Shape 104"/>
          <p:cNvSpPr/>
          <p:nvPr/>
        </p:nvSpPr>
        <p:spPr>
          <a:xfrm>
            <a:off x="5934456" y="5102352"/>
            <a:ext cx="128016" cy="128016"/>
          </a:xfrm>
          <a:prstGeom prst="ellipse">
            <a:avLst/>
          </a:prstGeom>
          <a:solidFill>
            <a:srgbClr val="8E9A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1073384" y="5102352"/>
            <a:ext cx="128016" cy="128016"/>
          </a:xfrm>
          <a:prstGeom prst="ellipse">
            <a:avLst/>
          </a:prstGeom>
          <a:solidFill>
            <a:srgbClr val="1C5C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11338560" y="5069434"/>
            <a:ext cx="4572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5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</a:t>
            </a:r>
            <a:endParaRPr lang="en-US" sz="850" dirty="0"/>
          </a:p>
        </p:txBody>
      </p:sp>
      <p:sp>
        <p:nvSpPr>
          <p:cNvPr id="109" name="Text 107"/>
          <p:cNvSpPr txBox="1"/>
          <p:nvPr/>
        </p:nvSpPr>
        <p:spPr>
          <a:xfrm>
            <a:off x="411480" y="5263286"/>
            <a:ext cx="292608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 transversal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3429000" y="5360213"/>
            <a:ext cx="7708392" cy="0"/>
          </a:xfrm>
          <a:prstGeom prst="line">
            <a:avLst/>
          </a:prstGeom>
          <a:noFill/>
          <a:ln w="19050">
            <a:solidFill>
              <a:srgbClr val="D9DFE7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062472" y="5360213"/>
            <a:ext cx="5010912" cy="0"/>
          </a:xfrm>
          <a:prstGeom prst="line">
            <a:avLst/>
          </a:prstGeom>
          <a:noFill/>
          <a:ln w="25400">
            <a:solidFill>
              <a:srgbClr val="1C5CAB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112" name="Shape 110"/>
          <p:cNvSpPr/>
          <p:nvPr/>
        </p:nvSpPr>
        <p:spPr>
          <a:xfrm>
            <a:off x="5934456" y="5296205"/>
            <a:ext cx="128016" cy="128016"/>
          </a:xfrm>
          <a:prstGeom prst="ellipse">
            <a:avLst/>
          </a:prstGeom>
          <a:solidFill>
            <a:srgbClr val="8E9A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1073384" y="5296205"/>
            <a:ext cx="128016" cy="128016"/>
          </a:xfrm>
          <a:prstGeom prst="ellipse">
            <a:avLst/>
          </a:prstGeom>
          <a:solidFill>
            <a:srgbClr val="1C5C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11338560" y="5263286"/>
            <a:ext cx="4572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5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</a:t>
            </a:r>
            <a:endParaRPr lang="en-US" sz="850" dirty="0"/>
          </a:p>
        </p:txBody>
      </p:sp>
      <p:sp>
        <p:nvSpPr>
          <p:cNvPr id="115" name="Text 113"/>
          <p:cNvSpPr txBox="1"/>
          <p:nvPr/>
        </p:nvSpPr>
        <p:spPr>
          <a:xfrm>
            <a:off x="411480" y="5457139"/>
            <a:ext cx="292608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causa raíz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3429000" y="5554066"/>
            <a:ext cx="7708392" cy="0"/>
          </a:xfrm>
          <a:prstGeom prst="line">
            <a:avLst/>
          </a:prstGeom>
          <a:noFill/>
          <a:ln w="19050">
            <a:solidFill>
              <a:srgbClr val="D9DFE7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062472" y="5554066"/>
            <a:ext cx="5010912" cy="0"/>
          </a:xfrm>
          <a:prstGeom prst="line">
            <a:avLst/>
          </a:prstGeom>
          <a:noFill/>
          <a:ln w="25400">
            <a:solidFill>
              <a:srgbClr val="1C5CAB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118" name="Shape 116"/>
          <p:cNvSpPr/>
          <p:nvPr/>
        </p:nvSpPr>
        <p:spPr>
          <a:xfrm>
            <a:off x="5934456" y="5490058"/>
            <a:ext cx="128016" cy="128016"/>
          </a:xfrm>
          <a:prstGeom prst="ellipse">
            <a:avLst/>
          </a:prstGeom>
          <a:solidFill>
            <a:srgbClr val="8E9A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1073384" y="5490058"/>
            <a:ext cx="128016" cy="128016"/>
          </a:xfrm>
          <a:prstGeom prst="ellipse">
            <a:avLst/>
          </a:prstGeom>
          <a:solidFill>
            <a:srgbClr val="1C5C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11338560" y="5457139"/>
            <a:ext cx="4572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5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</a:t>
            </a:r>
            <a:endParaRPr lang="en-US" sz="850" dirty="0"/>
          </a:p>
        </p:txBody>
      </p:sp>
      <p:sp>
        <p:nvSpPr>
          <p:cNvPr id="121" name="Text 119"/>
          <p:cNvSpPr txBox="1"/>
          <p:nvPr/>
        </p:nvSpPr>
        <p:spPr>
          <a:xfrm>
            <a:off x="411480" y="5650992"/>
            <a:ext cx="292608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calendario bajo plazo diario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3429000" y="5747918"/>
            <a:ext cx="7708392" cy="0"/>
          </a:xfrm>
          <a:prstGeom prst="line">
            <a:avLst/>
          </a:prstGeom>
          <a:noFill/>
          <a:ln w="19050">
            <a:solidFill>
              <a:srgbClr val="D9DFE7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062472" y="5747918"/>
            <a:ext cx="5010912" cy="0"/>
          </a:xfrm>
          <a:prstGeom prst="line">
            <a:avLst/>
          </a:prstGeom>
          <a:noFill/>
          <a:ln w="25400">
            <a:solidFill>
              <a:srgbClr val="1C5CAB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124" name="Shape 122"/>
          <p:cNvSpPr/>
          <p:nvPr/>
        </p:nvSpPr>
        <p:spPr>
          <a:xfrm>
            <a:off x="5934456" y="5683910"/>
            <a:ext cx="128016" cy="128016"/>
          </a:xfrm>
          <a:prstGeom prst="ellipse">
            <a:avLst/>
          </a:prstGeom>
          <a:solidFill>
            <a:srgbClr val="8E9A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1073384" y="5683910"/>
            <a:ext cx="128016" cy="128016"/>
          </a:xfrm>
          <a:prstGeom prst="ellipse">
            <a:avLst/>
          </a:prstGeom>
          <a:solidFill>
            <a:srgbClr val="1C5C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11338560" y="5650992"/>
            <a:ext cx="4572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5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</a:t>
            </a:r>
            <a:endParaRPr lang="en-US" sz="850" dirty="0"/>
          </a:p>
        </p:txBody>
      </p:sp>
      <p:sp>
        <p:nvSpPr>
          <p:cNvPr id="127" name="Text 125"/>
          <p:cNvSpPr txBox="1"/>
          <p:nvPr/>
        </p:nvSpPr>
        <p:spPr>
          <a:xfrm>
            <a:off x="411480" y="5844845"/>
            <a:ext cx="292608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y mesas de trabajo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3429000" y="5941771"/>
            <a:ext cx="7708392" cy="0"/>
          </a:xfrm>
          <a:prstGeom prst="line">
            <a:avLst/>
          </a:prstGeom>
          <a:noFill/>
          <a:ln w="19050">
            <a:solidFill>
              <a:srgbClr val="D9DFE7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493008" y="5941771"/>
            <a:ext cx="5010912" cy="0"/>
          </a:xfrm>
          <a:prstGeom prst="line">
            <a:avLst/>
          </a:prstGeom>
          <a:noFill/>
          <a:ln w="25400">
            <a:solidFill>
              <a:srgbClr val="1C5CAB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130" name="Shape 128"/>
          <p:cNvSpPr/>
          <p:nvPr/>
        </p:nvSpPr>
        <p:spPr>
          <a:xfrm>
            <a:off x="3364992" y="5877763"/>
            <a:ext cx="128016" cy="128016"/>
          </a:xfrm>
          <a:prstGeom prst="ellipse">
            <a:avLst/>
          </a:prstGeom>
          <a:solidFill>
            <a:srgbClr val="8E9A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503920" y="5877763"/>
            <a:ext cx="128016" cy="128016"/>
          </a:xfrm>
          <a:prstGeom prst="ellipse">
            <a:avLst/>
          </a:prstGeom>
          <a:solidFill>
            <a:srgbClr val="1C5C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11338560" y="5844845"/>
            <a:ext cx="4572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5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411480" y="6148426"/>
            <a:ext cx="11365992" cy="457200"/>
          </a:xfrm>
          <a:prstGeom prst="roundRect">
            <a:avLst>
              <a:gd name="adj" fmla="val 12000"/>
            </a:avLst>
          </a:prstGeom>
          <a:solidFill>
            <a:srgbClr val="FBEEDC"/>
          </a:solidFill>
          <a:ln w="9525">
            <a:solidFill>
              <a:srgbClr val="E5C79A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576072" y="6148426"/>
            <a:ext cx="11036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6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único que no cambió: la escala de cargos y remuneraciones. </a:t>
            </a:r>
            <a:pPr indent="0" marL="0">
              <a:buNone/>
            </a:pPr>
            <a:r>
              <a:rPr lang="en-US" sz="9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rediseño de 2024 actualizó misión, funciones y requisitos y dejó pendiente el pesaje de remuneración respecto a responsabilidad. Las 15 competencias subieron en promedio 2,2 niveles; el grado, ninguno.</a:t>
            </a:r>
            <a:endParaRPr lang="en-US" sz="950" dirty="0"/>
          </a:p>
        </p:txBody>
      </p:sp>
      <p:sp>
        <p:nvSpPr>
          <p:cNvPr id="135" name="Text 133"/>
          <p:cNvSpPr txBox="1"/>
          <p:nvPr/>
        </p:nvSpPr>
        <p:spPr>
          <a:xfrm>
            <a:off x="411480" y="6642202"/>
            <a:ext cx="11365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9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descripción de cargo 2020 y rediseño 2024 (Diseño Organizacional Compliance 2024); perfil actual deducido del análisis de los 18 reportes. Niveles 2020 literales de la descripción; niveles actuales son exigencia de la función, no evaluación de personas.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Funciones, competencias e interlocutores: lo previo y lo nuevo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03504"/>
            <a:ext cx="11365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Tomado de la descripción de cargo vigente. En gris, lo que ya exigía el cargo de Portabilidad; en azul, lo que se agregó con la función de reportes normativos. Nada se quitó.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56032" cy="146304"/>
          </a:xfrm>
          <a:prstGeom prst="roundRect">
            <a:avLst>
              <a:gd name="adj" fmla="val 18750"/>
            </a:avLst>
          </a:prstGeom>
          <a:solidFill>
            <a:srgbClr val="E8ECF0"/>
          </a:solidFill>
          <a:ln w="12700">
            <a:solidFill>
              <a:srgbClr val="8E9AA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9144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2020 · Portabilidad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697480" y="960120"/>
            <a:ext cx="256032" cy="146304"/>
          </a:xfrm>
          <a:prstGeom prst="roundRect">
            <a:avLst>
              <a:gd name="adj" fmla="val 18750"/>
            </a:avLst>
          </a:prstGeom>
          <a:solidFill>
            <a:srgbClr val="E4EEFB"/>
          </a:solidFill>
          <a:ln w="12700">
            <a:solidFill>
              <a:srgbClr val="1C5CA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17520" y="9144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Agregado con la función normativa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13258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Funciones</a:t>
            </a:r>
            <a:pPr indent="0" marL="0">
              <a:buNone/>
            </a:pPr>
            <a:r>
              <a:rPr lang="en-US" sz="1100" b="1" dirty="0">
                <a:solidFill>
                  <a:srgbClr val="1C5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4 → 11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709928"/>
            <a:ext cx="4709160" cy="265176"/>
          </a:xfrm>
          <a:prstGeom prst="roundRect">
            <a:avLst>
              <a:gd name="adj" fmla="val 17241"/>
            </a:avLst>
          </a:prstGeom>
          <a:solidFill>
            <a:srgbClr val="E8ECF0"/>
          </a:solidFill>
          <a:ln w="9525">
            <a:solidFill>
              <a:srgbClr val="8E9A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1208" y="1709928"/>
            <a:ext cx="4489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el cumplimiento de plazos de productos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020824"/>
            <a:ext cx="4709160" cy="265176"/>
          </a:xfrm>
          <a:prstGeom prst="roundRect">
            <a:avLst>
              <a:gd name="adj" fmla="val 17241"/>
            </a:avLst>
          </a:prstGeom>
          <a:solidFill>
            <a:srgbClr val="E8ECF0"/>
          </a:solidFill>
          <a:ln w="9525">
            <a:solidFill>
              <a:srgbClr val="8E9A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1208" y="2020824"/>
            <a:ext cx="4489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pérdida patrimonial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331720"/>
            <a:ext cx="4709160" cy="265176"/>
          </a:xfrm>
          <a:prstGeom prst="roundRect">
            <a:avLst>
              <a:gd name="adj" fmla="val 17241"/>
            </a:avLst>
          </a:prstGeom>
          <a:solidFill>
            <a:srgbClr val="E8ECF0"/>
          </a:solidFill>
          <a:ln w="9525">
            <a:solidFill>
              <a:srgbClr val="8E9A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" y="2331720"/>
            <a:ext cx="4489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eficientemente la carga de datos en Redbanc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642616"/>
            <a:ext cx="4709160" cy="265176"/>
          </a:xfrm>
          <a:prstGeom prst="roundRect">
            <a:avLst>
              <a:gd name="adj" fmla="val 17241"/>
            </a:avLst>
          </a:prstGeom>
          <a:solidFill>
            <a:srgbClr val="E8ECF0"/>
          </a:solidFill>
          <a:ln w="9525">
            <a:solidFill>
              <a:srgbClr val="8E9A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1208" y="2642616"/>
            <a:ext cx="4489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Cumplir con los plazos legales de Portabilidad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008376"/>
            <a:ext cx="4709160" cy="265176"/>
          </a:xfrm>
          <a:prstGeom prst="roundRect">
            <a:avLst>
              <a:gd name="adj" fmla="val 17241"/>
            </a:avLst>
          </a:prstGeom>
          <a:solidFill>
            <a:srgbClr val="E4EEFB"/>
          </a:solidFill>
          <a:ln w="9525">
            <a:solidFill>
              <a:srgbClr val="1C5CA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1208" y="3008376"/>
            <a:ext cx="4489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Atender reportes normativos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319272"/>
            <a:ext cx="4709160" cy="265176"/>
          </a:xfrm>
          <a:prstGeom prst="roundRect">
            <a:avLst>
              <a:gd name="adj" fmla="val 17241"/>
            </a:avLst>
          </a:prstGeom>
          <a:solidFill>
            <a:srgbClr val="E4EEFB"/>
          </a:solidFill>
          <a:ln w="9525">
            <a:solidFill>
              <a:srgbClr val="1C5CA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3319272"/>
            <a:ext cx="4489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controles e interpretar datos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630168"/>
            <a:ext cx="4709160" cy="265176"/>
          </a:xfrm>
          <a:prstGeom prst="roundRect">
            <a:avLst>
              <a:gd name="adj" fmla="val 17241"/>
            </a:avLst>
          </a:prstGeom>
          <a:solidFill>
            <a:srgbClr val="E4EEFB"/>
          </a:solidFill>
          <a:ln w="9525">
            <a:solidFill>
              <a:srgbClr val="1C5CA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1208" y="3630168"/>
            <a:ext cx="4489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3941064"/>
            <a:ext cx="4709160" cy="265176"/>
          </a:xfrm>
          <a:prstGeom prst="roundRect">
            <a:avLst>
              <a:gd name="adj" fmla="val 17241"/>
            </a:avLst>
          </a:prstGeom>
          <a:solidFill>
            <a:srgbClr val="E4EEFB"/>
          </a:solidFill>
          <a:ln w="9525">
            <a:solidFill>
              <a:srgbClr val="1C5CA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1208" y="3941064"/>
            <a:ext cx="4489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y dar seguimiento a alertas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4251960"/>
            <a:ext cx="4709160" cy="265176"/>
          </a:xfrm>
          <a:prstGeom prst="roundRect">
            <a:avLst>
              <a:gd name="adj" fmla="val 17241"/>
            </a:avLst>
          </a:prstGeom>
          <a:solidFill>
            <a:srgbClr val="E4EEFB"/>
          </a:solidFill>
          <a:ln w="9525">
            <a:solidFill>
              <a:srgbClr val="1C5CA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1208" y="4251960"/>
            <a:ext cx="4489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Coordinar el rediseño de procesos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4562856"/>
            <a:ext cx="4709160" cy="265176"/>
          </a:xfrm>
          <a:prstGeom prst="roundRect">
            <a:avLst>
              <a:gd name="adj" fmla="val 17241"/>
            </a:avLst>
          </a:prstGeom>
          <a:solidFill>
            <a:srgbClr val="E4EEFB"/>
          </a:solidFill>
          <a:ln w="9525">
            <a:solidFill>
              <a:srgbClr val="1C5CA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21208" y="4562856"/>
            <a:ext cx="4489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Promover y gestionar mejoras reactivas y proactivas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4873752"/>
            <a:ext cx="4709160" cy="420624"/>
          </a:xfrm>
          <a:prstGeom prst="roundRect">
            <a:avLst>
              <a:gd name="adj" fmla="val 10870"/>
            </a:avLst>
          </a:prstGeom>
          <a:solidFill>
            <a:srgbClr val="E4EEFB"/>
          </a:solidFill>
          <a:ln w="9525">
            <a:solidFill>
              <a:srgbClr val="1C5CA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21208" y="4873752"/>
            <a:ext cx="4489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Participar en la mesa de trabajo normativo y promover una cultura de cumplimiento (Governance)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13258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Competencias</a:t>
            </a:r>
            <a:pPr indent="0" marL="0">
              <a:buNone/>
            </a:pPr>
            <a:r>
              <a:rPr lang="en-US" sz="1100" b="1" dirty="0">
                <a:solidFill>
                  <a:srgbClr val="1C5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5 → 13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03520" y="1709928"/>
            <a:ext cx="3063240" cy="265176"/>
          </a:xfrm>
          <a:prstGeom prst="roundRect">
            <a:avLst>
              <a:gd name="adj" fmla="val 17241"/>
            </a:avLst>
          </a:prstGeom>
          <a:solidFill>
            <a:srgbClr val="E8ECF0"/>
          </a:solidFill>
          <a:ln w="9525">
            <a:solidFill>
              <a:srgbClr val="8E9AA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13248" y="1709928"/>
            <a:ext cx="28437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de procesos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303520" y="2020824"/>
            <a:ext cx="3063240" cy="265176"/>
          </a:xfrm>
          <a:prstGeom prst="roundRect">
            <a:avLst>
              <a:gd name="adj" fmla="val 17241"/>
            </a:avLst>
          </a:prstGeom>
          <a:solidFill>
            <a:srgbClr val="E8ECF0"/>
          </a:solidFill>
          <a:ln w="9525">
            <a:solidFill>
              <a:srgbClr val="8E9AA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13248" y="2020824"/>
            <a:ext cx="28437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hojas de cálculo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303520" y="2331720"/>
            <a:ext cx="3063240" cy="265176"/>
          </a:xfrm>
          <a:prstGeom prst="roundRect">
            <a:avLst>
              <a:gd name="adj" fmla="val 17241"/>
            </a:avLst>
          </a:prstGeom>
          <a:solidFill>
            <a:srgbClr val="E8ECF0"/>
          </a:solidFill>
          <a:ln w="9525">
            <a:solidFill>
              <a:srgbClr val="8E9AA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13248" y="2331720"/>
            <a:ext cx="28437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del banco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303520" y="2642616"/>
            <a:ext cx="3063240" cy="265176"/>
          </a:xfrm>
          <a:prstGeom prst="roundRect">
            <a:avLst>
              <a:gd name="adj" fmla="val 17241"/>
            </a:avLst>
          </a:prstGeom>
          <a:solidFill>
            <a:srgbClr val="E8ECF0"/>
          </a:solidFill>
          <a:ln w="9525">
            <a:solidFill>
              <a:srgbClr val="8E9AA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413248" y="2642616"/>
            <a:ext cx="28437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de Portabilidad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303520" y="2953512"/>
            <a:ext cx="3063240" cy="265176"/>
          </a:xfrm>
          <a:prstGeom prst="roundRect">
            <a:avLst>
              <a:gd name="adj" fmla="val 17241"/>
            </a:avLst>
          </a:prstGeom>
          <a:solidFill>
            <a:srgbClr val="E8ECF0"/>
          </a:solidFill>
          <a:ln w="9525">
            <a:solidFill>
              <a:srgbClr val="8E9AA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13248" y="2953512"/>
            <a:ext cx="28437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Conocimientos contables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303520" y="3319272"/>
            <a:ext cx="3063240" cy="265176"/>
          </a:xfrm>
          <a:prstGeom prst="roundRect">
            <a:avLst>
              <a:gd name="adj" fmla="val 17241"/>
            </a:avLst>
          </a:prstGeom>
          <a:solidFill>
            <a:srgbClr val="E4EEFB"/>
          </a:solidFill>
          <a:ln w="9525">
            <a:solidFill>
              <a:srgbClr val="1C5CA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413248" y="3319272"/>
            <a:ext cx="28437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(Power BI)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303520" y="3630168"/>
            <a:ext cx="3063240" cy="265176"/>
          </a:xfrm>
          <a:prstGeom prst="roundRect">
            <a:avLst>
              <a:gd name="adj" fmla="val 17241"/>
            </a:avLst>
          </a:prstGeom>
          <a:solidFill>
            <a:srgbClr val="E4EEFB"/>
          </a:solidFill>
          <a:ln w="9525">
            <a:solidFill>
              <a:srgbClr val="1C5CA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413248" y="3630168"/>
            <a:ext cx="28437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(MS-SQL Server)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303520" y="3941064"/>
            <a:ext cx="3063240" cy="265176"/>
          </a:xfrm>
          <a:prstGeom prst="roundRect">
            <a:avLst>
              <a:gd name="adj" fmla="val 17241"/>
            </a:avLst>
          </a:prstGeom>
          <a:solidFill>
            <a:srgbClr val="E4EEFB"/>
          </a:solidFill>
          <a:ln w="9525">
            <a:solidFill>
              <a:srgbClr val="1C5CA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413248" y="3941064"/>
            <a:ext cx="28437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303520" y="4251960"/>
            <a:ext cx="3063240" cy="265176"/>
          </a:xfrm>
          <a:prstGeom prst="roundRect">
            <a:avLst>
              <a:gd name="adj" fmla="val 17241"/>
            </a:avLst>
          </a:prstGeom>
          <a:solidFill>
            <a:srgbClr val="E4EEFB"/>
          </a:solidFill>
          <a:ln w="9525">
            <a:solidFill>
              <a:srgbClr val="1C5CA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413248" y="4251960"/>
            <a:ext cx="28437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Agile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303520" y="4562856"/>
            <a:ext cx="3063240" cy="265176"/>
          </a:xfrm>
          <a:prstGeom prst="roundRect">
            <a:avLst>
              <a:gd name="adj" fmla="val 17241"/>
            </a:avLst>
          </a:prstGeom>
          <a:solidFill>
            <a:srgbClr val="E4EEFB"/>
          </a:solidFill>
          <a:ln w="9525">
            <a:solidFill>
              <a:srgbClr val="1C5CAB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413248" y="4562856"/>
            <a:ext cx="28437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analíticas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303520" y="4873752"/>
            <a:ext cx="3063240" cy="265176"/>
          </a:xfrm>
          <a:prstGeom prst="roundRect">
            <a:avLst>
              <a:gd name="adj" fmla="val 17241"/>
            </a:avLst>
          </a:prstGeom>
          <a:solidFill>
            <a:srgbClr val="E4EEFB"/>
          </a:solidFill>
          <a:ln w="9525">
            <a:solidFill>
              <a:srgbClr val="1C5CA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413248" y="4873752"/>
            <a:ext cx="28437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 gestionar plazos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303520" y="5184648"/>
            <a:ext cx="3063240" cy="265176"/>
          </a:xfrm>
          <a:prstGeom prst="roundRect">
            <a:avLst>
              <a:gd name="adj" fmla="val 17241"/>
            </a:avLst>
          </a:prstGeom>
          <a:solidFill>
            <a:srgbClr val="E4EEFB"/>
          </a:solidFill>
          <a:ln w="9525">
            <a:solidFill>
              <a:srgbClr val="1C5CAB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413248" y="5184648"/>
            <a:ext cx="28437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303520" y="5495544"/>
            <a:ext cx="3063240" cy="265176"/>
          </a:xfrm>
          <a:prstGeom prst="roundRect">
            <a:avLst>
              <a:gd name="adj" fmla="val 17241"/>
            </a:avLst>
          </a:prstGeom>
          <a:solidFill>
            <a:srgbClr val="E4EEFB"/>
          </a:solidFill>
          <a:ln w="9525">
            <a:solidFill>
              <a:srgbClr val="1C5CA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413248" y="5495544"/>
            <a:ext cx="28437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Normativas CMF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8549640" y="1325880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Interacción</a:t>
            </a:r>
            <a:pPr indent="0" marL="0">
              <a:buNone/>
            </a:pPr>
            <a:r>
              <a:rPr lang="en-US" sz="1100" b="1" dirty="0">
                <a:solidFill>
                  <a:srgbClr val="1C5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3 → 7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8549640" y="1709928"/>
            <a:ext cx="3319272" cy="265176"/>
          </a:xfrm>
          <a:prstGeom prst="roundRect">
            <a:avLst>
              <a:gd name="adj" fmla="val 17241"/>
            </a:avLst>
          </a:prstGeom>
          <a:solidFill>
            <a:srgbClr val="E8ECF0"/>
          </a:solidFill>
          <a:ln w="9525">
            <a:solidFill>
              <a:srgbClr val="8E9AA6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659368" y="1709928"/>
            <a:ext cx="3099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549640" y="2020824"/>
            <a:ext cx="3319272" cy="265176"/>
          </a:xfrm>
          <a:prstGeom prst="roundRect">
            <a:avLst>
              <a:gd name="adj" fmla="val 17241"/>
            </a:avLst>
          </a:prstGeom>
          <a:solidFill>
            <a:srgbClr val="E8ECF0"/>
          </a:solidFill>
          <a:ln w="9525">
            <a:solidFill>
              <a:srgbClr val="8E9AA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659368" y="2020824"/>
            <a:ext cx="3099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Fábricas de productos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8549640" y="2331720"/>
            <a:ext cx="3319272" cy="265176"/>
          </a:xfrm>
          <a:prstGeom prst="roundRect">
            <a:avLst>
              <a:gd name="adj" fmla="val 17241"/>
            </a:avLst>
          </a:prstGeom>
          <a:solidFill>
            <a:srgbClr val="E8ECF0"/>
          </a:solidFill>
          <a:ln w="9525">
            <a:solidFill>
              <a:srgbClr val="8E9AA6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659368" y="2331720"/>
            <a:ext cx="3099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Redbanc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8549640" y="2697480"/>
            <a:ext cx="3319272" cy="265176"/>
          </a:xfrm>
          <a:prstGeom prst="roundRect">
            <a:avLst>
              <a:gd name="adj" fmla="val 17241"/>
            </a:avLst>
          </a:prstGeom>
          <a:solidFill>
            <a:srgbClr val="E4EEFB"/>
          </a:solidFill>
          <a:ln w="9525">
            <a:solidFill>
              <a:srgbClr val="1C5CAB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8659368" y="2697480"/>
            <a:ext cx="3099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de Reguladores Financieros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549640" y="3008376"/>
            <a:ext cx="3319272" cy="265176"/>
          </a:xfrm>
          <a:prstGeom prst="roundRect">
            <a:avLst>
              <a:gd name="adj" fmla="val 17241"/>
            </a:avLst>
          </a:prstGeom>
          <a:solidFill>
            <a:srgbClr val="E4EEFB"/>
          </a:solidFill>
          <a:ln w="9525">
            <a:solidFill>
              <a:srgbClr val="1C5CAB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659368" y="3008376"/>
            <a:ext cx="3099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de Reportes Regulatorios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8549640" y="3319272"/>
            <a:ext cx="3319272" cy="265176"/>
          </a:xfrm>
          <a:prstGeom prst="roundRect">
            <a:avLst>
              <a:gd name="adj" fmla="val 17241"/>
            </a:avLst>
          </a:prstGeom>
          <a:solidFill>
            <a:srgbClr val="E4EEFB"/>
          </a:solidFill>
          <a:ln w="9525">
            <a:solidFill>
              <a:srgbClr val="1C5CAB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8659368" y="3319272"/>
            <a:ext cx="3099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Fiscalía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8549640" y="3630168"/>
            <a:ext cx="3319272" cy="265176"/>
          </a:xfrm>
          <a:prstGeom prst="roundRect">
            <a:avLst>
              <a:gd name="adj" fmla="val 17241"/>
            </a:avLst>
          </a:prstGeom>
          <a:solidFill>
            <a:srgbClr val="E4EEFB"/>
          </a:solidFill>
          <a:ln w="9525">
            <a:solidFill>
              <a:srgbClr val="1C5CAB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8659368" y="3630168"/>
            <a:ext cx="3099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SERNAC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11480" y="6053328"/>
            <a:ext cx="11365992" cy="457200"/>
          </a:xfrm>
          <a:prstGeom prst="roundRect">
            <a:avLst>
              <a:gd name="adj" fmla="val 12000"/>
            </a:avLst>
          </a:prstGeom>
          <a:solidFill>
            <a:srgbClr val="FBEEDC"/>
          </a:solidFill>
          <a:ln w="9525">
            <a:solidFill>
              <a:srgbClr val="E5C79A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576072" y="6053328"/>
            <a:ext cx="11036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6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cargo no se reemplazó, se amplió: </a:t>
            </a:r>
            <a:pPr indent="0" marL="0">
              <a:buNone/>
            </a:pPr>
            <a:r>
              <a:rPr lang="en-US" sz="950" dirty="0">
                <a:solidFill>
                  <a:srgbClr val="1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funciones pasaron de 4 a 11, las competencias de 5 a 13 y los interlocutores de 3 a 7, incluidos dos reguladores y la Fiscalía. La escala de cargos sigue siendo la del punto de partida.</a:t>
            </a:r>
            <a:endParaRPr lang="en-US" sz="950" dirty="0"/>
          </a:p>
        </p:txBody>
      </p:sp>
      <p:sp>
        <p:nvSpPr>
          <p:cNvPr id="75" name="Text 73"/>
          <p:cNvSpPr txBox="1"/>
          <p:nvPr/>
        </p:nvSpPr>
        <p:spPr>
          <a:xfrm>
            <a:off x="411480" y="6547104"/>
            <a:ext cx="11365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9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descripción de cargo vigente (Diseño Organizacional Compliance 2024), lámina "Funciones, competencias e interacción". Los elementos en azul corresponden a los destacados en azul en el documento original.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2026-09-05T20:27:41Z</dcterms:created>
  <dcterms:modified xsi:type="dcterms:W3CDTF">2026-09-05T20:27:41Z</dcterms:modified>
</cp:coreProperties>
</file>
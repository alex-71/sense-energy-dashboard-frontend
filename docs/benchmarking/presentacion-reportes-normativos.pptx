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clave: este equipo nació en 2020 para la Ley de Portabilidad Financiera y hoy es responsable de 18 reportes normativos ante la CMF y el SERNAC, con la misma dotación de origen. El cargo cambió de naturaleza; la escala con la que se valora no. Hoy no se pide dinero: se pide un mandato para reevaluar la escala de cargos con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decisión evita que la discusión se desvíe a montos. Objeción probable: "¿por qué ahora?". Respuesta: porque en 2026 el perímetro incluye reportes diarios del Registro de Deuda Consolidada, cuyo incumplimiento puede bloquear el acceso del banco a información de la CMF, y porque el rediseño del cargo de 2024 dejó pendiente el pesaje de remuneración respecto a responsabilidad.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brecha entre 4.608 solicitudes proyectadas y 18 reales explica el origen de la escala de cargos: fue diseñada para un proceso operativo de portabilidad. El equipo no se disolvió; absorbió la reportería normativa. Ese es el hecho central: misma dotación, otro trabajo, misma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no es la cantidad de códigos sino la frecuencia: dos reportes diarios y tres semanales significan que el equipo no tiene días sin obligación regulatoria. Objeción probable: "son archivos que ya están automatizados". Respuesta: la ejecución puede estar automatizada; la validación, la respuesta a observaciones y la adaptación a cada cambio normativo no lo están.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es el argumento técnico de la propuesta: la escala actual trata a todos los reportes como tareas equivalentes, pero la mitad del perímetro está en cuadrantes que exigen un responsable con grado de jefatura y controles formales. Objeción probable: "los puntajes son subjetivos". Respuesta: sí, por eso la fase 1 de la propuesta es una valoración formal con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riesgo de bloqueo de acceso es el que más pesa para un comité: convierte un problema de cumplimiento en un problema de negocio, porque afecta la originación de créditos. Presentarlo primero. Objeción probable: "nunca ha pasado". Respuesta: la eficacia histórica de 98,78 % se logró con una dotación que hoy tiene el doble de reportes y frecuencias diarias que no existían en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la evidencia documental: el propio banco rediseñó el cargo en 2024 y dejó escrito que faltaba el pesaje de remuneración. No es una opinión del área. Objeción probable: "ya se ajustó el perfil en 2024". Respuesta: se ajustó el perfil, no la escala; y desde entonces el perímetro sumó los reportes diarios del RDC.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que debe quedar: la confiabilidad no la da una persona talentosa sino una cadena con roles separados. Hoy esa cadena la sostienen seis personas en cargos pensados para otra función. Objeción probable: "esto es crear jefaturas". Respuesta: es reconocer las que ya se ejercen de hecho y formalizar quién firma y quién respalda.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Mantener esta lámina cualitativa a propósito: los directivos van a pedir cifras, y la respuesta es que el diagnóstico las traerá con una encuesta o valoración formal, no con estimaciones. Si insisten, indicar que existen rangos públicos de referencia (Robert Half, Buk) para cargos contables genéricos, que el área puede compartir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está diseñada para que el comité pueda aprobar hoy sin comprometer presupuesto: la fase 1 no tiene costo externo relevante y produce la evidencia que el propio comité va a pedir. Objeción probable: "hagan primero la automatización". Respuesta: la automatización reduce el cuadrante de rutina, no la responsabilidad de firmar ante el regulador; y quien automatiza es justamente el perfil que hay que retener.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argumentación con el contraste. Evitar dramatizar: los escenarios describen probabilidades, no certezas. Si el comité pregunta por la probabilidad de rotación, responder con el dato interno de rotación y vacantes del área si se dispone de él; si no, con la escasez del perfil en 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Terminar pidiendo explícitamente la decisión y la fecha. Si el comité no está listo para decidir, pedir al menos el patrocinador y la fecha de retorno.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 Confirmar con el equipo el contenido de R05, E23, T01 y D51 y la vigencia de la Circular N° 2.376 antes de distribuir.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5A"/>
        </a:solidFill>
      </p:bgPr>
    </p:bg>
    <p:spTree>
      <p:nvGrpSpPr>
        <p:cNvPr id="1" name=""/>
        <p:cNvGrpSpPr/>
        <p:nvPr/>
      </p:nvGrpSpPr>
      <p:grpSpPr>
        <a:xfrm>
          <a:off x="0" y="0"/>
          <a:ext cx="0" cy="0"/>
          <a:chOff x="0" y="0"/>
          <a:chExt cx="0" cy="0"/>
        </a:xfrm>
      </p:grpSpPr>
      <p:sp>
        <p:nvSpPr>
          <p:cNvPr id="2" name="Text 0"/>
          <p:cNvSpPr txBox="1"/>
          <p:nvPr/>
        </p:nvSpPr>
        <p:spPr>
          <a:xfrm>
            <a:off x="548640" y="1554480"/>
            <a:ext cx="868680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 Portabilidad a Observabilidad Normativa</a:t>
            </a:r>
            <a:endParaRPr lang="en-US" sz="4000" dirty="0"/>
          </a:p>
        </p:txBody>
      </p:sp>
      <p:sp>
        <p:nvSpPr>
          <p:cNvPr id="3" name="Text 1"/>
          <p:cNvSpPr txBox="1"/>
          <p:nvPr/>
        </p:nvSpPr>
        <p:spPr>
          <a:xfrm>
            <a:off x="548640" y="3154680"/>
            <a:ext cx="8412480" cy="914400"/>
          </a:xfrm>
          <a:prstGeom prst="rect">
            <a:avLst/>
          </a:prstGeom>
          <a:noFill/>
          <a:ln/>
        </p:spPr>
        <p:txBody>
          <a:bodyPr wrap="square" lIns="0" tIns="0" rIns="0" bIns="0" rtlCol="0" anchor="ctr"/>
          <a:lstStyle/>
          <a:p>
            <a:pPr indent="0" marL="0">
              <a:buNone/>
            </a:pPr>
            <a:r>
              <a:rPr lang="en-US" sz="1800" dirty="0">
                <a:solidFill>
                  <a:srgbClr val="CFE0E5"/>
                </a:solidFill>
                <a:latin typeface="Calibri" pitchFamily="34" charset="0"/>
                <a:ea typeface="Calibri" pitchFamily="34" charset="-122"/>
                <a:cs typeface="Calibri" pitchFamily="34" charset="-120"/>
              </a:rPr>
              <a:t>Por qué la escala de cargos del equipo que genera, valida y envía los reportes normativos debe reevaluarse</a:t>
            </a:r>
            <a:endParaRPr lang="en-US" sz="1800" dirty="0"/>
          </a:p>
        </p:txBody>
      </p:sp>
      <p:sp>
        <p:nvSpPr>
          <p:cNvPr id="4" name="Text 2"/>
          <p:cNvSpPr txBox="1"/>
          <p:nvPr/>
        </p:nvSpPr>
        <p:spPr>
          <a:xfrm>
            <a:off x="548640" y="5394960"/>
            <a:ext cx="8229600" cy="365760"/>
          </a:xfrm>
          <a:prstGeom prst="rect">
            <a:avLst/>
          </a:prstGeom>
          <a:noFill/>
          <a:ln/>
        </p:spPr>
        <p:txBody>
          <a:bodyPr wrap="square" lIns="0" tIns="0" rIns="0" bIns="0" rtlCol="0" anchor="ctr"/>
          <a:lstStyle/>
          <a:p>
            <a:pPr indent="0" marL="0">
              <a:buNone/>
            </a:pPr>
            <a:r>
              <a:rPr lang="en-US" sz="1200" dirty="0">
                <a:solidFill>
                  <a:srgbClr val="9FBAC2"/>
                </a:solidFill>
                <a:latin typeface="Calibri" pitchFamily="34" charset="0"/>
                <a:ea typeface="Calibri" pitchFamily="34" charset="-122"/>
                <a:cs typeface="Calibri" pitchFamily="34" charset="-120"/>
              </a:rPr>
              <a:t>Propuesta cualitativa para el comité directivo · Septiembre 2026</a:t>
            </a:r>
            <a:endParaRPr lang="en-US" sz="1200" dirty="0"/>
          </a:p>
        </p:txBody>
      </p:sp>
      <p:sp>
        <p:nvSpPr>
          <p:cNvPr id="5" name="Text 3"/>
          <p:cNvSpPr txBox="1"/>
          <p:nvPr/>
        </p:nvSpPr>
        <p:spPr>
          <a:xfrm>
            <a:off x="9281160" y="16459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RDC40</a:t>
            </a:r>
            <a:endParaRPr lang="en-US" sz="1050" dirty="0"/>
          </a:p>
        </p:txBody>
      </p:sp>
      <p:sp>
        <p:nvSpPr>
          <p:cNvPr id="6" name="Text 4"/>
          <p:cNvSpPr txBox="1"/>
          <p:nvPr/>
        </p:nvSpPr>
        <p:spPr>
          <a:xfrm>
            <a:off x="10213848" y="16459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D10</a:t>
            </a:r>
            <a:endParaRPr lang="en-US" sz="1050" dirty="0"/>
          </a:p>
        </p:txBody>
      </p:sp>
      <p:sp>
        <p:nvSpPr>
          <p:cNvPr id="7" name="Text 5"/>
          <p:cNvSpPr txBox="1"/>
          <p:nvPr/>
        </p:nvSpPr>
        <p:spPr>
          <a:xfrm>
            <a:off x="11146536" y="16459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R05</a:t>
            </a:r>
            <a:endParaRPr lang="en-US" sz="1050" dirty="0"/>
          </a:p>
        </p:txBody>
      </p:sp>
      <p:sp>
        <p:nvSpPr>
          <p:cNvPr id="8" name="Text 6"/>
          <p:cNvSpPr txBox="1"/>
          <p:nvPr/>
        </p:nvSpPr>
        <p:spPr>
          <a:xfrm>
            <a:off x="9281160" y="21031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RDC01</a:t>
            </a:r>
            <a:endParaRPr lang="en-US" sz="1050" dirty="0"/>
          </a:p>
        </p:txBody>
      </p:sp>
      <p:sp>
        <p:nvSpPr>
          <p:cNvPr id="9" name="Text 7"/>
          <p:cNvSpPr txBox="1"/>
          <p:nvPr/>
        </p:nvSpPr>
        <p:spPr>
          <a:xfrm>
            <a:off x="10213848" y="21031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P37</a:t>
            </a:r>
            <a:endParaRPr lang="en-US" sz="1050" dirty="0"/>
          </a:p>
        </p:txBody>
      </p:sp>
      <p:sp>
        <p:nvSpPr>
          <p:cNvPr id="10" name="Text 8"/>
          <p:cNvSpPr txBox="1"/>
          <p:nvPr/>
        </p:nvSpPr>
        <p:spPr>
          <a:xfrm>
            <a:off x="11146536" y="21031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E23</a:t>
            </a:r>
            <a:endParaRPr lang="en-US" sz="1050" dirty="0"/>
          </a:p>
        </p:txBody>
      </p:sp>
      <p:sp>
        <p:nvSpPr>
          <p:cNvPr id="11" name="Text 9"/>
          <p:cNvSpPr txBox="1"/>
          <p:nvPr/>
        </p:nvSpPr>
        <p:spPr>
          <a:xfrm>
            <a:off x="9281160" y="25603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D51</a:t>
            </a:r>
            <a:endParaRPr lang="en-US" sz="1050" dirty="0"/>
          </a:p>
        </p:txBody>
      </p:sp>
      <p:sp>
        <p:nvSpPr>
          <p:cNvPr id="12" name="Text 10"/>
          <p:cNvSpPr txBox="1"/>
          <p:nvPr/>
        </p:nvSpPr>
        <p:spPr>
          <a:xfrm>
            <a:off x="10213848" y="25603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T01</a:t>
            </a:r>
            <a:endParaRPr lang="en-US" sz="1050" dirty="0"/>
          </a:p>
        </p:txBody>
      </p:sp>
      <p:sp>
        <p:nvSpPr>
          <p:cNvPr id="13" name="Text 11"/>
          <p:cNvSpPr txBox="1"/>
          <p:nvPr/>
        </p:nvSpPr>
        <p:spPr>
          <a:xfrm>
            <a:off x="11146536" y="25603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RDC02</a:t>
            </a:r>
            <a:endParaRPr lang="en-US" sz="1050" dirty="0"/>
          </a:p>
        </p:txBody>
      </p:sp>
      <p:sp>
        <p:nvSpPr>
          <p:cNvPr id="14" name="Text 12"/>
          <p:cNvSpPr txBox="1"/>
          <p:nvPr/>
        </p:nvSpPr>
        <p:spPr>
          <a:xfrm>
            <a:off x="9281160" y="30175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D03</a:t>
            </a:r>
            <a:endParaRPr lang="en-US" sz="1050" dirty="0"/>
          </a:p>
        </p:txBody>
      </p:sp>
      <p:sp>
        <p:nvSpPr>
          <p:cNvPr id="15" name="Text 13"/>
          <p:cNvSpPr txBox="1"/>
          <p:nvPr/>
        </p:nvSpPr>
        <p:spPr>
          <a:xfrm>
            <a:off x="10213848" y="30175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P14</a:t>
            </a:r>
            <a:endParaRPr lang="en-US" sz="1050" dirty="0"/>
          </a:p>
        </p:txBody>
      </p:sp>
      <p:sp>
        <p:nvSpPr>
          <p:cNvPr id="16" name="Text 14"/>
          <p:cNvSpPr txBox="1"/>
          <p:nvPr/>
        </p:nvSpPr>
        <p:spPr>
          <a:xfrm>
            <a:off x="11146536" y="3017520"/>
            <a:ext cx="868680" cy="329184"/>
          </a:xfrm>
          <a:prstGeom prst="roundRect">
            <a:avLst>
              <a:gd name="adj" fmla="val 22222"/>
            </a:avLst>
          </a:prstGeom>
          <a:solidFill>
            <a:srgbClr val="2A6472"/>
          </a:solidFill>
          <a:ln w="9525">
            <a:solidFill>
              <a:srgbClr val="2A6472"/>
            </a:solidFill>
          </a:ln>
        </p:spPr>
        <p:txBody>
          <a:bodyPr wrap="square" lIns="0" tIns="0" rIns="0" bIns="0" rtlCol="0" anchor="ctr"/>
          <a:lstStyle/>
          <a:p>
            <a:pPr algn="ctr" indent="0" marL="0">
              <a:buNone/>
            </a:pPr>
            <a:r>
              <a:rPr lang="en-US" sz="1050" b="1" dirty="0">
                <a:solidFill>
                  <a:srgbClr val="DCE9EC"/>
                </a:solidFill>
                <a:latin typeface="Courier New" pitchFamily="34" charset="0"/>
                <a:ea typeface="Courier New" pitchFamily="34" charset="-122"/>
                <a:cs typeface="Courier New" pitchFamily="34" charset="-120"/>
              </a:rPr>
              <a:t>Sernac</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La decisión que se pide hoy</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Tres acuerdos cualitativos. En esta etapa no se solicitan montos ni dotación adicional.</a:t>
            </a:r>
            <a:endParaRPr lang="en-US" sz="1400" dirty="0"/>
          </a:p>
        </p:txBody>
      </p:sp>
      <p:sp>
        <p:nvSpPr>
          <p:cNvPr id="4" name="Shape 2"/>
          <p:cNvSpPr/>
          <p:nvPr/>
        </p:nvSpPr>
        <p:spPr>
          <a:xfrm>
            <a:off x="548640" y="1810512"/>
            <a:ext cx="640080" cy="640080"/>
          </a:xfrm>
          <a:prstGeom prst="ellipse">
            <a:avLst/>
          </a:prstGeom>
          <a:solidFill>
            <a:srgbClr val="1F4E5A"/>
          </a:solidFill>
          <a:ln w="12700">
            <a:solidFill>
              <a:srgbClr val="1F4E5A"/>
            </a:solidFill>
            <a:prstDash val="solid"/>
          </a:ln>
        </p:spPr>
      </p:sp>
      <p:sp>
        <p:nvSpPr>
          <p:cNvPr id="5" name="Text 3"/>
          <p:cNvSpPr txBox="1"/>
          <p:nvPr/>
        </p:nvSpPr>
        <p:spPr>
          <a:xfrm>
            <a:off x="548640" y="18105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463040" y="1737360"/>
            <a:ext cx="9875520" cy="411480"/>
          </a:xfrm>
          <a:prstGeom prst="rect">
            <a:avLst/>
          </a:prstGeom>
          <a:noFill/>
          <a:ln/>
        </p:spPr>
        <p:txBody>
          <a:bodyPr wrap="square" lIns="0" tIns="0" rIns="0" bIns="0" rtlCol="0" anchor="ctr"/>
          <a:lstStyle/>
          <a:p>
            <a:pPr indent="0" marL="0">
              <a:buNone/>
            </a:pPr>
            <a:r>
              <a:rPr lang="en-US" sz="1800" b="1" dirty="0">
                <a:solidFill>
                  <a:srgbClr val="1F4E5A"/>
                </a:solidFill>
                <a:latin typeface="Cambria" pitchFamily="34" charset="0"/>
                <a:ea typeface="Cambria" pitchFamily="34" charset="-122"/>
                <a:cs typeface="Cambria" pitchFamily="34" charset="-120"/>
              </a:rPr>
              <a:t>Mandatar la reevaluación de la escala de cargos</a:t>
            </a:r>
            <a:endParaRPr lang="en-US" sz="1800" dirty="0"/>
          </a:p>
        </p:txBody>
      </p:sp>
      <p:sp>
        <p:nvSpPr>
          <p:cNvPr id="7" name="Text 5"/>
          <p:cNvSpPr txBox="1"/>
          <p:nvPr/>
        </p:nvSpPr>
        <p:spPr>
          <a:xfrm>
            <a:off x="1463040" y="2167128"/>
            <a:ext cx="9875520" cy="731520"/>
          </a:xfrm>
          <a:prstGeom prst="rect">
            <a:avLst/>
          </a:prstGeom>
          <a:noFill/>
          <a:ln/>
        </p:spPr>
        <p:txBody>
          <a:bodyPr wrap="square" lIns="0" tIns="0" rIns="0" bIns="0" rtlCol="0" anchor="t"/>
          <a:lstStyle/>
          <a:p>
            <a:pPr indent="0" marL="0">
              <a:buNone/>
            </a:pPr>
            <a:r>
              <a:rPr lang="en-US" sz="1300" dirty="0">
                <a:solidFill>
                  <a:srgbClr val="1B2A30"/>
                </a:solidFill>
                <a:latin typeface="Calibri" pitchFamily="34" charset="0"/>
                <a:ea typeface="Calibri" pitchFamily="34" charset="-122"/>
                <a:cs typeface="Calibri" pitchFamily="34" charset="-120"/>
              </a:rPr>
              <a:t>Que Personas y la gerencia realicen una valoración formal de los cargos del equipo de reportes normativos, con la rúbrica de alcance que se presenta en este documento.</a:t>
            </a:r>
            <a:endParaRPr lang="en-US" sz="1300" dirty="0"/>
          </a:p>
        </p:txBody>
      </p:sp>
      <p:sp>
        <p:nvSpPr>
          <p:cNvPr id="8" name="Shape 6"/>
          <p:cNvSpPr/>
          <p:nvPr/>
        </p:nvSpPr>
        <p:spPr>
          <a:xfrm>
            <a:off x="548640" y="3182112"/>
            <a:ext cx="640080" cy="640080"/>
          </a:xfrm>
          <a:prstGeom prst="ellipse">
            <a:avLst/>
          </a:prstGeom>
          <a:solidFill>
            <a:srgbClr val="1F4E5A"/>
          </a:solidFill>
          <a:ln w="12700">
            <a:solidFill>
              <a:srgbClr val="1F4E5A"/>
            </a:solidFill>
            <a:prstDash val="solid"/>
          </a:ln>
        </p:spPr>
      </p:sp>
      <p:sp>
        <p:nvSpPr>
          <p:cNvPr id="9" name="Text 7"/>
          <p:cNvSpPr txBox="1"/>
          <p:nvPr/>
        </p:nvSpPr>
        <p:spPr>
          <a:xfrm>
            <a:off x="548640" y="31821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463040" y="3108960"/>
            <a:ext cx="9875520" cy="411480"/>
          </a:xfrm>
          <a:prstGeom prst="rect">
            <a:avLst/>
          </a:prstGeom>
          <a:noFill/>
          <a:ln/>
        </p:spPr>
        <p:txBody>
          <a:bodyPr wrap="square" lIns="0" tIns="0" rIns="0" bIns="0" rtlCol="0" anchor="ctr"/>
          <a:lstStyle/>
          <a:p>
            <a:pPr indent="0" marL="0">
              <a:buNone/>
            </a:pPr>
            <a:r>
              <a:rPr lang="en-US" sz="1800" b="1" dirty="0">
                <a:solidFill>
                  <a:srgbClr val="1F4E5A"/>
                </a:solidFill>
                <a:latin typeface="Cambria" pitchFamily="34" charset="0"/>
                <a:ea typeface="Cambria" pitchFamily="34" charset="-122"/>
                <a:cs typeface="Cambria" pitchFamily="34" charset="-120"/>
              </a:rPr>
              <a:t>Reconocer la función como crítica de cumplimiento</a:t>
            </a:r>
            <a:endParaRPr lang="en-US" sz="1800" dirty="0"/>
          </a:p>
        </p:txBody>
      </p:sp>
      <p:sp>
        <p:nvSpPr>
          <p:cNvPr id="11" name="Text 9"/>
          <p:cNvSpPr txBox="1"/>
          <p:nvPr/>
        </p:nvSpPr>
        <p:spPr>
          <a:xfrm>
            <a:off x="1463040" y="3538728"/>
            <a:ext cx="9875520" cy="731520"/>
          </a:xfrm>
          <a:prstGeom prst="rect">
            <a:avLst/>
          </a:prstGeom>
          <a:noFill/>
          <a:ln/>
        </p:spPr>
        <p:txBody>
          <a:bodyPr wrap="square" lIns="0" tIns="0" rIns="0" bIns="0" rtlCol="0" anchor="t"/>
          <a:lstStyle/>
          <a:p>
            <a:pPr indent="0" marL="0">
              <a:buNone/>
            </a:pPr>
            <a:r>
              <a:rPr lang="en-US" sz="1300" dirty="0">
                <a:solidFill>
                  <a:srgbClr val="1B2A30"/>
                </a:solidFill>
                <a:latin typeface="Calibri" pitchFamily="34" charset="0"/>
                <a:ea typeface="Calibri" pitchFamily="34" charset="-122"/>
                <a:cs typeface="Calibri" pitchFamily="34" charset="-120"/>
              </a:rPr>
              <a:t>Formalizar en la estructura que la generación, validación y envío de reportes normativos es una función de control, no una tarea operativa de un producto.</a:t>
            </a:r>
            <a:endParaRPr lang="en-US" sz="1300" dirty="0"/>
          </a:p>
        </p:txBody>
      </p:sp>
      <p:sp>
        <p:nvSpPr>
          <p:cNvPr id="12" name="Shape 10"/>
          <p:cNvSpPr/>
          <p:nvPr/>
        </p:nvSpPr>
        <p:spPr>
          <a:xfrm>
            <a:off x="548640" y="4553712"/>
            <a:ext cx="640080" cy="640080"/>
          </a:xfrm>
          <a:prstGeom prst="ellipse">
            <a:avLst/>
          </a:prstGeom>
          <a:solidFill>
            <a:srgbClr val="1F4E5A"/>
          </a:solidFill>
          <a:ln w="12700">
            <a:solidFill>
              <a:srgbClr val="1F4E5A"/>
            </a:solidFill>
            <a:prstDash val="solid"/>
          </a:ln>
        </p:spPr>
      </p:sp>
      <p:sp>
        <p:nvSpPr>
          <p:cNvPr id="13" name="Text 11"/>
          <p:cNvSpPr txBox="1"/>
          <p:nvPr/>
        </p:nvSpPr>
        <p:spPr>
          <a:xfrm>
            <a:off x="548640" y="45537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463040" y="4480560"/>
            <a:ext cx="9875520" cy="411480"/>
          </a:xfrm>
          <a:prstGeom prst="rect">
            <a:avLst/>
          </a:prstGeom>
          <a:noFill/>
          <a:ln/>
        </p:spPr>
        <p:txBody>
          <a:bodyPr wrap="square" lIns="0" tIns="0" rIns="0" bIns="0" rtlCol="0" anchor="ctr"/>
          <a:lstStyle/>
          <a:p>
            <a:pPr indent="0" marL="0">
              <a:buNone/>
            </a:pPr>
            <a:r>
              <a:rPr lang="en-US" sz="1800" b="1" dirty="0">
                <a:solidFill>
                  <a:srgbClr val="1F4E5A"/>
                </a:solidFill>
                <a:latin typeface="Cambria" pitchFamily="34" charset="0"/>
                <a:ea typeface="Cambria" pitchFamily="34" charset="-122"/>
                <a:cs typeface="Cambria" pitchFamily="34" charset="-120"/>
              </a:rPr>
              <a:t>Patrocinio y fecha de retorno</a:t>
            </a:r>
            <a:endParaRPr lang="en-US" sz="1800" dirty="0"/>
          </a:p>
        </p:txBody>
      </p:sp>
      <p:sp>
        <p:nvSpPr>
          <p:cNvPr id="15" name="Text 13"/>
          <p:cNvSpPr txBox="1"/>
          <p:nvPr/>
        </p:nvSpPr>
        <p:spPr>
          <a:xfrm>
            <a:off x="1463040" y="4910328"/>
            <a:ext cx="9875520" cy="731520"/>
          </a:xfrm>
          <a:prstGeom prst="rect">
            <a:avLst/>
          </a:prstGeom>
          <a:noFill/>
          <a:ln/>
        </p:spPr>
        <p:txBody>
          <a:bodyPr wrap="square" lIns="0" tIns="0" rIns="0" bIns="0" rtlCol="0" anchor="t"/>
          <a:lstStyle/>
          <a:p>
            <a:pPr indent="0" marL="0">
              <a:buNone/>
            </a:pPr>
            <a:r>
              <a:rPr lang="en-US" sz="1300" dirty="0">
                <a:solidFill>
                  <a:srgbClr val="1B2A30"/>
                </a:solidFill>
                <a:latin typeface="Calibri" pitchFamily="34" charset="0"/>
                <a:ea typeface="Calibri" pitchFamily="34" charset="-122"/>
                <a:cs typeface="Calibri" pitchFamily="34" charset="-120"/>
              </a:rPr>
              <a:t>Un gerente patrocinador y una fecha para volver al comité con la escala propuesta y su costo, una vez completado el diagnóstico.</a:t>
            </a:r>
            <a:endParaRPr lang="en-US" sz="1300" dirty="0"/>
          </a:p>
        </p:txBody>
      </p:sp>
      <p:sp>
        <p:nvSpPr>
          <p:cNvPr id="16" name="Shape 14"/>
          <p:cNvSpPr/>
          <p:nvPr/>
        </p:nvSpPr>
        <p:spPr>
          <a:xfrm>
            <a:off x="548640" y="5760720"/>
            <a:ext cx="11091672" cy="548640"/>
          </a:xfrm>
          <a:prstGeom prst="roundRect">
            <a:avLst>
              <a:gd name="adj" fmla="val 13333"/>
            </a:avLst>
          </a:prstGeom>
          <a:solidFill>
            <a:srgbClr val="F1F6F7"/>
          </a:solidFill>
          <a:ln w="9525">
            <a:solidFill>
              <a:srgbClr val="C9D6DA"/>
            </a:solidFill>
            <a:prstDash val="solid"/>
          </a:ln>
        </p:spPr>
      </p:sp>
      <p:sp>
        <p:nvSpPr>
          <p:cNvPr id="17" name="Text 15"/>
          <p:cNvSpPr txBox="1"/>
          <p:nvPr/>
        </p:nvSpPr>
        <p:spPr>
          <a:xfrm>
            <a:off x="731520" y="5760720"/>
            <a:ext cx="10725912" cy="548640"/>
          </a:xfrm>
          <a:prstGeom prst="rect">
            <a:avLst/>
          </a:prstGeom>
          <a:noFill/>
          <a:ln/>
        </p:spPr>
        <p:txBody>
          <a:bodyPr wrap="square" lIns="0" tIns="0" rIns="0" bIns="0" rtlCol="0" anchor="ctr"/>
          <a:lstStyle/>
          <a:p>
            <a:pPr indent="0" marL="0">
              <a:buNone/>
            </a:pPr>
            <a:r>
              <a:rPr lang="en-US" sz="1250" b="1" dirty="0">
                <a:solidFill>
                  <a:srgbClr val="1B2A30"/>
                </a:solidFill>
                <a:latin typeface="Calibri" pitchFamily="34" charset="0"/>
                <a:ea typeface="Calibri" pitchFamily="34" charset="-122"/>
                <a:cs typeface="Calibri" pitchFamily="34" charset="-120"/>
              </a:rPr>
              <a:t>Lo que no se pide hoy: </a:t>
            </a:r>
            <a:pPr indent="0" marL="0">
              <a:buNone/>
            </a:pPr>
            <a:r>
              <a:rPr lang="en-US" sz="1250" dirty="0">
                <a:solidFill>
                  <a:srgbClr val="1B2A30"/>
                </a:solidFill>
                <a:latin typeface="Calibri" pitchFamily="34" charset="0"/>
                <a:ea typeface="Calibri" pitchFamily="34" charset="-122"/>
                <a:cs typeface="Calibri" pitchFamily="34" charset="-120"/>
              </a:rPr>
              <a:t>cifras de remuneración, aumento de dotación ni cambios de estructura. Esos elementos se traen al comité con el resultado del diagnóstico.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De una demanda que no llegó a 18 reportes</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Recorrido 2020 a 2026 según las presentaciones internas de la unidad.</a:t>
            </a:r>
            <a:endParaRPr lang="en-US" sz="1400" dirty="0"/>
          </a:p>
        </p:txBody>
      </p:sp>
      <p:sp>
        <p:nvSpPr>
          <p:cNvPr id="4" name="Text 2"/>
          <p:cNvSpPr txBox="1"/>
          <p:nvPr/>
        </p:nvSpPr>
        <p:spPr>
          <a:xfrm>
            <a:off x="548640" y="1691640"/>
            <a:ext cx="2743200" cy="822960"/>
          </a:xfrm>
          <a:prstGeom prst="rect">
            <a:avLst/>
          </a:prstGeom>
          <a:noFill/>
          <a:ln/>
        </p:spPr>
        <p:txBody>
          <a:bodyPr wrap="square" lIns="0" tIns="0" rIns="0" bIns="0" rtlCol="0" anchor="ctr"/>
          <a:lstStyle/>
          <a:p>
            <a:pPr indent="0" marL="0">
              <a:buNone/>
            </a:pPr>
            <a:r>
              <a:rPr lang="en-US" sz="4400" b="1" dirty="0">
                <a:solidFill>
                  <a:srgbClr val="8A979C"/>
                </a:solidFill>
                <a:latin typeface="Calibri" pitchFamily="34" charset="0"/>
                <a:ea typeface="Calibri" pitchFamily="34" charset="-122"/>
                <a:cs typeface="Calibri" pitchFamily="34" charset="-120"/>
              </a:rPr>
              <a:t>4.608</a:t>
            </a:r>
            <a:endParaRPr lang="en-US" sz="4400" dirty="0"/>
          </a:p>
        </p:txBody>
      </p:sp>
      <p:sp>
        <p:nvSpPr>
          <p:cNvPr id="5" name="Text 3"/>
          <p:cNvSpPr txBox="1"/>
          <p:nvPr/>
        </p:nvSpPr>
        <p:spPr>
          <a:xfrm>
            <a:off x="548640" y="2514600"/>
            <a:ext cx="2743200" cy="640080"/>
          </a:xfrm>
          <a:prstGeom prst="rect">
            <a:avLst/>
          </a:prstGeom>
          <a:noFill/>
          <a:ln/>
        </p:spPr>
        <p:txBody>
          <a:bodyPr wrap="square" lIns="0" tIns="0" rIns="0" bIns="0" rtlCol="0" anchor="t"/>
          <a:lstStyle/>
          <a:p>
            <a:pPr indent="0" marL="0">
              <a:buNone/>
            </a:pPr>
            <a:r>
              <a:rPr lang="en-US" sz="1200" dirty="0">
                <a:solidFill>
                  <a:srgbClr val="4A5B62"/>
                </a:solidFill>
                <a:latin typeface="Calibri" pitchFamily="34" charset="0"/>
                <a:ea typeface="Calibri" pitchFamily="34" charset="-122"/>
                <a:cs typeface="Calibri" pitchFamily="34" charset="-120"/>
              </a:rPr>
              <a:t>solicitudes de portabilidad proyectadas por año al crear la unidad en 2020</a:t>
            </a:r>
            <a:endParaRPr lang="en-US" sz="1200" dirty="0"/>
          </a:p>
        </p:txBody>
      </p:sp>
      <p:sp>
        <p:nvSpPr>
          <p:cNvPr id="6" name="Text 4"/>
          <p:cNvSpPr txBox="1"/>
          <p:nvPr/>
        </p:nvSpPr>
        <p:spPr>
          <a:xfrm>
            <a:off x="3474720" y="1691640"/>
            <a:ext cx="2743200" cy="822960"/>
          </a:xfrm>
          <a:prstGeom prst="rect">
            <a:avLst/>
          </a:prstGeom>
          <a:noFill/>
          <a:ln/>
        </p:spPr>
        <p:txBody>
          <a:bodyPr wrap="square" lIns="0" tIns="0" rIns="0" bIns="0" rtlCol="0" anchor="ctr"/>
          <a:lstStyle/>
          <a:p>
            <a:pPr indent="0" marL="0">
              <a:buNone/>
            </a:pPr>
            <a:r>
              <a:rPr lang="en-US" sz="4400" b="1" dirty="0">
                <a:solidFill>
                  <a:srgbClr val="1F4E5A"/>
                </a:solidFill>
                <a:latin typeface="Calibri" pitchFamily="34" charset="0"/>
                <a:ea typeface="Calibri" pitchFamily="34" charset="-122"/>
                <a:cs typeface="Calibri" pitchFamily="34" charset="-120"/>
              </a:rPr>
              <a:t>18</a:t>
            </a:r>
            <a:endParaRPr lang="en-US" sz="4400" dirty="0"/>
          </a:p>
        </p:txBody>
      </p:sp>
      <p:sp>
        <p:nvSpPr>
          <p:cNvPr id="7" name="Text 5"/>
          <p:cNvSpPr txBox="1"/>
          <p:nvPr/>
        </p:nvSpPr>
        <p:spPr>
          <a:xfrm>
            <a:off x="3474720" y="2514600"/>
            <a:ext cx="2743200" cy="640080"/>
          </a:xfrm>
          <a:prstGeom prst="rect">
            <a:avLst/>
          </a:prstGeom>
          <a:noFill/>
          <a:ln/>
        </p:spPr>
        <p:txBody>
          <a:bodyPr wrap="square" lIns="0" tIns="0" rIns="0" bIns="0" rtlCol="0" anchor="t"/>
          <a:lstStyle/>
          <a:p>
            <a:pPr indent="0" marL="0">
              <a:buNone/>
            </a:pPr>
            <a:r>
              <a:rPr lang="en-US" sz="1200" dirty="0">
                <a:solidFill>
                  <a:srgbClr val="4A5B62"/>
                </a:solidFill>
                <a:latin typeface="Calibri" pitchFamily="34" charset="0"/>
                <a:ea typeface="Calibri" pitchFamily="34" charset="-122"/>
                <a:cs typeface="Calibri" pitchFamily="34" charset="-120"/>
              </a:rPr>
              <a:t>solicitudes de portabilidad gestionadas en 2024 (1,5 por mes)</a:t>
            </a:r>
            <a:endParaRPr lang="en-US" sz="1200" dirty="0"/>
          </a:p>
        </p:txBody>
      </p:sp>
      <p:sp>
        <p:nvSpPr>
          <p:cNvPr id="8" name="Text 6"/>
          <p:cNvSpPr txBox="1"/>
          <p:nvPr/>
        </p:nvSpPr>
        <p:spPr>
          <a:xfrm>
            <a:off x="6400800" y="1691640"/>
            <a:ext cx="2743200" cy="822960"/>
          </a:xfrm>
          <a:prstGeom prst="rect">
            <a:avLst/>
          </a:prstGeom>
          <a:noFill/>
          <a:ln/>
        </p:spPr>
        <p:txBody>
          <a:bodyPr wrap="square" lIns="0" tIns="0" rIns="0" bIns="0" rtlCol="0" anchor="ctr"/>
          <a:lstStyle/>
          <a:p>
            <a:pPr indent="0" marL="0">
              <a:buNone/>
            </a:pPr>
            <a:r>
              <a:rPr lang="en-US" sz="4400" b="1" dirty="0">
                <a:solidFill>
                  <a:srgbClr val="1F4FD1"/>
                </a:solidFill>
                <a:latin typeface="Calibri" pitchFamily="34" charset="0"/>
                <a:ea typeface="Calibri" pitchFamily="34" charset="-122"/>
                <a:cs typeface="Calibri" pitchFamily="34" charset="-120"/>
              </a:rPr>
              <a:t>1 → 18</a:t>
            </a:r>
            <a:endParaRPr lang="en-US" sz="4400" dirty="0"/>
          </a:p>
        </p:txBody>
      </p:sp>
      <p:sp>
        <p:nvSpPr>
          <p:cNvPr id="9" name="Text 7"/>
          <p:cNvSpPr txBox="1"/>
          <p:nvPr/>
        </p:nvSpPr>
        <p:spPr>
          <a:xfrm>
            <a:off x="6400800" y="2514600"/>
            <a:ext cx="2743200" cy="640080"/>
          </a:xfrm>
          <a:prstGeom prst="rect">
            <a:avLst/>
          </a:prstGeom>
          <a:noFill/>
          <a:ln/>
        </p:spPr>
        <p:txBody>
          <a:bodyPr wrap="square" lIns="0" tIns="0" rIns="0" bIns="0" rtlCol="0" anchor="t"/>
          <a:lstStyle/>
          <a:p>
            <a:pPr indent="0" marL="0">
              <a:buNone/>
            </a:pPr>
            <a:r>
              <a:rPr lang="en-US" sz="1200" dirty="0">
                <a:solidFill>
                  <a:srgbClr val="4A5B62"/>
                </a:solidFill>
                <a:latin typeface="Calibri" pitchFamily="34" charset="0"/>
                <a:ea typeface="Calibri" pitchFamily="34" charset="-122"/>
                <a:cs typeface="Calibri" pitchFamily="34" charset="-120"/>
              </a:rPr>
              <a:t>reportes normativos bajo responsabilidad del equipo, de 2022 a 2026</a:t>
            </a:r>
            <a:endParaRPr lang="en-US" sz="1200" dirty="0"/>
          </a:p>
        </p:txBody>
      </p:sp>
      <p:sp>
        <p:nvSpPr>
          <p:cNvPr id="10" name="Text 8"/>
          <p:cNvSpPr txBox="1"/>
          <p:nvPr/>
        </p:nvSpPr>
        <p:spPr>
          <a:xfrm>
            <a:off x="9326880" y="1691640"/>
            <a:ext cx="2377440" cy="822960"/>
          </a:xfrm>
          <a:prstGeom prst="rect">
            <a:avLst/>
          </a:prstGeom>
          <a:noFill/>
          <a:ln/>
        </p:spPr>
        <p:txBody>
          <a:bodyPr wrap="square" lIns="0" tIns="0" rIns="0" bIns="0" rtlCol="0" anchor="ctr"/>
          <a:lstStyle/>
          <a:p>
            <a:pPr indent="0" marL="0">
              <a:buNone/>
            </a:pPr>
            <a:r>
              <a:rPr lang="en-US" sz="4400" b="1" dirty="0">
                <a:solidFill>
                  <a:srgbClr val="1F4E5A"/>
                </a:solidFill>
                <a:latin typeface="Calibri" pitchFamily="34" charset="0"/>
                <a:ea typeface="Calibri" pitchFamily="34" charset="-122"/>
                <a:cs typeface="Calibri" pitchFamily="34" charset="-120"/>
              </a:rPr>
              <a:t>5 → 6</a:t>
            </a:r>
            <a:endParaRPr lang="en-US" sz="4400" dirty="0"/>
          </a:p>
        </p:txBody>
      </p:sp>
      <p:sp>
        <p:nvSpPr>
          <p:cNvPr id="11" name="Text 9"/>
          <p:cNvSpPr txBox="1"/>
          <p:nvPr/>
        </p:nvSpPr>
        <p:spPr>
          <a:xfrm>
            <a:off x="9326880" y="2514600"/>
            <a:ext cx="2377440" cy="640080"/>
          </a:xfrm>
          <a:prstGeom prst="rect">
            <a:avLst/>
          </a:prstGeom>
          <a:noFill/>
          <a:ln/>
        </p:spPr>
        <p:txBody>
          <a:bodyPr wrap="square" lIns="0" tIns="0" rIns="0" bIns="0" rtlCol="0" anchor="t"/>
          <a:lstStyle/>
          <a:p>
            <a:pPr indent="0" marL="0">
              <a:buNone/>
            </a:pPr>
            <a:r>
              <a:rPr lang="en-US" sz="1200" dirty="0">
                <a:solidFill>
                  <a:srgbClr val="4A5B62"/>
                </a:solidFill>
                <a:latin typeface="Calibri" pitchFamily="34" charset="0"/>
                <a:ea typeface="Calibri" pitchFamily="34" charset="-122"/>
                <a:cs typeface="Calibri" pitchFamily="34" charset="-120"/>
              </a:rPr>
              <a:t>personas en la unidad en todo el período</a:t>
            </a:r>
            <a:endParaRPr lang="en-US" sz="1200" dirty="0"/>
          </a:p>
        </p:txBody>
      </p:sp>
      <p:sp>
        <p:nvSpPr>
          <p:cNvPr id="12" name="Shape 10"/>
          <p:cNvSpPr/>
          <p:nvPr/>
        </p:nvSpPr>
        <p:spPr>
          <a:xfrm>
            <a:off x="548640" y="4160520"/>
            <a:ext cx="11091672" cy="0"/>
          </a:xfrm>
          <a:prstGeom prst="line">
            <a:avLst/>
          </a:prstGeom>
          <a:noFill/>
          <a:ln w="19050">
            <a:solidFill>
              <a:srgbClr val="C9D6DA"/>
            </a:solidFill>
            <a:prstDash val="solid"/>
          </a:ln>
        </p:spPr>
      </p:sp>
      <p:sp>
        <p:nvSpPr>
          <p:cNvPr id="13" name="Shape 11"/>
          <p:cNvSpPr/>
          <p:nvPr/>
        </p:nvSpPr>
        <p:spPr>
          <a:xfrm>
            <a:off x="548640" y="4059936"/>
            <a:ext cx="201168" cy="201168"/>
          </a:xfrm>
          <a:prstGeom prst="ellipse">
            <a:avLst/>
          </a:prstGeom>
          <a:solidFill>
            <a:srgbClr val="1F4E5A"/>
          </a:solidFill>
          <a:ln w="19050">
            <a:solidFill>
              <a:srgbClr val="FFFFFF"/>
            </a:solidFill>
            <a:prstDash val="solid"/>
          </a:ln>
        </p:spPr>
      </p:sp>
      <p:sp>
        <p:nvSpPr>
          <p:cNvPr id="14" name="Text 12"/>
          <p:cNvSpPr txBox="1"/>
          <p:nvPr/>
        </p:nvSpPr>
        <p:spPr>
          <a:xfrm>
            <a:off x="548640" y="4361688"/>
            <a:ext cx="2035454" cy="365760"/>
          </a:xfrm>
          <a:prstGeom prst="rect">
            <a:avLst/>
          </a:prstGeom>
          <a:noFill/>
          <a:ln/>
        </p:spPr>
        <p:txBody>
          <a:bodyPr wrap="square" lIns="0" tIns="0" rIns="0" bIns="0" rtlCol="0" anchor="ctr"/>
          <a:lstStyle/>
          <a:p>
            <a:pPr indent="0" marL="0">
              <a:buNone/>
            </a:pPr>
            <a:r>
              <a:rPr lang="en-US" sz="1600" b="1" dirty="0">
                <a:solidFill>
                  <a:srgbClr val="1F4E5A"/>
                </a:solidFill>
                <a:latin typeface="Cambria" pitchFamily="34" charset="0"/>
                <a:ea typeface="Cambria" pitchFamily="34" charset="-122"/>
                <a:cs typeface="Cambria" pitchFamily="34" charset="-120"/>
              </a:rPr>
              <a:t>2020</a:t>
            </a:r>
            <a:endParaRPr lang="en-US" sz="1600" dirty="0"/>
          </a:p>
        </p:txBody>
      </p:sp>
      <p:sp>
        <p:nvSpPr>
          <p:cNvPr id="15" name="Text 13"/>
          <p:cNvSpPr txBox="1"/>
          <p:nvPr/>
        </p:nvSpPr>
        <p:spPr>
          <a:xfrm>
            <a:off x="548640" y="4727448"/>
            <a:ext cx="2035454" cy="13716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Nace la unidad para cumplir la Ley 21.236 de Portabilidad Financiera. Requisito del cargo: Excel básico.</a:t>
            </a:r>
            <a:endParaRPr lang="en-US" sz="1150" dirty="0"/>
          </a:p>
        </p:txBody>
      </p:sp>
      <p:sp>
        <p:nvSpPr>
          <p:cNvPr id="16" name="Shape 14"/>
          <p:cNvSpPr/>
          <p:nvPr/>
        </p:nvSpPr>
        <p:spPr>
          <a:xfrm>
            <a:off x="2766974" y="4059936"/>
            <a:ext cx="201168" cy="201168"/>
          </a:xfrm>
          <a:prstGeom prst="ellipse">
            <a:avLst/>
          </a:prstGeom>
          <a:solidFill>
            <a:srgbClr val="1F4E5A"/>
          </a:solidFill>
          <a:ln w="19050">
            <a:solidFill>
              <a:srgbClr val="FFFFFF"/>
            </a:solidFill>
            <a:prstDash val="solid"/>
          </a:ln>
        </p:spPr>
      </p:sp>
      <p:sp>
        <p:nvSpPr>
          <p:cNvPr id="17" name="Text 15"/>
          <p:cNvSpPr txBox="1"/>
          <p:nvPr/>
        </p:nvSpPr>
        <p:spPr>
          <a:xfrm>
            <a:off x="2766974" y="4361688"/>
            <a:ext cx="2035454" cy="365760"/>
          </a:xfrm>
          <a:prstGeom prst="rect">
            <a:avLst/>
          </a:prstGeom>
          <a:noFill/>
          <a:ln/>
        </p:spPr>
        <p:txBody>
          <a:bodyPr wrap="square" lIns="0" tIns="0" rIns="0" bIns="0" rtlCol="0" anchor="ctr"/>
          <a:lstStyle/>
          <a:p>
            <a:pPr indent="0" marL="0">
              <a:buNone/>
            </a:pPr>
            <a:r>
              <a:rPr lang="en-US" sz="1600" b="1" dirty="0">
                <a:solidFill>
                  <a:srgbClr val="1F4E5A"/>
                </a:solidFill>
                <a:latin typeface="Cambria" pitchFamily="34" charset="0"/>
                <a:ea typeface="Cambria" pitchFamily="34" charset="-122"/>
                <a:cs typeface="Cambria" pitchFamily="34" charset="-120"/>
              </a:rPr>
              <a:t>2022</a:t>
            </a:r>
            <a:endParaRPr lang="en-US" sz="1600" dirty="0"/>
          </a:p>
        </p:txBody>
      </p:sp>
      <p:sp>
        <p:nvSpPr>
          <p:cNvPr id="18" name="Text 16"/>
          <p:cNvSpPr txBox="1"/>
          <p:nvPr/>
        </p:nvSpPr>
        <p:spPr>
          <a:xfrm>
            <a:off x="2766974" y="4727448"/>
            <a:ext cx="2035454" cy="13716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Asume el control del informe D10 y, desde octubre, 13 informes normativos a la CMF.</a:t>
            </a:r>
            <a:endParaRPr lang="en-US" sz="1150" dirty="0"/>
          </a:p>
        </p:txBody>
      </p:sp>
      <p:sp>
        <p:nvSpPr>
          <p:cNvPr id="19" name="Shape 17"/>
          <p:cNvSpPr/>
          <p:nvPr/>
        </p:nvSpPr>
        <p:spPr>
          <a:xfrm>
            <a:off x="4985309" y="4059936"/>
            <a:ext cx="201168" cy="201168"/>
          </a:xfrm>
          <a:prstGeom prst="ellipse">
            <a:avLst/>
          </a:prstGeom>
          <a:solidFill>
            <a:srgbClr val="1F4E5A"/>
          </a:solidFill>
          <a:ln w="19050">
            <a:solidFill>
              <a:srgbClr val="FFFFFF"/>
            </a:solidFill>
            <a:prstDash val="solid"/>
          </a:ln>
        </p:spPr>
      </p:sp>
      <p:sp>
        <p:nvSpPr>
          <p:cNvPr id="20" name="Text 18"/>
          <p:cNvSpPr txBox="1"/>
          <p:nvPr/>
        </p:nvSpPr>
        <p:spPr>
          <a:xfrm>
            <a:off x="4985309" y="4361688"/>
            <a:ext cx="2035454" cy="365760"/>
          </a:xfrm>
          <a:prstGeom prst="rect">
            <a:avLst/>
          </a:prstGeom>
          <a:noFill/>
          <a:ln/>
        </p:spPr>
        <p:txBody>
          <a:bodyPr wrap="square" lIns="0" tIns="0" rIns="0" bIns="0" rtlCol="0" anchor="ctr"/>
          <a:lstStyle/>
          <a:p>
            <a:pPr indent="0" marL="0">
              <a:buNone/>
            </a:pPr>
            <a:r>
              <a:rPr lang="en-US" sz="1600" b="1" dirty="0">
                <a:solidFill>
                  <a:srgbClr val="1F4E5A"/>
                </a:solidFill>
                <a:latin typeface="Cambria" pitchFamily="34" charset="0"/>
                <a:ea typeface="Cambria" pitchFamily="34" charset="-122"/>
                <a:cs typeface="Cambria" pitchFamily="34" charset="-120"/>
              </a:rPr>
              <a:t>2023</a:t>
            </a:r>
            <a:endParaRPr lang="en-US" sz="1600" dirty="0"/>
          </a:p>
        </p:txBody>
      </p:sp>
      <p:sp>
        <p:nvSpPr>
          <p:cNvPr id="21" name="Text 19"/>
          <p:cNvSpPr txBox="1"/>
          <p:nvPr/>
        </p:nvSpPr>
        <p:spPr>
          <a:xfrm>
            <a:off x="4985309" y="4727448"/>
            <a:ext cx="2035454" cy="13716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Se agregan D02, D51 y los archivos P; el equipo sostiene una eficacia promedio de 98,78 %.</a:t>
            </a:r>
            <a:endParaRPr lang="en-US" sz="1150" dirty="0"/>
          </a:p>
        </p:txBody>
      </p:sp>
      <p:sp>
        <p:nvSpPr>
          <p:cNvPr id="22" name="Shape 20"/>
          <p:cNvSpPr/>
          <p:nvPr/>
        </p:nvSpPr>
        <p:spPr>
          <a:xfrm>
            <a:off x="7203643" y="4059936"/>
            <a:ext cx="201168" cy="201168"/>
          </a:xfrm>
          <a:prstGeom prst="ellipse">
            <a:avLst/>
          </a:prstGeom>
          <a:solidFill>
            <a:srgbClr val="1F4E5A"/>
          </a:solidFill>
          <a:ln w="19050">
            <a:solidFill>
              <a:srgbClr val="FFFFFF"/>
            </a:solidFill>
            <a:prstDash val="solid"/>
          </a:ln>
        </p:spPr>
      </p:sp>
      <p:sp>
        <p:nvSpPr>
          <p:cNvPr id="23" name="Text 21"/>
          <p:cNvSpPr txBox="1"/>
          <p:nvPr/>
        </p:nvSpPr>
        <p:spPr>
          <a:xfrm>
            <a:off x="7203643" y="4361688"/>
            <a:ext cx="2035454" cy="365760"/>
          </a:xfrm>
          <a:prstGeom prst="rect">
            <a:avLst/>
          </a:prstGeom>
          <a:noFill/>
          <a:ln/>
        </p:spPr>
        <p:txBody>
          <a:bodyPr wrap="square" lIns="0" tIns="0" rIns="0" bIns="0" rtlCol="0" anchor="ctr"/>
          <a:lstStyle/>
          <a:p>
            <a:pPr indent="0" marL="0">
              <a:buNone/>
            </a:pPr>
            <a:r>
              <a:rPr lang="en-US" sz="1600" b="1" dirty="0">
                <a:solidFill>
                  <a:srgbClr val="1F4E5A"/>
                </a:solidFill>
                <a:latin typeface="Cambria" pitchFamily="34" charset="0"/>
                <a:ea typeface="Cambria" pitchFamily="34" charset="-122"/>
                <a:cs typeface="Cambria" pitchFamily="34" charset="-120"/>
              </a:rPr>
              <a:t>2024</a:t>
            </a:r>
            <a:endParaRPr lang="en-US" sz="1600" dirty="0"/>
          </a:p>
        </p:txBody>
      </p:sp>
      <p:sp>
        <p:nvSpPr>
          <p:cNvPr id="24" name="Text 22"/>
          <p:cNvSpPr txBox="1"/>
          <p:nvPr/>
        </p:nvSpPr>
        <p:spPr>
          <a:xfrm>
            <a:off x="7203643" y="4727448"/>
            <a:ext cx="2035454" cy="13716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Rediseño del cargo: SQL, Power BI, Databricks, mesas de trabajo normativo. Queda pendiente el pesaje de remuneración.</a:t>
            </a:r>
            <a:endParaRPr lang="en-US" sz="1150" dirty="0"/>
          </a:p>
        </p:txBody>
      </p:sp>
      <p:sp>
        <p:nvSpPr>
          <p:cNvPr id="25" name="Shape 23"/>
          <p:cNvSpPr/>
          <p:nvPr/>
        </p:nvSpPr>
        <p:spPr>
          <a:xfrm>
            <a:off x="9421978" y="4059936"/>
            <a:ext cx="201168" cy="201168"/>
          </a:xfrm>
          <a:prstGeom prst="ellipse">
            <a:avLst/>
          </a:prstGeom>
          <a:solidFill>
            <a:srgbClr val="1F4FD1"/>
          </a:solidFill>
          <a:ln w="19050">
            <a:solidFill>
              <a:srgbClr val="FFFFFF"/>
            </a:solidFill>
            <a:prstDash val="solid"/>
          </a:ln>
        </p:spPr>
      </p:sp>
      <p:sp>
        <p:nvSpPr>
          <p:cNvPr id="26" name="Text 24"/>
          <p:cNvSpPr txBox="1"/>
          <p:nvPr/>
        </p:nvSpPr>
        <p:spPr>
          <a:xfrm>
            <a:off x="9421978" y="4361688"/>
            <a:ext cx="2035454" cy="365760"/>
          </a:xfrm>
          <a:prstGeom prst="rect">
            <a:avLst/>
          </a:prstGeom>
          <a:noFill/>
          <a:ln/>
        </p:spPr>
        <p:txBody>
          <a:bodyPr wrap="square" lIns="0" tIns="0" rIns="0" bIns="0" rtlCol="0" anchor="ctr"/>
          <a:lstStyle/>
          <a:p>
            <a:pPr indent="0" marL="0">
              <a:buNone/>
            </a:pPr>
            <a:r>
              <a:rPr lang="en-US" sz="1600" b="1" dirty="0">
                <a:solidFill>
                  <a:srgbClr val="1F4FD1"/>
                </a:solidFill>
                <a:latin typeface="Cambria" pitchFamily="34" charset="0"/>
                <a:ea typeface="Cambria" pitchFamily="34" charset="-122"/>
                <a:cs typeface="Cambria" pitchFamily="34" charset="-120"/>
              </a:rPr>
              <a:t>2026</a:t>
            </a:r>
            <a:endParaRPr lang="en-US" sz="1600" dirty="0"/>
          </a:p>
        </p:txBody>
      </p:sp>
      <p:sp>
        <p:nvSpPr>
          <p:cNvPr id="27" name="Text 25"/>
          <p:cNvSpPr txBox="1"/>
          <p:nvPr/>
        </p:nvSpPr>
        <p:spPr>
          <a:xfrm>
            <a:off x="9421978" y="4727448"/>
            <a:ext cx="2035454" cy="13716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Entran los reportes diarios y semanales del Registro de Deuda Consolidada (RDC) y el reporte al SERNAC.</a:t>
            </a:r>
            <a:endParaRPr lang="en-US" sz="1150" dirty="0"/>
          </a:p>
        </p:txBody>
      </p:sp>
      <p:sp>
        <p:nvSpPr>
          <p:cNvPr id="28" name="Text 26"/>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979C"/>
                </a:solidFill>
                <a:latin typeface="Calibri" pitchFamily="34" charset="0"/>
                <a:ea typeface="Calibri" pitchFamily="34" charset="-122"/>
                <a:cs typeface="Calibri" pitchFamily="34" charset="-120"/>
              </a:rPr>
              <a:t>Fuente: presentaciones internas "Historia y métricas Portabilidad", "Evolución de la responsabilidad" y "Diseño organizacional Compliance 2024".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Lo que hoy sale de este equipo hacia el regulador</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18 reportes normativos a la CMF y al SERNAC, agrupados por frecuencia de envío.</a:t>
            </a:r>
            <a:endParaRPr lang="en-US" sz="1400" dirty="0"/>
          </a:p>
        </p:txBody>
      </p:sp>
      <p:sp>
        <p:nvSpPr>
          <p:cNvPr id="4" name="Text 2"/>
          <p:cNvSpPr txBox="1"/>
          <p:nvPr/>
        </p:nvSpPr>
        <p:spPr>
          <a:xfrm>
            <a:off x="548640" y="1691640"/>
            <a:ext cx="146304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Diario</a:t>
            </a:r>
            <a:endParaRPr lang="en-US" sz="1500" dirty="0"/>
          </a:p>
        </p:txBody>
      </p:sp>
      <p:sp>
        <p:nvSpPr>
          <p:cNvPr id="5" name="Text 3"/>
          <p:cNvSpPr txBox="1"/>
          <p:nvPr/>
        </p:nvSpPr>
        <p:spPr>
          <a:xfrm>
            <a:off x="548640" y="2057400"/>
            <a:ext cx="1737360" cy="548640"/>
          </a:xfrm>
          <a:prstGeom prst="rect">
            <a:avLst/>
          </a:prstGeom>
          <a:noFill/>
          <a:ln/>
        </p:spPr>
        <p:txBody>
          <a:bodyPr wrap="square" lIns="0" tIns="0" rIns="0" bIns="0" rtlCol="0" anchor="t"/>
          <a:lstStyle/>
          <a:p>
            <a:pPr indent="0" marL="0">
              <a:buNone/>
            </a:pPr>
            <a:r>
              <a:rPr lang="en-US" sz="1000" dirty="0">
                <a:solidFill>
                  <a:srgbClr val="4A5B62"/>
                </a:solidFill>
                <a:latin typeface="Calibri" pitchFamily="34" charset="0"/>
                <a:ea typeface="Calibri" pitchFamily="34" charset="-122"/>
                <a:cs typeface="Calibri" pitchFamily="34" charset="-120"/>
              </a:rPr>
              <a:t>Cada día hábil, sin margen de atraso</a:t>
            </a:r>
            <a:endParaRPr lang="en-US" sz="1000" dirty="0"/>
          </a:p>
        </p:txBody>
      </p:sp>
      <p:sp>
        <p:nvSpPr>
          <p:cNvPr id="6" name="Text 4"/>
          <p:cNvSpPr txBox="1"/>
          <p:nvPr/>
        </p:nvSpPr>
        <p:spPr>
          <a:xfrm>
            <a:off x="2468880" y="1691640"/>
            <a:ext cx="896112" cy="329184"/>
          </a:xfrm>
          <a:prstGeom prst="roundRect">
            <a:avLst>
              <a:gd name="adj" fmla="val 22222"/>
            </a:avLst>
          </a:prstGeom>
          <a:solidFill>
            <a:srgbClr val="1F4E5A"/>
          </a:solidFill>
          <a:ln w="9525">
            <a:solidFill>
              <a:srgbClr val="1F4E5A"/>
            </a:solid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R05</a:t>
            </a:r>
            <a:endParaRPr lang="en-US" sz="1100" dirty="0"/>
          </a:p>
        </p:txBody>
      </p:sp>
      <p:sp>
        <p:nvSpPr>
          <p:cNvPr id="7" name="Text 5"/>
          <p:cNvSpPr txBox="1"/>
          <p:nvPr/>
        </p:nvSpPr>
        <p:spPr>
          <a:xfrm>
            <a:off x="3456432" y="1691640"/>
            <a:ext cx="896112" cy="329184"/>
          </a:xfrm>
          <a:prstGeom prst="roundRect">
            <a:avLst>
              <a:gd name="adj" fmla="val 22222"/>
            </a:avLst>
          </a:prstGeom>
          <a:solidFill>
            <a:srgbClr val="1F4E5A"/>
          </a:solidFill>
          <a:ln w="9525">
            <a:solidFill>
              <a:srgbClr val="1F4E5A"/>
            </a:solid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RDC40</a:t>
            </a:r>
            <a:endParaRPr lang="en-US" sz="1100" dirty="0"/>
          </a:p>
        </p:txBody>
      </p:sp>
      <p:sp>
        <p:nvSpPr>
          <p:cNvPr id="8" name="Text 6"/>
          <p:cNvSpPr txBox="1"/>
          <p:nvPr/>
        </p:nvSpPr>
        <p:spPr>
          <a:xfrm>
            <a:off x="548640" y="2560320"/>
            <a:ext cx="146304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Semanal</a:t>
            </a:r>
            <a:endParaRPr lang="en-US" sz="1500" dirty="0"/>
          </a:p>
        </p:txBody>
      </p:sp>
      <p:sp>
        <p:nvSpPr>
          <p:cNvPr id="9" name="Text 7"/>
          <p:cNvSpPr txBox="1"/>
          <p:nvPr/>
        </p:nvSpPr>
        <p:spPr>
          <a:xfrm>
            <a:off x="548640" y="2926080"/>
            <a:ext cx="1737360" cy="548640"/>
          </a:xfrm>
          <a:prstGeom prst="rect">
            <a:avLst/>
          </a:prstGeom>
          <a:noFill/>
          <a:ln/>
        </p:spPr>
        <p:txBody>
          <a:bodyPr wrap="square" lIns="0" tIns="0" rIns="0" bIns="0" rtlCol="0" anchor="t"/>
          <a:lstStyle/>
          <a:p>
            <a:pPr indent="0" marL="0">
              <a:buNone/>
            </a:pPr>
            <a:r>
              <a:rPr lang="en-US" sz="1000" dirty="0">
                <a:solidFill>
                  <a:srgbClr val="4A5B62"/>
                </a:solidFill>
                <a:latin typeface="Calibri" pitchFamily="34" charset="0"/>
                <a:ea typeface="Calibri" pitchFamily="34" charset="-122"/>
                <a:cs typeface="Calibri" pitchFamily="34" charset="-120"/>
              </a:rPr>
              <a:t>D10 y RDC01 también tienen versión mensual</a:t>
            </a:r>
            <a:endParaRPr lang="en-US" sz="1000" dirty="0"/>
          </a:p>
        </p:txBody>
      </p:sp>
      <p:sp>
        <p:nvSpPr>
          <p:cNvPr id="10" name="Text 8"/>
          <p:cNvSpPr txBox="1"/>
          <p:nvPr/>
        </p:nvSpPr>
        <p:spPr>
          <a:xfrm>
            <a:off x="2468880" y="256032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RDC02</a:t>
            </a:r>
            <a:endParaRPr lang="en-US" sz="1100" dirty="0"/>
          </a:p>
        </p:txBody>
      </p:sp>
      <p:sp>
        <p:nvSpPr>
          <p:cNvPr id="11" name="Text 9"/>
          <p:cNvSpPr txBox="1"/>
          <p:nvPr/>
        </p:nvSpPr>
        <p:spPr>
          <a:xfrm>
            <a:off x="3456432" y="256032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D10</a:t>
            </a:r>
            <a:endParaRPr lang="en-US" sz="1100" dirty="0"/>
          </a:p>
        </p:txBody>
      </p:sp>
      <p:sp>
        <p:nvSpPr>
          <p:cNvPr id="12" name="Text 10"/>
          <p:cNvSpPr txBox="1"/>
          <p:nvPr/>
        </p:nvSpPr>
        <p:spPr>
          <a:xfrm>
            <a:off x="4443984" y="256032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RDC01</a:t>
            </a:r>
            <a:endParaRPr lang="en-US" sz="1100" dirty="0"/>
          </a:p>
        </p:txBody>
      </p:sp>
      <p:sp>
        <p:nvSpPr>
          <p:cNvPr id="13" name="Text 11"/>
          <p:cNvSpPr txBox="1"/>
          <p:nvPr/>
        </p:nvSpPr>
        <p:spPr>
          <a:xfrm>
            <a:off x="548640" y="3429000"/>
            <a:ext cx="146304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Mensual</a:t>
            </a:r>
            <a:endParaRPr lang="en-US" sz="1500" dirty="0"/>
          </a:p>
        </p:txBody>
      </p:sp>
      <p:sp>
        <p:nvSpPr>
          <p:cNvPr id="14" name="Text 12"/>
          <p:cNvSpPr txBox="1"/>
          <p:nvPr/>
        </p:nvSpPr>
        <p:spPr>
          <a:xfrm>
            <a:off x="548640" y="3794760"/>
            <a:ext cx="1737360" cy="548640"/>
          </a:xfrm>
          <a:prstGeom prst="rect">
            <a:avLst/>
          </a:prstGeom>
          <a:noFill/>
          <a:ln/>
        </p:spPr>
        <p:txBody>
          <a:bodyPr wrap="square" lIns="0" tIns="0" rIns="0" bIns="0" rtlCol="0" anchor="t"/>
          <a:lstStyle/>
          <a:p>
            <a:pPr indent="0" marL="0">
              <a:buNone/>
            </a:pPr>
            <a:r>
              <a:rPr lang="en-US" sz="1000" dirty="0">
                <a:solidFill>
                  <a:srgbClr val="4A5B62"/>
                </a:solidFill>
                <a:latin typeface="Calibri" pitchFamily="34" charset="0"/>
                <a:ea typeface="Calibri" pitchFamily="34" charset="-122"/>
                <a:cs typeface="Calibri" pitchFamily="34" charset="-120"/>
              </a:rPr>
              <a:t>Concentrados en los primeros días hábiles del mes</a:t>
            </a:r>
            <a:endParaRPr lang="en-US" sz="1000" dirty="0"/>
          </a:p>
        </p:txBody>
      </p:sp>
      <p:sp>
        <p:nvSpPr>
          <p:cNvPr id="15" name="Text 13"/>
          <p:cNvSpPr txBox="1"/>
          <p:nvPr/>
        </p:nvSpPr>
        <p:spPr>
          <a:xfrm>
            <a:off x="2468880"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E23</a:t>
            </a:r>
            <a:endParaRPr lang="en-US" sz="1100" dirty="0"/>
          </a:p>
        </p:txBody>
      </p:sp>
      <p:sp>
        <p:nvSpPr>
          <p:cNvPr id="16" name="Text 14"/>
          <p:cNvSpPr txBox="1"/>
          <p:nvPr/>
        </p:nvSpPr>
        <p:spPr>
          <a:xfrm>
            <a:off x="3456432"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Sernac</a:t>
            </a:r>
            <a:endParaRPr lang="en-US" sz="1100" dirty="0"/>
          </a:p>
        </p:txBody>
      </p:sp>
      <p:sp>
        <p:nvSpPr>
          <p:cNvPr id="17" name="Text 15"/>
          <p:cNvSpPr txBox="1"/>
          <p:nvPr/>
        </p:nvSpPr>
        <p:spPr>
          <a:xfrm>
            <a:off x="4443984"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D02</a:t>
            </a:r>
            <a:endParaRPr lang="en-US" sz="1100" dirty="0"/>
          </a:p>
        </p:txBody>
      </p:sp>
      <p:sp>
        <p:nvSpPr>
          <p:cNvPr id="18" name="Text 16"/>
          <p:cNvSpPr txBox="1"/>
          <p:nvPr/>
        </p:nvSpPr>
        <p:spPr>
          <a:xfrm>
            <a:off x="5431536"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D03</a:t>
            </a:r>
            <a:endParaRPr lang="en-US" sz="1100" dirty="0"/>
          </a:p>
        </p:txBody>
      </p:sp>
      <p:sp>
        <p:nvSpPr>
          <p:cNvPr id="19" name="Text 17"/>
          <p:cNvSpPr txBox="1"/>
          <p:nvPr/>
        </p:nvSpPr>
        <p:spPr>
          <a:xfrm>
            <a:off x="6419088"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T01</a:t>
            </a:r>
            <a:endParaRPr lang="en-US" sz="1100" dirty="0"/>
          </a:p>
        </p:txBody>
      </p:sp>
      <p:sp>
        <p:nvSpPr>
          <p:cNvPr id="20" name="Text 18"/>
          <p:cNvSpPr txBox="1"/>
          <p:nvPr/>
        </p:nvSpPr>
        <p:spPr>
          <a:xfrm>
            <a:off x="7406640" y="342900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P14</a:t>
            </a:r>
            <a:endParaRPr lang="en-US" sz="1100" dirty="0"/>
          </a:p>
        </p:txBody>
      </p:sp>
      <p:sp>
        <p:nvSpPr>
          <p:cNvPr id="21" name="Text 19"/>
          <p:cNvSpPr txBox="1"/>
          <p:nvPr/>
        </p:nvSpPr>
        <p:spPr>
          <a:xfrm>
            <a:off x="2468880"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P15</a:t>
            </a:r>
            <a:endParaRPr lang="en-US" sz="1100" dirty="0"/>
          </a:p>
        </p:txBody>
      </p:sp>
      <p:sp>
        <p:nvSpPr>
          <p:cNvPr id="22" name="Text 20"/>
          <p:cNvSpPr txBox="1"/>
          <p:nvPr/>
        </p:nvSpPr>
        <p:spPr>
          <a:xfrm>
            <a:off x="3456432"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P16</a:t>
            </a:r>
            <a:endParaRPr lang="en-US" sz="1100" dirty="0"/>
          </a:p>
        </p:txBody>
      </p:sp>
      <p:sp>
        <p:nvSpPr>
          <p:cNvPr id="23" name="Text 21"/>
          <p:cNvSpPr txBox="1"/>
          <p:nvPr/>
        </p:nvSpPr>
        <p:spPr>
          <a:xfrm>
            <a:off x="4443984"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P22</a:t>
            </a:r>
            <a:endParaRPr lang="en-US" sz="1100" dirty="0"/>
          </a:p>
        </p:txBody>
      </p:sp>
      <p:sp>
        <p:nvSpPr>
          <p:cNvPr id="24" name="Text 22"/>
          <p:cNvSpPr txBox="1"/>
          <p:nvPr/>
        </p:nvSpPr>
        <p:spPr>
          <a:xfrm>
            <a:off x="5431536"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P37</a:t>
            </a:r>
            <a:endParaRPr lang="en-US" sz="1100" dirty="0"/>
          </a:p>
        </p:txBody>
      </p:sp>
      <p:sp>
        <p:nvSpPr>
          <p:cNvPr id="25" name="Text 23"/>
          <p:cNvSpPr txBox="1"/>
          <p:nvPr/>
        </p:nvSpPr>
        <p:spPr>
          <a:xfrm>
            <a:off x="6419088"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P38</a:t>
            </a:r>
            <a:endParaRPr lang="en-US" sz="1100" dirty="0"/>
          </a:p>
        </p:txBody>
      </p:sp>
      <p:sp>
        <p:nvSpPr>
          <p:cNvPr id="26" name="Text 24"/>
          <p:cNvSpPr txBox="1"/>
          <p:nvPr/>
        </p:nvSpPr>
        <p:spPr>
          <a:xfrm>
            <a:off x="7406640" y="3849624"/>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P39</a:t>
            </a:r>
            <a:endParaRPr lang="en-US" sz="1100" dirty="0"/>
          </a:p>
        </p:txBody>
      </p:sp>
      <p:sp>
        <p:nvSpPr>
          <p:cNvPr id="27" name="Text 25"/>
          <p:cNvSpPr txBox="1"/>
          <p:nvPr/>
        </p:nvSpPr>
        <p:spPr>
          <a:xfrm>
            <a:off x="548640" y="4526280"/>
            <a:ext cx="146304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Trimestral</a:t>
            </a:r>
            <a:endParaRPr lang="en-US" sz="1500" dirty="0"/>
          </a:p>
        </p:txBody>
      </p:sp>
      <p:sp>
        <p:nvSpPr>
          <p:cNvPr id="28" name="Text 26"/>
          <p:cNvSpPr txBox="1"/>
          <p:nvPr/>
        </p:nvSpPr>
        <p:spPr>
          <a:xfrm>
            <a:off x="548640" y="4892040"/>
            <a:ext cx="1737360" cy="548640"/>
          </a:xfrm>
          <a:prstGeom prst="rect">
            <a:avLst/>
          </a:prstGeom>
          <a:noFill/>
          <a:ln/>
        </p:spPr>
        <p:txBody>
          <a:bodyPr wrap="square" lIns="0" tIns="0" rIns="0" bIns="0" rtlCol="0" anchor="t"/>
          <a:lstStyle/>
          <a:p>
            <a:pPr indent="0" marL="0">
              <a:buNone/>
            </a:pPr>
            <a:r>
              <a:rPr lang="en-US" sz="1000" dirty="0">
                <a:solidFill>
                  <a:srgbClr val="4A5B62"/>
                </a:solidFill>
                <a:latin typeface="Calibri" pitchFamily="34" charset="0"/>
                <a:ea typeface="Calibri" pitchFamily="34" charset="-122"/>
                <a:cs typeface="Calibri" pitchFamily="34" charset="-120"/>
              </a:rPr>
              <a:t>Cierre trimestral</a:t>
            </a:r>
            <a:endParaRPr lang="en-US" sz="1000" dirty="0"/>
          </a:p>
        </p:txBody>
      </p:sp>
      <p:sp>
        <p:nvSpPr>
          <p:cNvPr id="29" name="Text 27"/>
          <p:cNvSpPr txBox="1"/>
          <p:nvPr/>
        </p:nvSpPr>
        <p:spPr>
          <a:xfrm>
            <a:off x="2468880" y="4526280"/>
            <a:ext cx="896112" cy="329184"/>
          </a:xfrm>
          <a:prstGeom prst="roundRect">
            <a:avLst>
              <a:gd name="adj" fmla="val 22222"/>
            </a:avLst>
          </a:prstGeom>
          <a:solidFill>
            <a:srgbClr val="DCE9EC"/>
          </a:solidFill>
          <a:ln w="9525">
            <a:solidFill>
              <a:srgbClr val="DCE9EC"/>
            </a:solidFill>
          </a:ln>
        </p:spPr>
        <p:txBody>
          <a:bodyPr wrap="square" lIns="0" tIns="0" rIns="0" bIns="0" rtlCol="0" anchor="ctr"/>
          <a:lstStyle/>
          <a:p>
            <a:pPr algn="ctr" indent="0" marL="0">
              <a:buNone/>
            </a:pPr>
            <a:r>
              <a:rPr lang="en-US" sz="1100" b="1" dirty="0">
                <a:solidFill>
                  <a:srgbClr val="1F4E5A"/>
                </a:solidFill>
                <a:latin typeface="Courier New" pitchFamily="34" charset="0"/>
                <a:ea typeface="Courier New" pitchFamily="34" charset="-122"/>
                <a:cs typeface="Courier New" pitchFamily="34" charset="-120"/>
              </a:rPr>
              <a:t>D51</a:t>
            </a:r>
            <a:endParaRPr lang="en-US" sz="1100" dirty="0"/>
          </a:p>
        </p:txBody>
      </p:sp>
      <p:sp>
        <p:nvSpPr>
          <p:cNvPr id="30" name="Shape 28"/>
          <p:cNvSpPr/>
          <p:nvPr/>
        </p:nvSpPr>
        <p:spPr>
          <a:xfrm>
            <a:off x="8503920" y="1691640"/>
            <a:ext cx="3136392" cy="4023360"/>
          </a:xfrm>
          <a:prstGeom prst="roundRect">
            <a:avLst>
              <a:gd name="adj" fmla="val 2915"/>
            </a:avLst>
          </a:prstGeom>
          <a:solidFill>
            <a:srgbClr val="F1F6F7"/>
          </a:solidFill>
          <a:ln w="9525">
            <a:solidFill>
              <a:srgbClr val="C9D6DA"/>
            </a:solidFill>
            <a:prstDash val="solid"/>
          </a:ln>
        </p:spPr>
      </p:sp>
      <p:sp>
        <p:nvSpPr>
          <p:cNvPr id="31" name="Text 29"/>
          <p:cNvSpPr txBox="1"/>
          <p:nvPr/>
        </p:nvSpPr>
        <p:spPr>
          <a:xfrm>
            <a:off x="8732520" y="1828800"/>
            <a:ext cx="2743200" cy="731520"/>
          </a:xfrm>
          <a:prstGeom prst="rect">
            <a:avLst/>
          </a:prstGeom>
          <a:noFill/>
          <a:ln/>
        </p:spPr>
        <p:txBody>
          <a:bodyPr wrap="square" lIns="0" tIns="0" rIns="0" bIns="0" rtlCol="0" anchor="ctr"/>
          <a:lstStyle/>
          <a:p>
            <a:pPr indent="0" marL="0">
              <a:buNone/>
            </a:pPr>
            <a:r>
              <a:rPr lang="en-US" sz="4000" b="1" dirty="0">
                <a:solidFill>
                  <a:srgbClr val="1F4E5A"/>
                </a:solidFill>
                <a:latin typeface="Calibri" pitchFamily="34" charset="0"/>
                <a:ea typeface="Calibri" pitchFamily="34" charset="-122"/>
                <a:cs typeface="Calibri" pitchFamily="34" charset="-120"/>
              </a:rPr>
              <a:t>+100</a:t>
            </a:r>
            <a:endParaRPr lang="en-US" sz="4000" dirty="0"/>
          </a:p>
        </p:txBody>
      </p:sp>
      <p:sp>
        <p:nvSpPr>
          <p:cNvPr id="32" name="Text 30"/>
          <p:cNvSpPr txBox="1"/>
          <p:nvPr/>
        </p:nvSpPr>
        <p:spPr>
          <a:xfrm>
            <a:off x="8732520" y="2560320"/>
            <a:ext cx="2697480" cy="548640"/>
          </a:xfrm>
          <a:prstGeom prst="rect">
            <a:avLst/>
          </a:prstGeom>
          <a:noFill/>
          <a:ln/>
        </p:spPr>
        <p:txBody>
          <a:bodyPr wrap="square" lIns="0" tIns="0" rIns="0" bIns="0" rtlCol="0" anchor="ctr"/>
          <a:lstStyle/>
          <a:p>
            <a:pPr indent="0" marL="0">
              <a:buNone/>
            </a:pPr>
            <a:r>
              <a:rPr lang="en-US" sz="1150" dirty="0">
                <a:solidFill>
                  <a:srgbClr val="4A5B62"/>
                </a:solidFill>
                <a:latin typeface="Calibri" pitchFamily="34" charset="0"/>
                <a:ea typeface="Calibri" pitchFamily="34" charset="-122"/>
                <a:cs typeface="Calibri" pitchFamily="34" charset="-120"/>
              </a:rPr>
              <a:t>envíos al regulador por mes, según el indicador interno de la unidad</a:t>
            </a:r>
            <a:endParaRPr lang="en-US" sz="1150" dirty="0"/>
          </a:p>
        </p:txBody>
      </p:sp>
      <p:sp>
        <p:nvSpPr>
          <p:cNvPr id="33" name="Text 31"/>
          <p:cNvSpPr txBox="1"/>
          <p:nvPr/>
        </p:nvSpPr>
        <p:spPr>
          <a:xfrm>
            <a:off x="8732520" y="3246120"/>
            <a:ext cx="2743200" cy="731520"/>
          </a:xfrm>
          <a:prstGeom prst="rect">
            <a:avLst/>
          </a:prstGeom>
          <a:noFill/>
          <a:ln/>
        </p:spPr>
        <p:txBody>
          <a:bodyPr wrap="square" lIns="0" tIns="0" rIns="0" bIns="0" rtlCol="0" anchor="ctr"/>
          <a:lstStyle/>
          <a:p>
            <a:pPr indent="0" marL="0">
              <a:buNone/>
            </a:pPr>
            <a:r>
              <a:rPr lang="en-US" sz="4000" b="1" dirty="0">
                <a:solidFill>
                  <a:srgbClr val="1F4E5A"/>
                </a:solidFill>
                <a:latin typeface="Calibri" pitchFamily="34" charset="0"/>
                <a:ea typeface="Calibri" pitchFamily="34" charset="-122"/>
                <a:cs typeface="Calibri" pitchFamily="34" charset="-120"/>
              </a:rPr>
              <a:t>98,78 %</a:t>
            </a:r>
            <a:endParaRPr lang="en-US" sz="4000" dirty="0"/>
          </a:p>
        </p:txBody>
      </p:sp>
      <p:sp>
        <p:nvSpPr>
          <p:cNvPr id="34" name="Text 32"/>
          <p:cNvSpPr txBox="1"/>
          <p:nvPr/>
        </p:nvSpPr>
        <p:spPr>
          <a:xfrm>
            <a:off x="8732520" y="3977640"/>
            <a:ext cx="2697480" cy="548640"/>
          </a:xfrm>
          <a:prstGeom prst="rect">
            <a:avLst/>
          </a:prstGeom>
          <a:noFill/>
          <a:ln/>
        </p:spPr>
        <p:txBody>
          <a:bodyPr wrap="square" lIns="0" tIns="0" rIns="0" bIns="0" rtlCol="0" anchor="ctr"/>
          <a:lstStyle/>
          <a:p>
            <a:pPr indent="0" marL="0">
              <a:buNone/>
            </a:pPr>
            <a:r>
              <a:rPr lang="en-US" sz="1150" dirty="0">
                <a:solidFill>
                  <a:srgbClr val="4A5B62"/>
                </a:solidFill>
                <a:latin typeface="Calibri" pitchFamily="34" charset="0"/>
                <a:ea typeface="Calibri" pitchFamily="34" charset="-122"/>
                <a:cs typeface="Calibri" pitchFamily="34" charset="-120"/>
              </a:rPr>
              <a:t>eficacia promedio de envío, con un margen de error permitido de 3 %</a:t>
            </a:r>
            <a:endParaRPr lang="en-US" sz="1150" dirty="0"/>
          </a:p>
        </p:txBody>
      </p:sp>
      <p:sp>
        <p:nvSpPr>
          <p:cNvPr id="35" name="Text 33"/>
          <p:cNvSpPr txBox="1"/>
          <p:nvPr/>
        </p:nvSpPr>
        <p:spPr>
          <a:xfrm>
            <a:off x="8732520" y="4846320"/>
            <a:ext cx="2697480" cy="731520"/>
          </a:xfrm>
          <a:prstGeom prst="rect">
            <a:avLst/>
          </a:prstGeom>
          <a:noFill/>
          <a:ln/>
        </p:spPr>
        <p:txBody>
          <a:bodyPr wrap="square" lIns="0" tIns="0" rIns="0" bIns="0" rtlCol="0" anchor="ctr"/>
          <a:lstStyle/>
          <a:p>
            <a:pPr indent="0" marL="0">
              <a:buNone/>
            </a:pPr>
            <a:r>
              <a:rPr lang="en-US" sz="1400" b="1" dirty="0">
                <a:solidFill>
                  <a:srgbClr val="1F4FD1"/>
                </a:solidFill>
                <a:latin typeface="Cambria" pitchFamily="34" charset="0"/>
                <a:ea typeface="Cambria" pitchFamily="34" charset="-122"/>
                <a:cs typeface="Cambria" pitchFamily="34" charset="-120"/>
              </a:rPr>
              <a:t>6 personas · 18 reportes · 4 frecuencias</a:t>
            </a:r>
            <a:endParaRPr lang="en-US" sz="1400" dirty="0"/>
          </a:p>
        </p:txBody>
      </p:sp>
      <p:sp>
        <p:nvSpPr>
          <p:cNvPr id="36" name="Text 34"/>
          <p:cNvSpPr txBox="1"/>
          <p:nvPr/>
        </p:nvSpPr>
        <p:spPr>
          <a:xfrm>
            <a:off x="548640" y="5806440"/>
            <a:ext cx="7680960" cy="640080"/>
          </a:xfrm>
          <a:prstGeom prst="rect">
            <a:avLst/>
          </a:prstGeom>
          <a:noFill/>
          <a:ln/>
        </p:spPr>
        <p:txBody>
          <a:bodyPr wrap="square" lIns="0" tIns="0" rIns="0" bIns="0" rtlCol="0" anchor="ctr"/>
          <a:lstStyle/>
          <a:p>
            <a:pPr indent="0" marL="0">
              <a:buNone/>
            </a:pPr>
            <a:r>
              <a:rPr lang="en-US" sz="1100" i="1" dirty="0">
                <a:solidFill>
                  <a:srgbClr val="4A5B62"/>
                </a:solidFill>
                <a:latin typeface="Calibri" pitchFamily="34" charset="0"/>
                <a:ea typeface="Calibri" pitchFamily="34" charset="-122"/>
                <a:cs typeface="Calibri" pitchFamily="34" charset="-120"/>
              </a:rPr>
              <a:t>El perímetro cambia sin aviso: la Circular N° 2.376 de la CMF elimina D02, P15 y P22 con último envío en septiembre de 2026, mientras el RDC entra en régimen diario. Gestionar ese cambio es parte del trabajo.</a:t>
            </a:r>
            <a:endParaRPr lang="en-US" sz="1100" dirty="0"/>
          </a:p>
        </p:txBody>
      </p:sp>
      <p:sp>
        <p:nvSpPr>
          <p:cNvPr id="37" name="Text 35"/>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979C"/>
                </a:solidFill>
                <a:latin typeface="Calibri" pitchFamily="34" charset="0"/>
                <a:ea typeface="Calibri" pitchFamily="34" charset="-122"/>
                <a:cs typeface="Calibri" pitchFamily="34" charset="-120"/>
              </a:rPr>
              <a:t>Listado y frecuencias: responsable del área. Eficacia y volumen: indicador interno de envíos. Circular N° 2.376: comunicado público de la CMF, verificar vigencia.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No todos los reportes pesan lo mismo</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Complejidad técnica frente a criticidad de cada reporte. El color indica el grado que debería responder por él.</a:t>
            </a:r>
            <a:endParaRPr lang="en-US" sz="1400" dirty="0"/>
          </a:p>
        </p:txBody>
      </p:sp>
      <p:sp>
        <p:nvSpPr>
          <p:cNvPr id="4" name="Shape 2"/>
          <p:cNvSpPr/>
          <p:nvPr/>
        </p:nvSpPr>
        <p:spPr>
          <a:xfrm>
            <a:off x="548640" y="1600200"/>
            <a:ext cx="3794760" cy="2240280"/>
          </a:xfrm>
          <a:prstGeom prst="rect">
            <a:avLst/>
          </a:prstGeom>
          <a:solidFill>
            <a:srgbClr val="F1F6F7"/>
          </a:solidFill>
          <a:ln w="12700">
            <a:solidFill>
              <a:srgbClr val="F1F6F7"/>
            </a:solidFill>
            <a:prstDash val="solid"/>
          </a:ln>
        </p:spPr>
      </p:sp>
      <p:sp>
        <p:nvSpPr>
          <p:cNvPr id="5" name="Shape 3"/>
          <p:cNvSpPr/>
          <p:nvPr/>
        </p:nvSpPr>
        <p:spPr>
          <a:xfrm>
            <a:off x="4343400" y="3840480"/>
            <a:ext cx="3794760" cy="2240280"/>
          </a:xfrm>
          <a:prstGeom prst="rect">
            <a:avLst/>
          </a:prstGeom>
          <a:solidFill>
            <a:srgbClr val="F1F6F7"/>
          </a:solidFill>
          <a:ln w="12700">
            <a:solidFill>
              <a:srgbClr val="F1F6F7"/>
            </a:solidFill>
            <a:prstDash val="solid"/>
          </a:ln>
        </p:spPr>
      </p:sp>
      <p:sp>
        <p:nvSpPr>
          <p:cNvPr id="6" name="Shape 4"/>
          <p:cNvSpPr/>
          <p:nvPr/>
        </p:nvSpPr>
        <p:spPr>
          <a:xfrm>
            <a:off x="548640" y="1600200"/>
            <a:ext cx="7589520" cy="4480560"/>
          </a:xfrm>
          <a:prstGeom prst="rect">
            <a:avLst/>
          </a:prstGeom>
          <a:ln w="12700">
            <a:solidFill>
              <a:srgbClr val="C9D6DA"/>
            </a:solidFill>
            <a:prstDash val="solid"/>
          </a:ln>
        </p:spPr>
      </p:sp>
      <p:sp>
        <p:nvSpPr>
          <p:cNvPr id="7" name="Shape 5"/>
          <p:cNvSpPr/>
          <p:nvPr/>
        </p:nvSpPr>
        <p:spPr>
          <a:xfrm>
            <a:off x="4343400" y="1600200"/>
            <a:ext cx="0" cy="4480560"/>
          </a:xfrm>
          <a:prstGeom prst="line">
            <a:avLst/>
          </a:prstGeom>
          <a:noFill/>
          <a:ln w="12700">
            <a:solidFill>
              <a:srgbClr val="8A979C"/>
            </a:solidFill>
            <a:prstDash val="solid"/>
          </a:ln>
        </p:spPr>
      </p:sp>
      <p:sp>
        <p:nvSpPr>
          <p:cNvPr id="8" name="Shape 6"/>
          <p:cNvSpPr/>
          <p:nvPr/>
        </p:nvSpPr>
        <p:spPr>
          <a:xfrm>
            <a:off x="548640" y="3840480"/>
            <a:ext cx="7589520" cy="0"/>
          </a:xfrm>
          <a:prstGeom prst="line">
            <a:avLst/>
          </a:prstGeom>
          <a:noFill/>
          <a:ln w="12700">
            <a:solidFill>
              <a:srgbClr val="8A979C"/>
            </a:solidFill>
            <a:prstDash val="solid"/>
          </a:ln>
        </p:spPr>
      </p:sp>
      <p:sp>
        <p:nvSpPr>
          <p:cNvPr id="9" name="Text 7"/>
          <p:cNvSpPr txBox="1"/>
          <p:nvPr/>
        </p:nvSpPr>
        <p:spPr>
          <a:xfrm>
            <a:off x="640080" y="1655064"/>
            <a:ext cx="3657600" cy="274320"/>
          </a:xfrm>
          <a:prstGeom prst="rect">
            <a:avLst/>
          </a:prstGeom>
          <a:noFill/>
          <a:ln/>
        </p:spPr>
        <p:txBody>
          <a:bodyPr wrap="square" lIns="0" tIns="0" rIns="0" bIns="0" rtlCol="0" anchor="ctr"/>
          <a:lstStyle/>
          <a:p>
            <a:pPr indent="0" marL="0">
              <a:buNone/>
            </a:pPr>
            <a:r>
              <a:rPr lang="en-US" sz="950" b="1" dirty="0">
                <a:solidFill>
                  <a:srgbClr val="4A5B62"/>
                </a:solidFill>
                <a:latin typeface="Calibri" pitchFamily="34" charset="0"/>
                <a:ea typeface="Calibri" pitchFamily="34" charset="-122"/>
                <a:cs typeface="Calibri" pitchFamily="34" charset="-120"/>
              </a:rPr>
              <a:t>OPERACIÓN CRÍTICA DE ALTA FRECUENCIA</a:t>
            </a:r>
            <a:endParaRPr lang="en-US" sz="950" dirty="0"/>
          </a:p>
        </p:txBody>
      </p:sp>
      <p:sp>
        <p:nvSpPr>
          <p:cNvPr id="10" name="Text 8"/>
          <p:cNvSpPr txBox="1"/>
          <p:nvPr/>
        </p:nvSpPr>
        <p:spPr>
          <a:xfrm>
            <a:off x="4434840" y="1655064"/>
            <a:ext cx="3657600" cy="274320"/>
          </a:xfrm>
          <a:prstGeom prst="rect">
            <a:avLst/>
          </a:prstGeom>
          <a:noFill/>
          <a:ln/>
        </p:spPr>
        <p:txBody>
          <a:bodyPr wrap="square" lIns="0" tIns="0" rIns="0" bIns="0" rtlCol="0" anchor="ctr"/>
          <a:lstStyle/>
          <a:p>
            <a:pPr algn="r" indent="0" marL="0">
              <a:buNone/>
            </a:pPr>
            <a:r>
              <a:rPr lang="en-US" sz="950" b="1" dirty="0">
                <a:solidFill>
                  <a:srgbClr val="4A5B62"/>
                </a:solidFill>
                <a:latin typeface="Calibri" pitchFamily="34" charset="0"/>
                <a:ea typeface="Calibri" pitchFamily="34" charset="-122"/>
                <a:cs typeface="Calibri" pitchFamily="34" charset="-120"/>
              </a:rPr>
              <a:t>NÚCLEO DE CUMPLIMIENTO</a:t>
            </a:r>
            <a:endParaRPr lang="en-US" sz="950" dirty="0"/>
          </a:p>
        </p:txBody>
      </p:sp>
      <p:sp>
        <p:nvSpPr>
          <p:cNvPr id="11" name="Text 9"/>
          <p:cNvSpPr txBox="1"/>
          <p:nvPr/>
        </p:nvSpPr>
        <p:spPr>
          <a:xfrm>
            <a:off x="640080" y="5751576"/>
            <a:ext cx="3657600" cy="274320"/>
          </a:xfrm>
          <a:prstGeom prst="rect">
            <a:avLst/>
          </a:prstGeom>
          <a:noFill/>
          <a:ln/>
        </p:spPr>
        <p:txBody>
          <a:bodyPr wrap="square" lIns="0" tIns="0" rIns="0" bIns="0" rtlCol="0" anchor="ctr"/>
          <a:lstStyle/>
          <a:p>
            <a:pPr indent="0" marL="0">
              <a:buNone/>
            </a:pPr>
            <a:r>
              <a:rPr lang="en-US" sz="950" b="1" dirty="0">
                <a:solidFill>
                  <a:srgbClr val="4A5B62"/>
                </a:solidFill>
                <a:latin typeface="Calibri" pitchFamily="34" charset="0"/>
                <a:ea typeface="Calibri" pitchFamily="34" charset="-122"/>
                <a:cs typeface="Calibri" pitchFamily="34" charset="-120"/>
              </a:rPr>
              <a:t>RUTINA</a:t>
            </a:r>
            <a:endParaRPr lang="en-US" sz="950" dirty="0"/>
          </a:p>
        </p:txBody>
      </p:sp>
      <p:sp>
        <p:nvSpPr>
          <p:cNvPr id="12" name="Text 10"/>
          <p:cNvSpPr txBox="1"/>
          <p:nvPr/>
        </p:nvSpPr>
        <p:spPr>
          <a:xfrm>
            <a:off x="4434840" y="5751576"/>
            <a:ext cx="3657600" cy="274320"/>
          </a:xfrm>
          <a:prstGeom prst="rect">
            <a:avLst/>
          </a:prstGeom>
          <a:noFill/>
          <a:ln/>
        </p:spPr>
        <p:txBody>
          <a:bodyPr wrap="square" lIns="0" tIns="0" rIns="0" bIns="0" rtlCol="0" anchor="ctr"/>
          <a:lstStyle/>
          <a:p>
            <a:pPr algn="r" indent="0" marL="0">
              <a:buNone/>
            </a:pPr>
            <a:r>
              <a:rPr lang="en-US" sz="950" b="1" dirty="0">
                <a:solidFill>
                  <a:srgbClr val="4A5B62"/>
                </a:solidFill>
                <a:latin typeface="Calibri" pitchFamily="34" charset="0"/>
                <a:ea typeface="Calibri" pitchFamily="34" charset="-122"/>
                <a:cs typeface="Calibri" pitchFamily="34" charset="-120"/>
              </a:rPr>
              <a:t>ESPECIALIZACIÓN TÉCNICA</a:t>
            </a:r>
            <a:endParaRPr lang="en-US" sz="950" dirty="0"/>
          </a:p>
        </p:txBody>
      </p:sp>
      <p:sp>
        <p:nvSpPr>
          <p:cNvPr id="13" name="Text 11"/>
          <p:cNvSpPr txBox="1"/>
          <p:nvPr/>
        </p:nvSpPr>
        <p:spPr>
          <a:xfrm>
            <a:off x="548640" y="6126480"/>
            <a:ext cx="7589520" cy="274320"/>
          </a:xfrm>
          <a:prstGeom prst="rect">
            <a:avLst/>
          </a:prstGeom>
          <a:noFill/>
          <a:ln/>
        </p:spPr>
        <p:txBody>
          <a:bodyPr wrap="square" lIns="0" tIns="0" rIns="0" bIns="0" rtlCol="0" anchor="ctr"/>
          <a:lstStyle/>
          <a:p>
            <a:pPr algn="ctr" indent="0" marL="0">
              <a:buNone/>
            </a:pPr>
            <a:r>
              <a:rPr lang="en-US" sz="1000" dirty="0">
                <a:solidFill>
                  <a:srgbClr val="4A5B62"/>
                </a:solidFill>
                <a:latin typeface="Calibri" pitchFamily="34" charset="0"/>
                <a:ea typeface="Calibri" pitchFamily="34" charset="-122"/>
                <a:cs typeface="Calibri" pitchFamily="34" charset="-120"/>
              </a:rPr>
              <a:t>Complejidad técnica →</a:t>
            </a:r>
            <a:endParaRPr lang="en-US" sz="1000" dirty="0"/>
          </a:p>
        </p:txBody>
      </p:sp>
      <p:sp>
        <p:nvSpPr>
          <p:cNvPr id="14" name="Text 12"/>
          <p:cNvSpPr txBox="1"/>
          <p:nvPr/>
        </p:nvSpPr>
        <p:spPr>
          <a:xfrm rot="16200000">
            <a:off x="45720" y="3703320"/>
            <a:ext cx="1097280" cy="274320"/>
          </a:xfrm>
          <a:prstGeom prst="rect">
            <a:avLst/>
          </a:prstGeom>
          <a:noFill/>
          <a:ln/>
        </p:spPr>
        <p:txBody>
          <a:bodyPr wrap="square" lIns="0" tIns="0" rIns="0" bIns="0" rtlCol="0" anchor="ctr"/>
          <a:lstStyle/>
          <a:p>
            <a:pPr algn="ctr" indent="0" marL="0">
              <a:buNone/>
            </a:pPr>
            <a:r>
              <a:rPr lang="en-US" sz="1000" dirty="0">
                <a:solidFill>
                  <a:srgbClr val="4A5B62"/>
                </a:solidFill>
                <a:latin typeface="Calibri" pitchFamily="34" charset="0"/>
                <a:ea typeface="Calibri" pitchFamily="34" charset="-122"/>
                <a:cs typeface="Calibri" pitchFamily="34" charset="-120"/>
              </a:rPr>
              <a:t>Criticidad →</a:t>
            </a:r>
            <a:endParaRPr lang="en-US" sz="1000" dirty="0"/>
          </a:p>
        </p:txBody>
      </p:sp>
      <p:sp>
        <p:nvSpPr>
          <p:cNvPr id="15" name="Text 13"/>
          <p:cNvSpPr txBox="1"/>
          <p:nvPr/>
        </p:nvSpPr>
        <p:spPr>
          <a:xfrm>
            <a:off x="5228539" y="1731874"/>
            <a:ext cx="658368" cy="274320"/>
          </a:xfrm>
          <a:prstGeom prst="roundRect">
            <a:avLst>
              <a:gd name="adj" fmla="val 26667"/>
            </a:avLst>
          </a:prstGeom>
          <a:solidFill>
            <a:srgbClr val="104281"/>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RDC40</a:t>
            </a:r>
            <a:endParaRPr lang="en-US" sz="950" dirty="0"/>
          </a:p>
        </p:txBody>
      </p:sp>
      <p:sp>
        <p:nvSpPr>
          <p:cNvPr id="16" name="Text 14"/>
          <p:cNvSpPr txBox="1"/>
          <p:nvPr/>
        </p:nvSpPr>
        <p:spPr>
          <a:xfrm>
            <a:off x="5456225" y="2135124"/>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RDC01</a:t>
            </a:r>
            <a:endParaRPr lang="en-US" sz="950" dirty="0"/>
          </a:p>
        </p:txBody>
      </p:sp>
      <p:sp>
        <p:nvSpPr>
          <p:cNvPr id="17" name="Text 15"/>
          <p:cNvSpPr txBox="1"/>
          <p:nvPr/>
        </p:nvSpPr>
        <p:spPr>
          <a:xfrm>
            <a:off x="4773168" y="2359152"/>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RDC02</a:t>
            </a:r>
            <a:endParaRPr lang="en-US" sz="950" dirty="0"/>
          </a:p>
        </p:txBody>
      </p:sp>
      <p:sp>
        <p:nvSpPr>
          <p:cNvPr id="18" name="Text 16"/>
          <p:cNvSpPr txBox="1"/>
          <p:nvPr/>
        </p:nvSpPr>
        <p:spPr>
          <a:xfrm>
            <a:off x="3710635" y="1866290"/>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R05</a:t>
            </a:r>
            <a:endParaRPr lang="en-US" sz="950" dirty="0"/>
          </a:p>
        </p:txBody>
      </p:sp>
      <p:sp>
        <p:nvSpPr>
          <p:cNvPr id="19" name="Text 17"/>
          <p:cNvSpPr txBox="1"/>
          <p:nvPr/>
        </p:nvSpPr>
        <p:spPr>
          <a:xfrm>
            <a:off x="4317797" y="2627986"/>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D10</a:t>
            </a:r>
            <a:endParaRPr lang="en-US" sz="950" dirty="0"/>
          </a:p>
        </p:txBody>
      </p:sp>
      <p:sp>
        <p:nvSpPr>
          <p:cNvPr id="20" name="Text 18"/>
          <p:cNvSpPr txBox="1"/>
          <p:nvPr/>
        </p:nvSpPr>
        <p:spPr>
          <a:xfrm>
            <a:off x="3558845" y="2852014"/>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D03</a:t>
            </a:r>
            <a:endParaRPr lang="en-US" sz="950" dirty="0"/>
          </a:p>
        </p:txBody>
      </p:sp>
      <p:sp>
        <p:nvSpPr>
          <p:cNvPr id="21" name="Text 19"/>
          <p:cNvSpPr txBox="1"/>
          <p:nvPr/>
        </p:nvSpPr>
        <p:spPr>
          <a:xfrm>
            <a:off x="2951683" y="2583180"/>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D02</a:t>
            </a:r>
            <a:endParaRPr lang="en-US" sz="950" dirty="0"/>
          </a:p>
        </p:txBody>
      </p:sp>
      <p:sp>
        <p:nvSpPr>
          <p:cNvPr id="22" name="Text 20"/>
          <p:cNvSpPr txBox="1"/>
          <p:nvPr/>
        </p:nvSpPr>
        <p:spPr>
          <a:xfrm>
            <a:off x="2723998" y="3120847"/>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Sernac</a:t>
            </a:r>
            <a:endParaRPr lang="en-US" sz="950" dirty="0"/>
          </a:p>
        </p:txBody>
      </p:sp>
      <p:sp>
        <p:nvSpPr>
          <p:cNvPr id="23" name="Text 21"/>
          <p:cNvSpPr txBox="1"/>
          <p:nvPr/>
        </p:nvSpPr>
        <p:spPr>
          <a:xfrm>
            <a:off x="4924958" y="3300070"/>
            <a:ext cx="658368" cy="274320"/>
          </a:xfrm>
          <a:prstGeom prst="roundRect">
            <a:avLst>
              <a:gd name="adj" fmla="val 26667"/>
            </a:avLst>
          </a:prstGeom>
          <a:solidFill>
            <a:srgbClr val="2A78D6"/>
          </a:solidFill>
          <a:ln w="9525">
            <a:solidFill>
              <a:srgbClr val="FFFFFF"/>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D51</a:t>
            </a:r>
            <a:endParaRPr lang="en-US" sz="950" dirty="0"/>
          </a:p>
        </p:txBody>
      </p:sp>
      <p:sp>
        <p:nvSpPr>
          <p:cNvPr id="24" name="Text 22"/>
          <p:cNvSpPr txBox="1"/>
          <p:nvPr/>
        </p:nvSpPr>
        <p:spPr>
          <a:xfrm>
            <a:off x="3710635" y="3434486"/>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E23</a:t>
            </a:r>
            <a:endParaRPr lang="en-US" sz="950" dirty="0"/>
          </a:p>
        </p:txBody>
      </p:sp>
      <p:sp>
        <p:nvSpPr>
          <p:cNvPr id="25" name="Text 23"/>
          <p:cNvSpPr txBox="1"/>
          <p:nvPr/>
        </p:nvSpPr>
        <p:spPr>
          <a:xfrm>
            <a:off x="2496312" y="3524098"/>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T01</a:t>
            </a:r>
            <a:endParaRPr lang="en-US" sz="950" dirty="0"/>
          </a:p>
        </p:txBody>
      </p:sp>
      <p:sp>
        <p:nvSpPr>
          <p:cNvPr id="26" name="Text 24"/>
          <p:cNvSpPr txBox="1"/>
          <p:nvPr/>
        </p:nvSpPr>
        <p:spPr>
          <a:xfrm>
            <a:off x="2799893" y="4061765"/>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P37</a:t>
            </a:r>
            <a:endParaRPr lang="en-US" sz="950" dirty="0"/>
          </a:p>
        </p:txBody>
      </p:sp>
      <p:sp>
        <p:nvSpPr>
          <p:cNvPr id="27" name="Text 25"/>
          <p:cNvSpPr txBox="1"/>
          <p:nvPr/>
        </p:nvSpPr>
        <p:spPr>
          <a:xfrm>
            <a:off x="3331159" y="4061765"/>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P38</a:t>
            </a:r>
            <a:endParaRPr lang="en-US" sz="950" dirty="0"/>
          </a:p>
        </p:txBody>
      </p:sp>
      <p:sp>
        <p:nvSpPr>
          <p:cNvPr id="28" name="Text 26"/>
          <p:cNvSpPr txBox="1"/>
          <p:nvPr/>
        </p:nvSpPr>
        <p:spPr>
          <a:xfrm>
            <a:off x="3862426" y="4061765"/>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P39</a:t>
            </a:r>
            <a:endParaRPr lang="en-US" sz="950" dirty="0"/>
          </a:p>
        </p:txBody>
      </p:sp>
      <p:sp>
        <p:nvSpPr>
          <p:cNvPr id="29" name="Text 27"/>
          <p:cNvSpPr txBox="1"/>
          <p:nvPr/>
        </p:nvSpPr>
        <p:spPr>
          <a:xfrm>
            <a:off x="2040941" y="4509821"/>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P14</a:t>
            </a:r>
            <a:endParaRPr lang="en-US" sz="950" dirty="0"/>
          </a:p>
        </p:txBody>
      </p:sp>
      <p:sp>
        <p:nvSpPr>
          <p:cNvPr id="30" name="Text 28"/>
          <p:cNvSpPr txBox="1"/>
          <p:nvPr/>
        </p:nvSpPr>
        <p:spPr>
          <a:xfrm>
            <a:off x="2572207" y="4509821"/>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P16</a:t>
            </a:r>
            <a:endParaRPr lang="en-US" sz="950" dirty="0"/>
          </a:p>
        </p:txBody>
      </p:sp>
      <p:sp>
        <p:nvSpPr>
          <p:cNvPr id="31" name="Text 29"/>
          <p:cNvSpPr txBox="1"/>
          <p:nvPr/>
        </p:nvSpPr>
        <p:spPr>
          <a:xfrm>
            <a:off x="1889150" y="4957877"/>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P15</a:t>
            </a:r>
            <a:endParaRPr lang="en-US" sz="950" dirty="0"/>
          </a:p>
        </p:txBody>
      </p:sp>
      <p:sp>
        <p:nvSpPr>
          <p:cNvPr id="32" name="Text 30"/>
          <p:cNvSpPr txBox="1"/>
          <p:nvPr/>
        </p:nvSpPr>
        <p:spPr>
          <a:xfrm>
            <a:off x="2420417" y="4957877"/>
            <a:ext cx="658368" cy="274320"/>
          </a:xfrm>
          <a:prstGeom prst="roundRect">
            <a:avLst>
              <a:gd name="adj" fmla="val 26667"/>
            </a:avLst>
          </a:prstGeom>
          <a:solidFill>
            <a:srgbClr val="86B6EF"/>
          </a:solidFill>
          <a:ln w="9525">
            <a:solidFill>
              <a:srgbClr val="FFFFFF"/>
            </a:solidFill>
          </a:ln>
        </p:spPr>
        <p:txBody>
          <a:bodyPr wrap="square" lIns="0" tIns="0" rIns="0" bIns="0" rtlCol="0" anchor="ctr"/>
          <a:lstStyle/>
          <a:p>
            <a:pPr algn="ctr" indent="0" marL="0">
              <a:buNone/>
            </a:pPr>
            <a:r>
              <a:rPr lang="en-US" sz="950" b="1" dirty="0">
                <a:solidFill>
                  <a:srgbClr val="1B2A30"/>
                </a:solidFill>
                <a:latin typeface="Courier New" pitchFamily="34" charset="0"/>
                <a:ea typeface="Courier New" pitchFamily="34" charset="-122"/>
                <a:cs typeface="Courier New" pitchFamily="34" charset="-120"/>
              </a:rPr>
              <a:t>P22</a:t>
            </a:r>
            <a:endParaRPr lang="en-US" sz="950" dirty="0"/>
          </a:p>
        </p:txBody>
      </p:sp>
      <p:sp>
        <p:nvSpPr>
          <p:cNvPr id="33" name="Text 31"/>
          <p:cNvSpPr txBox="1"/>
          <p:nvPr/>
        </p:nvSpPr>
        <p:spPr>
          <a:xfrm>
            <a:off x="8503920" y="1600200"/>
            <a:ext cx="310896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Cómo leerlo</a:t>
            </a:r>
            <a:endParaRPr lang="en-US" sz="1500" dirty="0"/>
          </a:p>
        </p:txBody>
      </p:sp>
      <p:sp>
        <p:nvSpPr>
          <p:cNvPr id="34" name="Shape 32"/>
          <p:cNvSpPr/>
          <p:nvPr/>
        </p:nvSpPr>
        <p:spPr>
          <a:xfrm>
            <a:off x="8503920" y="2084832"/>
            <a:ext cx="182880" cy="182880"/>
          </a:xfrm>
          <a:prstGeom prst="ellipse">
            <a:avLst/>
          </a:prstGeom>
          <a:solidFill>
            <a:srgbClr val="104281"/>
          </a:solidFill>
          <a:ln w="12700">
            <a:solidFill>
              <a:srgbClr val="104281"/>
            </a:solidFill>
            <a:prstDash val="solid"/>
          </a:ln>
        </p:spPr>
      </p:sp>
      <p:sp>
        <p:nvSpPr>
          <p:cNvPr id="35" name="Text 33"/>
          <p:cNvSpPr txBox="1"/>
          <p:nvPr/>
        </p:nvSpPr>
        <p:spPr>
          <a:xfrm>
            <a:off x="8778240" y="2011680"/>
            <a:ext cx="2926080" cy="329184"/>
          </a:xfrm>
          <a:prstGeom prst="rect">
            <a:avLst/>
          </a:prstGeom>
          <a:noFill/>
          <a:ln/>
        </p:spPr>
        <p:txBody>
          <a:bodyPr wrap="square" lIns="0" tIns="0" rIns="0" bIns="0" rtlCol="0" anchor="ctr"/>
          <a:lstStyle/>
          <a:p>
            <a:pPr indent="0" marL="0">
              <a:buNone/>
            </a:pPr>
            <a:r>
              <a:rPr lang="en-US" sz="1150" dirty="0">
                <a:solidFill>
                  <a:srgbClr val="1B2A30"/>
                </a:solidFill>
                <a:latin typeface="Calibri" pitchFamily="34" charset="0"/>
                <a:ea typeface="Calibri" pitchFamily="34" charset="-122"/>
                <a:cs typeface="Calibri" pitchFamily="34" charset="-120"/>
              </a:rPr>
              <a:t>Responsable Subgerente (G4)</a:t>
            </a:r>
            <a:endParaRPr lang="en-US" sz="1150" dirty="0"/>
          </a:p>
        </p:txBody>
      </p:sp>
      <p:sp>
        <p:nvSpPr>
          <p:cNvPr id="36" name="Shape 34"/>
          <p:cNvSpPr/>
          <p:nvPr/>
        </p:nvSpPr>
        <p:spPr>
          <a:xfrm>
            <a:off x="8503920" y="2414016"/>
            <a:ext cx="182880" cy="182880"/>
          </a:xfrm>
          <a:prstGeom prst="ellipse">
            <a:avLst/>
          </a:prstGeom>
          <a:solidFill>
            <a:srgbClr val="2A78D6"/>
          </a:solidFill>
          <a:ln w="12700">
            <a:solidFill>
              <a:srgbClr val="2A78D6"/>
            </a:solidFill>
            <a:prstDash val="solid"/>
          </a:ln>
        </p:spPr>
      </p:sp>
      <p:sp>
        <p:nvSpPr>
          <p:cNvPr id="37" name="Text 35"/>
          <p:cNvSpPr txBox="1"/>
          <p:nvPr/>
        </p:nvSpPr>
        <p:spPr>
          <a:xfrm>
            <a:off x="8778240" y="2340864"/>
            <a:ext cx="2926080" cy="329184"/>
          </a:xfrm>
          <a:prstGeom prst="rect">
            <a:avLst/>
          </a:prstGeom>
          <a:noFill/>
          <a:ln/>
        </p:spPr>
        <p:txBody>
          <a:bodyPr wrap="square" lIns="0" tIns="0" rIns="0" bIns="0" rtlCol="0" anchor="ctr"/>
          <a:lstStyle/>
          <a:p>
            <a:pPr indent="0" marL="0">
              <a:buNone/>
            </a:pPr>
            <a:r>
              <a:rPr lang="en-US" sz="1150" dirty="0">
                <a:solidFill>
                  <a:srgbClr val="1B2A30"/>
                </a:solidFill>
                <a:latin typeface="Calibri" pitchFamily="34" charset="0"/>
                <a:ea typeface="Calibri" pitchFamily="34" charset="-122"/>
                <a:cs typeface="Calibri" pitchFamily="34" charset="-120"/>
              </a:rPr>
              <a:t>Responsable Jefe (G3)</a:t>
            </a:r>
            <a:endParaRPr lang="en-US" sz="1150" dirty="0"/>
          </a:p>
        </p:txBody>
      </p:sp>
      <p:sp>
        <p:nvSpPr>
          <p:cNvPr id="38" name="Shape 36"/>
          <p:cNvSpPr/>
          <p:nvPr/>
        </p:nvSpPr>
        <p:spPr>
          <a:xfrm>
            <a:off x="8503920" y="2743200"/>
            <a:ext cx="182880" cy="182880"/>
          </a:xfrm>
          <a:prstGeom prst="ellipse">
            <a:avLst/>
          </a:prstGeom>
          <a:solidFill>
            <a:srgbClr val="86B6EF"/>
          </a:solidFill>
          <a:ln w="12700">
            <a:solidFill>
              <a:srgbClr val="86B6EF"/>
            </a:solidFill>
            <a:prstDash val="solid"/>
          </a:ln>
        </p:spPr>
      </p:sp>
      <p:sp>
        <p:nvSpPr>
          <p:cNvPr id="39" name="Text 37"/>
          <p:cNvSpPr txBox="1"/>
          <p:nvPr/>
        </p:nvSpPr>
        <p:spPr>
          <a:xfrm>
            <a:off x="8778240" y="2670048"/>
            <a:ext cx="2926080" cy="329184"/>
          </a:xfrm>
          <a:prstGeom prst="rect">
            <a:avLst/>
          </a:prstGeom>
          <a:noFill/>
          <a:ln/>
        </p:spPr>
        <p:txBody>
          <a:bodyPr wrap="square" lIns="0" tIns="0" rIns="0" bIns="0" rtlCol="0" anchor="ctr"/>
          <a:lstStyle/>
          <a:p>
            <a:pPr indent="0" marL="0">
              <a:buNone/>
            </a:pPr>
            <a:r>
              <a:rPr lang="en-US" sz="1150" dirty="0">
                <a:solidFill>
                  <a:srgbClr val="1B2A30"/>
                </a:solidFill>
                <a:latin typeface="Calibri" pitchFamily="34" charset="0"/>
                <a:ea typeface="Calibri" pitchFamily="34" charset="-122"/>
                <a:cs typeface="Calibri" pitchFamily="34" charset="-120"/>
              </a:rPr>
              <a:t>Responsable Analista Senior (G2)</a:t>
            </a:r>
            <a:endParaRPr lang="en-US" sz="1150" dirty="0"/>
          </a:p>
        </p:txBody>
      </p:sp>
      <p:sp>
        <p:nvSpPr>
          <p:cNvPr id="40" name="Text 38"/>
          <p:cNvSpPr txBox="1"/>
          <p:nvPr/>
        </p:nvSpPr>
        <p:spPr>
          <a:xfrm>
            <a:off x="8503920" y="3154680"/>
            <a:ext cx="3154680" cy="26517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2A30"/>
                </a:solidFill>
                <a:latin typeface="Calibri" pitchFamily="34" charset="0"/>
                <a:ea typeface="Calibri" pitchFamily="34" charset="-122"/>
                <a:cs typeface="Calibri" pitchFamily="34" charset="-120"/>
              </a:rPr>
              <a:t>Arriba: reportes cuyo error tiene consecuencia regulatoria directa. El RDC, además, puede bloquear el acceso del banco a información de la CMF.</a:t>
            </a:r>
            <a:endParaRPr lang="en-US" sz="1100" dirty="0"/>
          </a:p>
          <a:p>
            <a:pPr marL="342900" indent="-342900">
              <a:spcAft>
                <a:spcPts val="600"/>
              </a:spcAft>
              <a:buSzPct val="100000"/>
              <a:buChar char="•"/>
            </a:pPr>
            <a:r>
              <a:rPr lang="en-US" sz="1100" dirty="0">
                <a:solidFill>
                  <a:srgbClr val="1B2A30"/>
                </a:solidFill>
                <a:latin typeface="Calibri" pitchFamily="34" charset="0"/>
                <a:ea typeface="Calibri" pitchFamily="34" charset="-122"/>
                <a:cs typeface="Calibri" pitchFamily="34" charset="-120"/>
              </a:rPr>
              <a:t>Izquierda: la dificultad no es interpretar la norma sino no fallar nunca. Exige control dual y respaldos.</a:t>
            </a:r>
            <a:endParaRPr lang="en-US" sz="1100" dirty="0"/>
          </a:p>
          <a:p>
            <a:pPr marL="342900" indent="-342900">
              <a:spcAft>
                <a:spcPts val="600"/>
              </a:spcAft>
              <a:buSzPct val="100000"/>
              <a:buChar char="•"/>
            </a:pPr>
            <a:r>
              <a:rPr lang="en-US" sz="1100" dirty="0">
                <a:solidFill>
                  <a:srgbClr val="1B2A30"/>
                </a:solidFill>
                <a:latin typeface="Calibri" pitchFamily="34" charset="0"/>
                <a:ea typeface="Calibri" pitchFamily="34" charset="-122"/>
                <a:cs typeface="Calibri" pitchFamily="34" charset="-120"/>
              </a:rPr>
              <a:t>Los archivos P son rutina de bajo riesgo: donde formar analistas y automatizar.</a:t>
            </a:r>
            <a:endParaRPr lang="en-US" sz="1100" dirty="0"/>
          </a:p>
        </p:txBody>
      </p:sp>
      <p:sp>
        <p:nvSpPr>
          <p:cNvPr id="41" name="Text 39"/>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979C"/>
                </a:solidFill>
                <a:latin typeface="Calibri" pitchFamily="34" charset="0"/>
                <a:ea typeface="Calibri" pitchFamily="34" charset="-122"/>
                <a:cs typeface="Calibri" pitchFamily="34" charset="-120"/>
              </a:rPr>
              <a:t>Puntajes asignados por el área con la rúbrica del documento de respaldo; contenido de R05, E23, T01 y D51 por confirmar en el MSI vigente. Validar con el equipo antes del comité.</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Qué está en riesgo si el equipo falla</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Riesgos identificados por el área. Ninguno se mitiga con más horas; se mitigan con perfiles, controles y continuidad.</a:t>
            </a:r>
            <a:endParaRPr lang="en-US" sz="1400" dirty="0"/>
          </a:p>
        </p:txBody>
      </p:sp>
      <p:sp>
        <p:nvSpPr>
          <p:cNvPr id="4" name="Shape 2"/>
          <p:cNvSpPr/>
          <p:nvPr/>
        </p:nvSpPr>
        <p:spPr>
          <a:xfrm>
            <a:off x="548640" y="1691640"/>
            <a:ext cx="5440680" cy="1920240"/>
          </a:xfrm>
          <a:prstGeom prst="roundRect">
            <a:avLst>
              <a:gd name="adj" fmla="val 4762"/>
            </a:avLst>
          </a:prstGeom>
          <a:solidFill>
            <a:srgbClr val="FBEEDC"/>
          </a:solidFill>
          <a:ln w="9525">
            <a:solidFill>
              <a:srgbClr val="E5C79A"/>
            </a:solidFill>
            <a:prstDash val="solid"/>
          </a:ln>
        </p:spPr>
      </p:sp>
      <p:sp>
        <p:nvSpPr>
          <p:cNvPr id="5" name="Text 3"/>
          <p:cNvSpPr txBox="1"/>
          <p:nvPr/>
        </p:nvSpPr>
        <p:spPr>
          <a:xfrm>
            <a:off x="749808" y="1837944"/>
            <a:ext cx="5038344" cy="384048"/>
          </a:xfrm>
          <a:prstGeom prst="rect">
            <a:avLst/>
          </a:prstGeom>
          <a:noFill/>
          <a:ln/>
        </p:spPr>
        <p:txBody>
          <a:bodyPr wrap="square" lIns="0" tIns="0" rIns="0" bIns="0" rtlCol="0" anchor="ctr"/>
          <a:lstStyle/>
          <a:p>
            <a:pPr indent="0" marL="0">
              <a:buNone/>
            </a:pPr>
            <a:r>
              <a:rPr lang="en-US" sz="1500" b="1" dirty="0">
                <a:solidFill>
                  <a:srgbClr val="B8641A"/>
                </a:solidFill>
                <a:latin typeface="Cambria" pitchFamily="34" charset="0"/>
                <a:ea typeface="Cambria" pitchFamily="34" charset="-122"/>
                <a:cs typeface="Cambria" pitchFamily="34" charset="-120"/>
              </a:rPr>
              <a:t>Bloqueo de acceso a información de la CMF</a:t>
            </a:r>
            <a:endParaRPr lang="en-US" sz="1500" dirty="0"/>
          </a:p>
        </p:txBody>
      </p:sp>
      <p:sp>
        <p:nvSpPr>
          <p:cNvPr id="6" name="Text 4"/>
          <p:cNvSpPr txBox="1"/>
          <p:nvPr/>
        </p:nvSpPr>
        <p:spPr>
          <a:xfrm>
            <a:off x="749808" y="2240280"/>
            <a:ext cx="5038344" cy="1234440"/>
          </a:xfrm>
          <a:prstGeom prst="rect">
            <a:avLst/>
          </a:prstGeom>
          <a:noFill/>
          <a:ln/>
        </p:spPr>
        <p:txBody>
          <a:bodyPr wrap="square" lIns="0" tIns="0" rIns="0" bIns="0" rtlCol="0" anchor="t"/>
          <a:lstStyle/>
          <a:p>
            <a:pPr indent="0" marL="0">
              <a:buNone/>
            </a:pPr>
            <a:r>
              <a:rPr lang="en-US" sz="1200" dirty="0">
                <a:solidFill>
                  <a:srgbClr val="1B2A30"/>
                </a:solidFill>
                <a:latin typeface="Calibri" pitchFamily="34" charset="0"/>
                <a:ea typeface="Calibri" pitchFamily="34" charset="-122"/>
                <a:cs typeface="Calibri" pitchFamily="34" charset="-120"/>
              </a:rPr>
              <a:t>Un incumplimiento en los reportes del Registro de Deuda Consolidada (RDC01, RDC02, RDC40) puede derivar en el bloqueo de accesos por parte de la CMF. Sin esa información, el banco no puede evaluar deuda consolidada al originar créditos.</a:t>
            </a:r>
            <a:endParaRPr lang="en-US" sz="1200" dirty="0"/>
          </a:p>
        </p:txBody>
      </p:sp>
      <p:sp>
        <p:nvSpPr>
          <p:cNvPr id="7" name="Shape 5"/>
          <p:cNvSpPr/>
          <p:nvPr/>
        </p:nvSpPr>
        <p:spPr>
          <a:xfrm>
            <a:off x="6172200" y="1691640"/>
            <a:ext cx="5440680" cy="1920240"/>
          </a:xfrm>
          <a:prstGeom prst="roundRect">
            <a:avLst>
              <a:gd name="adj" fmla="val 4762"/>
            </a:avLst>
          </a:prstGeom>
          <a:solidFill>
            <a:srgbClr val="F1F6F7"/>
          </a:solidFill>
          <a:ln w="9525">
            <a:solidFill>
              <a:srgbClr val="C9D6DA"/>
            </a:solidFill>
            <a:prstDash val="solid"/>
          </a:ln>
        </p:spPr>
      </p:sp>
      <p:sp>
        <p:nvSpPr>
          <p:cNvPr id="8" name="Text 6"/>
          <p:cNvSpPr txBox="1"/>
          <p:nvPr/>
        </p:nvSpPr>
        <p:spPr>
          <a:xfrm>
            <a:off x="6373368" y="1837944"/>
            <a:ext cx="5038344" cy="384048"/>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Multas y sanciones</a:t>
            </a:r>
            <a:endParaRPr lang="en-US" sz="1500" dirty="0"/>
          </a:p>
        </p:txBody>
      </p:sp>
      <p:sp>
        <p:nvSpPr>
          <p:cNvPr id="9" name="Text 7"/>
          <p:cNvSpPr txBox="1"/>
          <p:nvPr/>
        </p:nvSpPr>
        <p:spPr>
          <a:xfrm>
            <a:off x="6373368" y="2240280"/>
            <a:ext cx="5038344" cy="1234440"/>
          </a:xfrm>
          <a:prstGeom prst="rect">
            <a:avLst/>
          </a:prstGeom>
          <a:noFill/>
          <a:ln/>
        </p:spPr>
        <p:txBody>
          <a:bodyPr wrap="square" lIns="0" tIns="0" rIns="0" bIns="0" rtlCol="0" anchor="t"/>
          <a:lstStyle/>
          <a:p>
            <a:pPr indent="0" marL="0">
              <a:buNone/>
            </a:pPr>
            <a:r>
              <a:rPr lang="en-US" sz="1200" dirty="0">
                <a:solidFill>
                  <a:srgbClr val="1B2A30"/>
                </a:solidFill>
                <a:latin typeface="Calibri" pitchFamily="34" charset="0"/>
                <a:ea typeface="Calibri" pitchFamily="34" charset="-122"/>
                <a:cs typeface="Calibri" pitchFamily="34" charset="-120"/>
              </a:rPr>
              <a:t>Envíos fuera de plazo, con error o con reenvíos reiterados exponen al banco a sanciones del regulador y a observaciones formales que escalan a la alta administración.</a:t>
            </a:r>
            <a:endParaRPr lang="en-US" sz="1200" dirty="0"/>
          </a:p>
        </p:txBody>
      </p:sp>
      <p:sp>
        <p:nvSpPr>
          <p:cNvPr id="10" name="Shape 8"/>
          <p:cNvSpPr/>
          <p:nvPr/>
        </p:nvSpPr>
        <p:spPr>
          <a:xfrm>
            <a:off x="548640" y="3794760"/>
            <a:ext cx="5440680" cy="1920240"/>
          </a:xfrm>
          <a:prstGeom prst="roundRect">
            <a:avLst>
              <a:gd name="adj" fmla="val 4762"/>
            </a:avLst>
          </a:prstGeom>
          <a:solidFill>
            <a:srgbClr val="F1F6F7"/>
          </a:solidFill>
          <a:ln w="9525">
            <a:solidFill>
              <a:srgbClr val="C9D6DA"/>
            </a:solidFill>
            <a:prstDash val="solid"/>
          </a:ln>
        </p:spPr>
      </p:sp>
      <p:sp>
        <p:nvSpPr>
          <p:cNvPr id="11" name="Text 9"/>
          <p:cNvSpPr txBox="1"/>
          <p:nvPr/>
        </p:nvSpPr>
        <p:spPr>
          <a:xfrm>
            <a:off x="749808" y="3941064"/>
            <a:ext cx="5038344" cy="384048"/>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Riesgo reputacional</a:t>
            </a:r>
            <a:endParaRPr lang="en-US" sz="1500" dirty="0"/>
          </a:p>
        </p:txBody>
      </p:sp>
      <p:sp>
        <p:nvSpPr>
          <p:cNvPr id="12" name="Text 10"/>
          <p:cNvSpPr txBox="1"/>
          <p:nvPr/>
        </p:nvSpPr>
        <p:spPr>
          <a:xfrm>
            <a:off x="749808" y="4343400"/>
            <a:ext cx="5038344" cy="1234440"/>
          </a:xfrm>
          <a:prstGeom prst="rect">
            <a:avLst/>
          </a:prstGeom>
          <a:noFill/>
          <a:ln/>
        </p:spPr>
        <p:txBody>
          <a:bodyPr wrap="square" lIns="0" tIns="0" rIns="0" bIns="0" rtlCol="0" anchor="t"/>
          <a:lstStyle/>
          <a:p>
            <a:pPr indent="0" marL="0">
              <a:buNone/>
            </a:pPr>
            <a:r>
              <a:rPr lang="en-US" sz="1200" dirty="0">
                <a:solidFill>
                  <a:srgbClr val="1B2A30"/>
                </a:solidFill>
                <a:latin typeface="Calibri" pitchFamily="34" charset="0"/>
                <a:ea typeface="Calibri" pitchFamily="34" charset="-122"/>
                <a:cs typeface="Calibri" pitchFamily="34" charset="-120"/>
              </a:rPr>
              <a:t>Un error en información de deudores o en el reporte al SERNAC afecta directamente a clientes y a la relación con el regulador, con visibilidad pública.</a:t>
            </a:r>
            <a:endParaRPr lang="en-US" sz="1200" dirty="0"/>
          </a:p>
        </p:txBody>
      </p:sp>
      <p:sp>
        <p:nvSpPr>
          <p:cNvPr id="13" name="Shape 11"/>
          <p:cNvSpPr/>
          <p:nvPr/>
        </p:nvSpPr>
        <p:spPr>
          <a:xfrm>
            <a:off x="6172200" y="3794760"/>
            <a:ext cx="5440680" cy="1920240"/>
          </a:xfrm>
          <a:prstGeom prst="roundRect">
            <a:avLst>
              <a:gd name="adj" fmla="val 4762"/>
            </a:avLst>
          </a:prstGeom>
          <a:solidFill>
            <a:srgbClr val="F1F6F7"/>
          </a:solidFill>
          <a:ln w="9525">
            <a:solidFill>
              <a:srgbClr val="C9D6DA"/>
            </a:solidFill>
            <a:prstDash val="solid"/>
          </a:ln>
        </p:spPr>
      </p:sp>
      <p:sp>
        <p:nvSpPr>
          <p:cNvPr id="14" name="Text 12"/>
          <p:cNvSpPr txBox="1"/>
          <p:nvPr/>
        </p:nvSpPr>
        <p:spPr>
          <a:xfrm>
            <a:off x="6373368" y="3941064"/>
            <a:ext cx="5038344" cy="384048"/>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Continuidad operativa</a:t>
            </a:r>
            <a:endParaRPr lang="en-US" sz="1500" dirty="0"/>
          </a:p>
        </p:txBody>
      </p:sp>
      <p:sp>
        <p:nvSpPr>
          <p:cNvPr id="15" name="Text 13"/>
          <p:cNvSpPr txBox="1"/>
          <p:nvPr/>
        </p:nvSpPr>
        <p:spPr>
          <a:xfrm>
            <a:off x="6373368" y="4343400"/>
            <a:ext cx="5038344" cy="1234440"/>
          </a:xfrm>
          <a:prstGeom prst="rect">
            <a:avLst/>
          </a:prstGeom>
          <a:noFill/>
          <a:ln/>
        </p:spPr>
        <p:txBody>
          <a:bodyPr wrap="square" lIns="0" tIns="0" rIns="0" bIns="0" rtlCol="0" anchor="t"/>
          <a:lstStyle/>
          <a:p>
            <a:pPr indent="0" marL="0">
              <a:buNone/>
            </a:pPr>
            <a:r>
              <a:rPr lang="en-US" sz="1200" dirty="0">
                <a:solidFill>
                  <a:srgbClr val="1B2A30"/>
                </a:solidFill>
                <a:latin typeface="Calibri" pitchFamily="34" charset="0"/>
                <a:ea typeface="Calibri" pitchFamily="34" charset="-122"/>
                <a:cs typeface="Calibri" pitchFamily="34" charset="-120"/>
              </a:rPr>
              <a:t>Seis personas sostienen 18 reportes con envíos diarios y semanales. La pérdida de una persona clave no se reemplaza en semanas: el conocimiento normativo y técnico es escaso en el mercado.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El cargo cambió; la escala con que se valora no</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Comparación entre la descripción de cargo de 2020 y la vigente desde 2024, según el diseño organizacional de la unidad.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463040"/>
                <a:gridCol w="4023360"/>
                <a:gridCol w="5605272"/>
              </a:tblGrid>
              <a:tr h="384048">
                <a:tc>
                  <a:txBody>
                    <a:bodyPr/>
                    <a:lstStyle/>
                    <a:p>
                      <a:pPr indent="0" marL="0">
                        <a:buNone/>
                      </a:pPr>
                      <a:endParaRPr lang="en-US" sz="125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250" b="1" dirty="0">
                          <a:solidFill>
                            <a:srgbClr val="FFFFFF"/>
                          </a:solidFill>
                          <a:latin typeface="Cambria" pitchFamily="34" charset="0"/>
                          <a:ea typeface="Cambria" pitchFamily="34" charset="-122"/>
                          <a:cs typeface="Cambria" pitchFamily="34" charset="-120"/>
                        </a:rPr>
                        <a:t>2020 · Portabilidad</a:t>
                      </a:r>
                      <a:endParaRPr lang="en-US" sz="125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3F7F8C"/>
                    </a:solidFill>
                  </a:tcPr>
                </a:tc>
                <a:tc>
                  <a:txBody>
                    <a:bodyPr/>
                    <a:lstStyle/>
                    <a:p>
                      <a:pPr indent="0" marL="0">
                        <a:buNone/>
                      </a:pPr>
                      <a:r>
                        <a:rPr lang="en-US" sz="1250" b="1" dirty="0">
                          <a:solidFill>
                            <a:srgbClr val="FFFFFF"/>
                          </a:solidFill>
                          <a:latin typeface="Cambria" pitchFamily="34" charset="0"/>
                          <a:ea typeface="Cambria" pitchFamily="34" charset="-122"/>
                          <a:cs typeface="Cambria" pitchFamily="34" charset="-120"/>
                        </a:rPr>
                        <a:t>2024 · Observabilidad normativa</a:t>
                      </a:r>
                      <a:endParaRPr lang="en-US" sz="125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1F4E5A"/>
                    </a:solidFill>
                  </a:tcPr>
                </a:tc>
              </a:tr>
              <a:tr h="658368">
                <a:tc>
                  <a:txBody>
                    <a:bodyPr/>
                    <a:lstStyle/>
                    <a:p>
                      <a:pPr indent="0" marL="0">
                        <a:buNone/>
                      </a:pPr>
                      <a:r>
                        <a:rPr lang="en-US" sz="1100" b="1" dirty="0">
                          <a:solidFill>
                            <a:srgbClr val="1B2A30"/>
                          </a:solidFill>
                          <a:latin typeface="Cambria" pitchFamily="34" charset="0"/>
                          <a:ea typeface="Cambria" pitchFamily="34" charset="-122"/>
                          <a:cs typeface="Cambria" pitchFamily="34" charset="-120"/>
                        </a:rPr>
                        <a:t>Misión</a:t>
                      </a:r>
                      <a:endParaRPr lang="en-US" sz="110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4A5B62"/>
                          </a:solidFill>
                          <a:latin typeface="Calibri" pitchFamily="34" charset="0"/>
                          <a:ea typeface="Calibri" pitchFamily="34" charset="-122"/>
                          <a:cs typeface="Calibri" pitchFamily="34" charset="-120"/>
                        </a:rPr>
                        <a:t>Ejecutar el flujo de entrada de Portabilidad Financiera y cuadrar pagos</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Modelar, monitorear y analizar la información para responder a los reguladores; orquestar mejoras para cumplir la tolerancia al riesgo</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1F6F7"/>
                    </a:solidFill>
                  </a:tcPr>
                </a:tc>
              </a:tr>
              <a:tr h="731520">
                <a:tc>
                  <a:txBody>
                    <a:bodyPr/>
                    <a:lstStyle/>
                    <a:p>
                      <a:pPr indent="0" marL="0">
                        <a:buNone/>
                      </a:pPr>
                      <a:r>
                        <a:rPr lang="en-US" sz="1100" b="1" dirty="0">
                          <a:solidFill>
                            <a:srgbClr val="1B2A30"/>
                          </a:solidFill>
                          <a:latin typeface="Cambria" pitchFamily="34" charset="0"/>
                          <a:ea typeface="Cambria" pitchFamily="34" charset="-122"/>
                          <a:cs typeface="Cambria" pitchFamily="34" charset="-120"/>
                        </a:rPr>
                        <a:t>Funciones</a:t>
                      </a:r>
                      <a:endParaRPr lang="en-US" sz="110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4A5B62"/>
                          </a:solidFill>
                          <a:latin typeface="Calibri" pitchFamily="34" charset="0"/>
                          <a:ea typeface="Calibri" pitchFamily="34" charset="-122"/>
                          <a:cs typeface="Calibri" pitchFamily="34" charset="-120"/>
                        </a:rPr>
                        <a:t>Revisar documentos, identificar discrepancias, cumplir plazos de portabilidad</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Atender reportes normativos, desarrollar controles, dar seguimiento a alertas, coordinar rediseño de procesos, participar en mesas normativas</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1F6F7"/>
                    </a:solidFill>
                  </a:tcPr>
                </a:tc>
              </a:tr>
              <a:tr h="566928">
                <a:tc>
                  <a:txBody>
                    <a:bodyPr/>
                    <a:lstStyle/>
                    <a:p>
                      <a:pPr indent="0" marL="0">
                        <a:buNone/>
                      </a:pPr>
                      <a:r>
                        <a:rPr lang="en-US" sz="1100" b="1" dirty="0">
                          <a:solidFill>
                            <a:srgbClr val="1B2A30"/>
                          </a:solidFill>
                          <a:latin typeface="Cambria" pitchFamily="34" charset="0"/>
                          <a:ea typeface="Cambria" pitchFamily="34" charset="-122"/>
                          <a:cs typeface="Cambria" pitchFamily="34" charset="-120"/>
                        </a:rPr>
                        <a:t>Requisitos</a:t>
                      </a:r>
                      <a:endParaRPr lang="en-US" sz="110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4A5B62"/>
                          </a:solidFill>
                          <a:latin typeface="Calibri" pitchFamily="34" charset="0"/>
                          <a:ea typeface="Calibri" pitchFamily="34" charset="-122"/>
                          <a:cs typeface="Calibri" pitchFamily="34" charset="-120"/>
                        </a:rPr>
                        <a:t>Excel básico</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Título profesional; SQL intermedio; Power BI intermedio; Excel avanzado; Databricks; normativa CMF</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1F6F7"/>
                    </a:solidFill>
                  </a:tcPr>
                </a:tc>
              </a:tr>
              <a:tr h="658368">
                <a:tc>
                  <a:txBody>
                    <a:bodyPr/>
                    <a:lstStyle/>
                    <a:p>
                      <a:pPr indent="0" marL="0">
                        <a:buNone/>
                      </a:pPr>
                      <a:r>
                        <a:rPr lang="en-US" sz="1100" b="1" dirty="0">
                          <a:solidFill>
                            <a:srgbClr val="1B2A30"/>
                          </a:solidFill>
                          <a:latin typeface="Cambria" pitchFamily="34" charset="0"/>
                          <a:ea typeface="Cambria" pitchFamily="34" charset="-122"/>
                          <a:cs typeface="Cambria" pitchFamily="34" charset="-120"/>
                        </a:rPr>
                        <a:t>Interlocutores</a:t>
                      </a:r>
                      <a:endParaRPr lang="en-US" sz="110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4A5B62"/>
                          </a:solidFill>
                          <a:latin typeface="Calibri" pitchFamily="34" charset="0"/>
                          <a:ea typeface="Calibri" pitchFamily="34" charset="-122"/>
                          <a:cs typeface="Calibri" pitchFamily="34" charset="-120"/>
                        </a:rPr>
                        <a:t>Institución de origen, Redbanc</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Contabilidad, fábricas de productos, Gerencia de Reguladores Financieros, Unidad de Reportes Regulatorios, Fiscalía, SERNAC</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1F6F7"/>
                    </a:solidFill>
                  </a:tcPr>
                </a:tc>
              </a:tr>
              <a:tr h="502920">
                <a:tc>
                  <a:txBody>
                    <a:bodyPr/>
                    <a:lstStyle/>
                    <a:p>
                      <a:pPr indent="0" marL="0">
                        <a:buNone/>
                      </a:pPr>
                      <a:r>
                        <a:rPr lang="en-US" sz="1100" b="1" dirty="0">
                          <a:solidFill>
                            <a:srgbClr val="1B2A30"/>
                          </a:solidFill>
                          <a:latin typeface="Cambria" pitchFamily="34" charset="0"/>
                          <a:ea typeface="Cambria" pitchFamily="34" charset="-122"/>
                          <a:cs typeface="Cambria" pitchFamily="34" charset="-120"/>
                        </a:rPr>
                        <a:t>Orientación</a:t>
                      </a:r>
                      <a:endParaRPr lang="en-US" sz="1100" dirty="0">
                        <a:latin typeface="Cambria" charset="0"/>
                        <a:ea typeface="Cambria" charset="0"/>
                        <a:cs typeface="Cambria"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4A5B62"/>
                          </a:solidFill>
                          <a:latin typeface="Calibri" pitchFamily="34" charset="0"/>
                          <a:ea typeface="Calibri" pitchFamily="34" charset="-122"/>
                          <a:cs typeface="Calibri" pitchFamily="34" charset="-120"/>
                        </a:rPr>
                        <a:t>Ejecución operacional, atención reactiva</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Analítica, validación de consistencia, mejora continua proactiva</a:t>
                      </a:r>
                      <a:endParaRPr lang="en-US" sz="1100" dirty="0">
                        <a:latin typeface="Calibri" charset="0"/>
                        <a:ea typeface="Calibri" charset="0"/>
                        <a:cs typeface="Calibri" charset="0"/>
                      </a:endParaRPr>
                    </a:p>
                  </a:txBody>
                  <a:tcPr marL="76200" marR="762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1F6F7"/>
                    </a:solidFill>
                  </a:tcPr>
                </a:tc>
              </a:tr>
            </a:tbl>
          </a:graphicData>
        </a:graphic>
      </p:graphicFrame>
      <p:sp>
        <p:nvSpPr>
          <p:cNvPr id="5" name="Shape 2"/>
          <p:cNvSpPr/>
          <p:nvPr/>
        </p:nvSpPr>
        <p:spPr>
          <a:xfrm>
            <a:off x="548640" y="5532120"/>
            <a:ext cx="11091672" cy="685800"/>
          </a:xfrm>
          <a:prstGeom prst="roundRect">
            <a:avLst>
              <a:gd name="adj" fmla="val 10667"/>
            </a:avLst>
          </a:prstGeom>
          <a:solidFill>
            <a:srgbClr val="FBEEDC"/>
          </a:solidFill>
          <a:ln w="9525">
            <a:solidFill>
              <a:srgbClr val="E5C79A"/>
            </a:solidFill>
            <a:prstDash val="solid"/>
          </a:ln>
        </p:spPr>
      </p:sp>
      <p:sp>
        <p:nvSpPr>
          <p:cNvPr id="6" name="Text 3"/>
          <p:cNvSpPr txBox="1"/>
          <p:nvPr/>
        </p:nvSpPr>
        <p:spPr>
          <a:xfrm>
            <a:off x="731520" y="5532120"/>
            <a:ext cx="10725912" cy="685800"/>
          </a:xfrm>
          <a:prstGeom prst="rect">
            <a:avLst/>
          </a:prstGeom>
          <a:noFill/>
          <a:ln/>
        </p:spPr>
        <p:txBody>
          <a:bodyPr wrap="square" lIns="0" tIns="0" rIns="0" bIns="0" rtlCol="0" anchor="ctr"/>
          <a:lstStyle/>
          <a:p>
            <a:pPr indent="0" marL="0">
              <a:buNone/>
            </a:pPr>
            <a:r>
              <a:rPr lang="en-US" sz="1250" b="1" dirty="0">
                <a:solidFill>
                  <a:srgbClr val="B8641A"/>
                </a:solidFill>
                <a:latin typeface="Calibri" pitchFamily="34" charset="0"/>
                <a:ea typeface="Calibri" pitchFamily="34" charset="-122"/>
                <a:cs typeface="Calibri" pitchFamily="34" charset="-120"/>
              </a:rPr>
              <a:t>Pendiente desde 2024: </a:t>
            </a:r>
            <a:pPr indent="0" marL="0">
              <a:buNone/>
            </a:pPr>
            <a:r>
              <a:rPr lang="en-US" sz="1250" dirty="0">
                <a:solidFill>
                  <a:srgbClr val="1B2A30"/>
                </a:solidFill>
                <a:latin typeface="Calibri" pitchFamily="34" charset="0"/>
                <a:ea typeface="Calibri" pitchFamily="34" charset="-122"/>
                <a:cs typeface="Calibri" pitchFamily="34" charset="-120"/>
              </a:rPr>
              <a:t>el diseño organizacional identificó como impacto el "pesaje de remuneración respecto a responsabilidad". Las funciones y competencias se actualizaron; la escala de cargos no.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Qué exige la función para ser confiable</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Cadena de confiabilidad por grado. Quien prepara nunca firma; ningún reporte crítico depende de una sola persona.</a:t>
            </a:r>
            <a:endParaRPr lang="en-US" sz="1400" dirty="0"/>
          </a:p>
        </p:txBody>
      </p:sp>
      <p:sp>
        <p:nvSpPr>
          <p:cNvPr id="4" name="Shape 2"/>
          <p:cNvSpPr/>
          <p:nvPr/>
        </p:nvSpPr>
        <p:spPr>
          <a:xfrm>
            <a:off x="548640" y="1783080"/>
            <a:ext cx="2606040" cy="2880360"/>
          </a:xfrm>
          <a:prstGeom prst="roundRect">
            <a:avLst>
              <a:gd name="adj" fmla="val 3509"/>
            </a:avLst>
          </a:prstGeom>
          <a:solidFill>
            <a:srgbClr val="F1F6F7"/>
          </a:solidFill>
          <a:ln w="9525">
            <a:solidFill>
              <a:srgbClr val="C9D6DA"/>
            </a:solidFill>
            <a:prstDash val="solid"/>
          </a:ln>
        </p:spPr>
      </p:sp>
      <p:sp>
        <p:nvSpPr>
          <p:cNvPr id="5" name="Shape 3"/>
          <p:cNvSpPr/>
          <p:nvPr/>
        </p:nvSpPr>
        <p:spPr>
          <a:xfrm>
            <a:off x="749808" y="1984248"/>
            <a:ext cx="566928" cy="566928"/>
          </a:xfrm>
          <a:prstGeom prst="ellipse">
            <a:avLst/>
          </a:prstGeom>
          <a:solidFill>
            <a:srgbClr val="86B6EF"/>
          </a:solidFill>
          <a:ln w="12700">
            <a:solidFill>
              <a:srgbClr val="86B6EF"/>
            </a:solidFill>
            <a:prstDash val="solid"/>
          </a:ln>
        </p:spPr>
      </p:sp>
      <p:sp>
        <p:nvSpPr>
          <p:cNvPr id="6" name="Text 4"/>
          <p:cNvSpPr txBox="1"/>
          <p:nvPr/>
        </p:nvSpPr>
        <p:spPr>
          <a:xfrm>
            <a:off x="749808" y="1984248"/>
            <a:ext cx="566928" cy="566928"/>
          </a:xfrm>
          <a:prstGeom prst="rect">
            <a:avLst/>
          </a:prstGeom>
          <a:noFill/>
          <a:ln/>
        </p:spPr>
        <p:txBody>
          <a:bodyPr wrap="square" lIns="0" tIns="0" rIns="0" bIns="0" rtlCol="0" anchor="ctr"/>
          <a:lstStyle/>
          <a:p>
            <a:pPr algn="ctr" indent="0" marL="0">
              <a:buNone/>
            </a:pPr>
            <a:r>
              <a:rPr lang="en-US" sz="1400" b="1" dirty="0">
                <a:solidFill>
                  <a:srgbClr val="1B2A30"/>
                </a:solidFill>
                <a:latin typeface="Courier New" pitchFamily="34" charset="0"/>
                <a:ea typeface="Courier New" pitchFamily="34" charset="-122"/>
                <a:cs typeface="Courier New" pitchFamily="34" charset="-120"/>
              </a:rPr>
              <a:t>G1</a:t>
            </a:r>
            <a:endParaRPr lang="en-US" sz="1400" dirty="0"/>
          </a:p>
        </p:txBody>
      </p:sp>
      <p:sp>
        <p:nvSpPr>
          <p:cNvPr id="7" name="Text 5"/>
          <p:cNvSpPr txBox="1"/>
          <p:nvPr/>
        </p:nvSpPr>
        <p:spPr>
          <a:xfrm>
            <a:off x="1463040" y="1965960"/>
            <a:ext cx="1554480" cy="329184"/>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Analista</a:t>
            </a:r>
            <a:endParaRPr lang="en-US" sz="1500" dirty="0"/>
          </a:p>
        </p:txBody>
      </p:sp>
      <p:sp>
        <p:nvSpPr>
          <p:cNvPr id="8" name="Text 6"/>
          <p:cNvSpPr txBox="1"/>
          <p:nvPr/>
        </p:nvSpPr>
        <p:spPr>
          <a:xfrm>
            <a:off x="1463040" y="2276856"/>
            <a:ext cx="1554480" cy="274320"/>
          </a:xfrm>
          <a:prstGeom prst="rect">
            <a:avLst/>
          </a:prstGeom>
          <a:noFill/>
          <a:ln/>
        </p:spPr>
        <p:txBody>
          <a:bodyPr wrap="square" lIns="0" tIns="0" rIns="0" bIns="0" rtlCol="0" anchor="ctr"/>
          <a:lstStyle/>
          <a:p>
            <a:pPr indent="0" marL="0">
              <a:buNone/>
            </a:pPr>
            <a:r>
              <a:rPr lang="en-US" sz="1150" i="1" dirty="0">
                <a:solidFill>
                  <a:srgbClr val="1F4FD1"/>
                </a:solidFill>
                <a:latin typeface="Calibri" pitchFamily="34" charset="0"/>
                <a:ea typeface="Calibri" pitchFamily="34" charset="-122"/>
                <a:cs typeface="Calibri" pitchFamily="34" charset="-120"/>
              </a:rPr>
              <a:t>Produce</a:t>
            </a:r>
            <a:endParaRPr lang="en-US" sz="1150" dirty="0"/>
          </a:p>
        </p:txBody>
      </p:sp>
      <p:sp>
        <p:nvSpPr>
          <p:cNvPr id="9" name="Text 7"/>
          <p:cNvSpPr txBox="1"/>
          <p:nvPr/>
        </p:nvSpPr>
        <p:spPr>
          <a:xfrm>
            <a:off x="749808" y="2743200"/>
            <a:ext cx="2203704" cy="18288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Ejecuta extracción, cuadratura y carga de reportes de rutina y alta frecuencia con procedimiento documentado.</a:t>
            </a:r>
            <a:endParaRPr lang="en-US" sz="1150" dirty="0"/>
          </a:p>
        </p:txBody>
      </p:sp>
      <p:sp>
        <p:nvSpPr>
          <p:cNvPr id="10" name="Shape 8"/>
          <p:cNvSpPr/>
          <p:nvPr/>
        </p:nvSpPr>
        <p:spPr>
          <a:xfrm>
            <a:off x="3337560" y="1783080"/>
            <a:ext cx="2606040" cy="2880360"/>
          </a:xfrm>
          <a:prstGeom prst="roundRect">
            <a:avLst>
              <a:gd name="adj" fmla="val 3509"/>
            </a:avLst>
          </a:prstGeom>
          <a:solidFill>
            <a:srgbClr val="F1F6F7"/>
          </a:solidFill>
          <a:ln w="9525">
            <a:solidFill>
              <a:srgbClr val="C9D6DA"/>
            </a:solidFill>
            <a:prstDash val="solid"/>
          </a:ln>
        </p:spPr>
      </p:sp>
      <p:sp>
        <p:nvSpPr>
          <p:cNvPr id="11" name="Shape 9"/>
          <p:cNvSpPr/>
          <p:nvPr/>
        </p:nvSpPr>
        <p:spPr>
          <a:xfrm>
            <a:off x="3538728" y="1984248"/>
            <a:ext cx="566928" cy="566928"/>
          </a:xfrm>
          <a:prstGeom prst="ellipse">
            <a:avLst/>
          </a:prstGeom>
          <a:solidFill>
            <a:srgbClr val="86B6EF"/>
          </a:solidFill>
          <a:ln w="12700">
            <a:solidFill>
              <a:srgbClr val="86B6EF"/>
            </a:solidFill>
            <a:prstDash val="solid"/>
          </a:ln>
        </p:spPr>
      </p:sp>
      <p:sp>
        <p:nvSpPr>
          <p:cNvPr id="12" name="Text 10"/>
          <p:cNvSpPr txBox="1"/>
          <p:nvPr/>
        </p:nvSpPr>
        <p:spPr>
          <a:xfrm>
            <a:off x="3538728" y="1984248"/>
            <a:ext cx="566928" cy="566928"/>
          </a:xfrm>
          <a:prstGeom prst="rect">
            <a:avLst/>
          </a:prstGeom>
          <a:noFill/>
          <a:ln/>
        </p:spPr>
        <p:txBody>
          <a:bodyPr wrap="square" lIns="0" tIns="0" rIns="0" bIns="0" rtlCol="0" anchor="ctr"/>
          <a:lstStyle/>
          <a:p>
            <a:pPr algn="ctr" indent="0" marL="0">
              <a:buNone/>
            </a:pPr>
            <a:r>
              <a:rPr lang="en-US" sz="1400" b="1" dirty="0">
                <a:solidFill>
                  <a:srgbClr val="1B2A30"/>
                </a:solidFill>
                <a:latin typeface="Courier New" pitchFamily="34" charset="0"/>
                <a:ea typeface="Courier New" pitchFamily="34" charset="-122"/>
                <a:cs typeface="Courier New" pitchFamily="34" charset="-120"/>
              </a:rPr>
              <a:t>G2</a:t>
            </a:r>
            <a:endParaRPr lang="en-US" sz="1400" dirty="0"/>
          </a:p>
        </p:txBody>
      </p:sp>
      <p:sp>
        <p:nvSpPr>
          <p:cNvPr id="13" name="Text 11"/>
          <p:cNvSpPr txBox="1"/>
          <p:nvPr/>
        </p:nvSpPr>
        <p:spPr>
          <a:xfrm>
            <a:off x="4251960" y="1965960"/>
            <a:ext cx="1554480" cy="329184"/>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Analista Senior</a:t>
            </a:r>
            <a:endParaRPr lang="en-US" sz="1500" dirty="0"/>
          </a:p>
        </p:txBody>
      </p:sp>
      <p:sp>
        <p:nvSpPr>
          <p:cNvPr id="14" name="Text 12"/>
          <p:cNvSpPr txBox="1"/>
          <p:nvPr/>
        </p:nvSpPr>
        <p:spPr>
          <a:xfrm>
            <a:off x="4251960" y="2276856"/>
            <a:ext cx="1554480" cy="274320"/>
          </a:xfrm>
          <a:prstGeom prst="rect">
            <a:avLst/>
          </a:prstGeom>
          <a:noFill/>
          <a:ln/>
        </p:spPr>
        <p:txBody>
          <a:bodyPr wrap="square" lIns="0" tIns="0" rIns="0" bIns="0" rtlCol="0" anchor="ctr"/>
          <a:lstStyle/>
          <a:p>
            <a:pPr indent="0" marL="0">
              <a:buNone/>
            </a:pPr>
            <a:r>
              <a:rPr lang="en-US" sz="1150" i="1" dirty="0">
                <a:solidFill>
                  <a:srgbClr val="1F4FD1"/>
                </a:solidFill>
                <a:latin typeface="Calibri" pitchFamily="34" charset="0"/>
                <a:ea typeface="Calibri" pitchFamily="34" charset="-122"/>
                <a:cs typeface="Calibri" pitchFamily="34" charset="-120"/>
              </a:rPr>
              <a:t>Controla</a:t>
            </a:r>
            <a:endParaRPr lang="en-US" sz="1150" dirty="0"/>
          </a:p>
        </p:txBody>
      </p:sp>
      <p:sp>
        <p:nvSpPr>
          <p:cNvPr id="15" name="Text 13"/>
          <p:cNvSpPr txBox="1"/>
          <p:nvPr/>
        </p:nvSpPr>
        <p:spPr>
          <a:xfrm>
            <a:off x="3538728" y="2743200"/>
            <a:ext cx="2203704" cy="18288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Dueño técnico de un bloque de reportes; segundo par de ojos; responde observaciones técnicas del regulador.</a:t>
            </a:r>
            <a:endParaRPr lang="en-US" sz="1150" dirty="0"/>
          </a:p>
        </p:txBody>
      </p:sp>
      <p:sp>
        <p:nvSpPr>
          <p:cNvPr id="16" name="Shape 14"/>
          <p:cNvSpPr/>
          <p:nvPr/>
        </p:nvSpPr>
        <p:spPr>
          <a:xfrm>
            <a:off x="6126480" y="1783080"/>
            <a:ext cx="2606040" cy="2880360"/>
          </a:xfrm>
          <a:prstGeom prst="roundRect">
            <a:avLst>
              <a:gd name="adj" fmla="val 3509"/>
            </a:avLst>
          </a:prstGeom>
          <a:solidFill>
            <a:srgbClr val="F1F6F7"/>
          </a:solidFill>
          <a:ln w="9525">
            <a:solidFill>
              <a:srgbClr val="C9D6DA"/>
            </a:solidFill>
            <a:prstDash val="solid"/>
          </a:ln>
        </p:spPr>
      </p:sp>
      <p:sp>
        <p:nvSpPr>
          <p:cNvPr id="17" name="Shape 15"/>
          <p:cNvSpPr/>
          <p:nvPr/>
        </p:nvSpPr>
        <p:spPr>
          <a:xfrm>
            <a:off x="6327648" y="1984248"/>
            <a:ext cx="566928" cy="566928"/>
          </a:xfrm>
          <a:prstGeom prst="ellipse">
            <a:avLst/>
          </a:prstGeom>
          <a:solidFill>
            <a:srgbClr val="2A78D6"/>
          </a:solidFill>
          <a:ln w="12700">
            <a:solidFill>
              <a:srgbClr val="2A78D6"/>
            </a:solidFill>
            <a:prstDash val="solid"/>
          </a:ln>
        </p:spPr>
      </p:sp>
      <p:sp>
        <p:nvSpPr>
          <p:cNvPr id="18" name="Text 16"/>
          <p:cNvSpPr txBox="1"/>
          <p:nvPr/>
        </p:nvSpPr>
        <p:spPr>
          <a:xfrm>
            <a:off x="6327648" y="198424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G3</a:t>
            </a:r>
            <a:endParaRPr lang="en-US" sz="1400" dirty="0"/>
          </a:p>
        </p:txBody>
      </p:sp>
      <p:sp>
        <p:nvSpPr>
          <p:cNvPr id="19" name="Text 17"/>
          <p:cNvSpPr txBox="1"/>
          <p:nvPr/>
        </p:nvSpPr>
        <p:spPr>
          <a:xfrm>
            <a:off x="7040880" y="1965960"/>
            <a:ext cx="1554480" cy="329184"/>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Jefe</a:t>
            </a:r>
            <a:endParaRPr lang="en-US" sz="1500" dirty="0"/>
          </a:p>
        </p:txBody>
      </p:sp>
      <p:sp>
        <p:nvSpPr>
          <p:cNvPr id="20" name="Text 18"/>
          <p:cNvSpPr txBox="1"/>
          <p:nvPr/>
        </p:nvSpPr>
        <p:spPr>
          <a:xfrm>
            <a:off x="7040880" y="2276856"/>
            <a:ext cx="1554480" cy="274320"/>
          </a:xfrm>
          <a:prstGeom prst="rect">
            <a:avLst/>
          </a:prstGeom>
          <a:noFill/>
          <a:ln/>
        </p:spPr>
        <p:txBody>
          <a:bodyPr wrap="square" lIns="0" tIns="0" rIns="0" bIns="0" rtlCol="0" anchor="ctr"/>
          <a:lstStyle/>
          <a:p>
            <a:pPr indent="0" marL="0">
              <a:buNone/>
            </a:pPr>
            <a:r>
              <a:rPr lang="en-US" sz="1150" i="1" dirty="0">
                <a:solidFill>
                  <a:srgbClr val="1F4FD1"/>
                </a:solidFill>
                <a:latin typeface="Calibri" pitchFamily="34" charset="0"/>
                <a:ea typeface="Calibri" pitchFamily="34" charset="-122"/>
                <a:cs typeface="Calibri" pitchFamily="34" charset="-120"/>
              </a:rPr>
              <a:t>Responde</a:t>
            </a:r>
            <a:endParaRPr lang="en-US" sz="1150" dirty="0"/>
          </a:p>
        </p:txBody>
      </p:sp>
      <p:sp>
        <p:nvSpPr>
          <p:cNvPr id="21" name="Text 19"/>
          <p:cNvSpPr txBox="1"/>
          <p:nvPr/>
        </p:nvSpPr>
        <p:spPr>
          <a:xfrm>
            <a:off x="6327648" y="2743200"/>
            <a:ext cx="2203704" cy="18288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Aprueba el envío, gestiona el calendario regulatorio, atiende al supervisor y a auditoría, asigna respaldos.</a:t>
            </a:r>
            <a:endParaRPr lang="en-US" sz="1150" dirty="0"/>
          </a:p>
        </p:txBody>
      </p:sp>
      <p:sp>
        <p:nvSpPr>
          <p:cNvPr id="22" name="Shape 20"/>
          <p:cNvSpPr/>
          <p:nvPr/>
        </p:nvSpPr>
        <p:spPr>
          <a:xfrm>
            <a:off x="8915400" y="1783080"/>
            <a:ext cx="2606040" cy="2880360"/>
          </a:xfrm>
          <a:prstGeom prst="roundRect">
            <a:avLst>
              <a:gd name="adj" fmla="val 3509"/>
            </a:avLst>
          </a:prstGeom>
          <a:solidFill>
            <a:srgbClr val="F1F6F7"/>
          </a:solidFill>
          <a:ln w="9525">
            <a:solidFill>
              <a:srgbClr val="C9D6DA"/>
            </a:solidFill>
            <a:prstDash val="solid"/>
          </a:ln>
        </p:spPr>
      </p:sp>
      <p:sp>
        <p:nvSpPr>
          <p:cNvPr id="23" name="Shape 21"/>
          <p:cNvSpPr/>
          <p:nvPr/>
        </p:nvSpPr>
        <p:spPr>
          <a:xfrm>
            <a:off x="9116568" y="1984248"/>
            <a:ext cx="566928" cy="566928"/>
          </a:xfrm>
          <a:prstGeom prst="ellipse">
            <a:avLst/>
          </a:prstGeom>
          <a:solidFill>
            <a:srgbClr val="104281"/>
          </a:solidFill>
          <a:ln w="12700">
            <a:solidFill>
              <a:srgbClr val="104281"/>
            </a:solidFill>
            <a:prstDash val="solid"/>
          </a:ln>
        </p:spPr>
      </p:sp>
      <p:sp>
        <p:nvSpPr>
          <p:cNvPr id="24" name="Text 22"/>
          <p:cNvSpPr txBox="1"/>
          <p:nvPr/>
        </p:nvSpPr>
        <p:spPr>
          <a:xfrm>
            <a:off x="9116568" y="198424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G4</a:t>
            </a:r>
            <a:endParaRPr lang="en-US" sz="1400" dirty="0"/>
          </a:p>
        </p:txBody>
      </p:sp>
      <p:sp>
        <p:nvSpPr>
          <p:cNvPr id="25" name="Text 23"/>
          <p:cNvSpPr txBox="1"/>
          <p:nvPr/>
        </p:nvSpPr>
        <p:spPr>
          <a:xfrm>
            <a:off x="9829800" y="1965960"/>
            <a:ext cx="1554480" cy="329184"/>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Subgerente</a:t>
            </a:r>
            <a:endParaRPr lang="en-US" sz="1500" dirty="0"/>
          </a:p>
        </p:txBody>
      </p:sp>
      <p:sp>
        <p:nvSpPr>
          <p:cNvPr id="26" name="Text 24"/>
          <p:cNvSpPr txBox="1"/>
          <p:nvPr/>
        </p:nvSpPr>
        <p:spPr>
          <a:xfrm>
            <a:off x="9829800" y="2276856"/>
            <a:ext cx="1554480" cy="274320"/>
          </a:xfrm>
          <a:prstGeom prst="rect">
            <a:avLst/>
          </a:prstGeom>
          <a:noFill/>
          <a:ln/>
        </p:spPr>
        <p:txBody>
          <a:bodyPr wrap="square" lIns="0" tIns="0" rIns="0" bIns="0" rtlCol="0" anchor="ctr"/>
          <a:lstStyle/>
          <a:p>
            <a:pPr indent="0" marL="0">
              <a:buNone/>
            </a:pPr>
            <a:r>
              <a:rPr lang="en-US" sz="1150" i="1" dirty="0">
                <a:solidFill>
                  <a:srgbClr val="1F4FD1"/>
                </a:solidFill>
                <a:latin typeface="Calibri" pitchFamily="34" charset="0"/>
                <a:ea typeface="Calibri" pitchFamily="34" charset="-122"/>
                <a:cs typeface="Calibri" pitchFamily="34" charset="-120"/>
              </a:rPr>
              <a:t>Rinde cuentas</a:t>
            </a:r>
            <a:endParaRPr lang="en-US" sz="1150" dirty="0"/>
          </a:p>
        </p:txBody>
      </p:sp>
      <p:sp>
        <p:nvSpPr>
          <p:cNvPr id="27" name="Text 25"/>
          <p:cNvSpPr txBox="1"/>
          <p:nvPr/>
        </p:nvSpPr>
        <p:spPr>
          <a:xfrm>
            <a:off x="9116568" y="2743200"/>
            <a:ext cx="2203704" cy="182880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Dueño del proceso: controles, automatización, implementación de nuevas normas, firma del núcleo de cumplimiento.</a:t>
            </a:r>
            <a:endParaRPr lang="en-US" sz="1150" dirty="0"/>
          </a:p>
        </p:txBody>
      </p:sp>
      <p:sp>
        <p:nvSpPr>
          <p:cNvPr id="28" name="Text 26"/>
          <p:cNvSpPr txBox="1"/>
          <p:nvPr/>
        </p:nvSpPr>
        <p:spPr>
          <a:xfrm>
            <a:off x="548640" y="4892040"/>
            <a:ext cx="5486400" cy="365760"/>
          </a:xfrm>
          <a:prstGeom prst="rect">
            <a:avLst/>
          </a:prstGeom>
          <a:noFill/>
          <a:ln/>
        </p:spPr>
        <p:txBody>
          <a:bodyPr wrap="square" lIns="0" tIns="0" rIns="0" bIns="0" rtlCol="0" anchor="ctr"/>
          <a:lstStyle/>
          <a:p>
            <a:pPr indent="0" marL="0">
              <a:buNone/>
            </a:pPr>
            <a:r>
              <a:rPr lang="en-US" sz="1500" b="1" dirty="0">
                <a:solidFill>
                  <a:srgbClr val="1F4E5A"/>
                </a:solidFill>
                <a:latin typeface="Cambria" pitchFamily="34" charset="0"/>
                <a:ea typeface="Cambria" pitchFamily="34" charset="-122"/>
                <a:cs typeface="Cambria" pitchFamily="34" charset="-120"/>
              </a:rPr>
              <a:t>Dónde está el equipo hoy</a:t>
            </a:r>
            <a:endParaRPr lang="en-US" sz="1500" dirty="0"/>
          </a:p>
        </p:txBody>
      </p:sp>
      <p:sp>
        <p:nvSpPr>
          <p:cNvPr id="29" name="Text 27"/>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250" dirty="0">
                <a:solidFill>
                  <a:srgbClr val="1B2A30"/>
                </a:solidFill>
                <a:latin typeface="Calibri" pitchFamily="34" charset="0"/>
                <a:ea typeface="Calibri" pitchFamily="34" charset="-122"/>
                <a:cs typeface="Calibri" pitchFamily="34" charset="-120"/>
              </a:rPr>
              <a:t>Seis profesionales (ingeniería comercial, informática y finanzas) cubren en la práctica funciones de G1 a G3: producen, controlan y responden ante el regulador. La escala con la que están valorados proviene del proceso de portabilidad de 2020. El grado formal de cada uno debe confirmarse con Personas en la fase de diagnóstico.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Cómo tratan esta función los bancos sistémicos</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Referencia cualitativa a partir de información pública; sin cifras en esta etapa.</a:t>
            </a:r>
            <a:endParaRPr lang="en-US" sz="1400" dirty="0"/>
          </a:p>
        </p:txBody>
      </p:sp>
      <p:sp>
        <p:nvSpPr>
          <p:cNvPr id="4" name="Shape 2"/>
          <p:cNvSpPr/>
          <p:nvPr/>
        </p:nvSpPr>
        <p:spPr>
          <a:xfrm>
            <a:off x="548640" y="1783080"/>
            <a:ext cx="2606040" cy="3566160"/>
          </a:xfrm>
          <a:prstGeom prst="roundRect">
            <a:avLst>
              <a:gd name="adj" fmla="val 3509"/>
            </a:avLst>
          </a:prstGeom>
          <a:solidFill>
            <a:srgbClr val="F1F6F7"/>
          </a:solidFill>
          <a:ln w="9525">
            <a:solidFill>
              <a:srgbClr val="C9D6DA"/>
            </a:solidFill>
            <a:prstDash val="solid"/>
          </a:ln>
        </p:spPr>
      </p:sp>
      <p:sp>
        <p:nvSpPr>
          <p:cNvPr id="5" name="Text 3"/>
          <p:cNvSpPr txBox="1"/>
          <p:nvPr/>
        </p:nvSpPr>
        <p:spPr>
          <a:xfrm>
            <a:off x="749808" y="1929384"/>
            <a:ext cx="2203704" cy="384048"/>
          </a:xfrm>
          <a:prstGeom prst="rect">
            <a:avLst/>
          </a:prstGeom>
          <a:noFill/>
          <a:ln/>
        </p:spPr>
        <p:txBody>
          <a:bodyPr wrap="square" lIns="0" tIns="0" rIns="0" bIns="0" rtlCol="0" anchor="ctr"/>
          <a:lstStyle/>
          <a:p>
            <a:pPr indent="0" marL="0">
              <a:buNone/>
            </a:pPr>
            <a:r>
              <a:rPr lang="en-US" sz="1400" b="1" dirty="0">
                <a:solidFill>
                  <a:srgbClr val="1F4E5A"/>
                </a:solidFill>
                <a:latin typeface="Cambria" pitchFamily="34" charset="0"/>
                <a:ea typeface="Cambria" pitchFamily="34" charset="-122"/>
                <a:cs typeface="Cambria" pitchFamily="34" charset="-120"/>
              </a:rPr>
              <a:t>Función especializada</a:t>
            </a:r>
            <a:endParaRPr lang="en-US" sz="1400" dirty="0"/>
          </a:p>
        </p:txBody>
      </p:sp>
      <p:sp>
        <p:nvSpPr>
          <p:cNvPr id="6" name="Text 4"/>
          <p:cNvSpPr txBox="1"/>
          <p:nvPr/>
        </p:nvSpPr>
        <p:spPr>
          <a:xfrm>
            <a:off x="749808" y="2331720"/>
            <a:ext cx="2203704" cy="288036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La reportería regulatoria opera en unidades dedicadas, separadas de los procesos de producto, con dueños por bloque de archivos del MSI y un responsable del proceso completo.</a:t>
            </a:r>
            <a:endParaRPr lang="en-US" sz="1150" dirty="0"/>
          </a:p>
        </p:txBody>
      </p:sp>
      <p:sp>
        <p:nvSpPr>
          <p:cNvPr id="7" name="Shape 5"/>
          <p:cNvSpPr/>
          <p:nvPr/>
        </p:nvSpPr>
        <p:spPr>
          <a:xfrm>
            <a:off x="3337560" y="1783080"/>
            <a:ext cx="2606040" cy="3566160"/>
          </a:xfrm>
          <a:prstGeom prst="roundRect">
            <a:avLst>
              <a:gd name="adj" fmla="val 3509"/>
            </a:avLst>
          </a:prstGeom>
          <a:solidFill>
            <a:srgbClr val="F1F6F7"/>
          </a:solidFill>
          <a:ln w="9525">
            <a:solidFill>
              <a:srgbClr val="C9D6DA"/>
            </a:solidFill>
            <a:prstDash val="solid"/>
          </a:ln>
        </p:spPr>
      </p:sp>
      <p:sp>
        <p:nvSpPr>
          <p:cNvPr id="8" name="Text 6"/>
          <p:cNvSpPr txBox="1"/>
          <p:nvPr/>
        </p:nvSpPr>
        <p:spPr>
          <a:xfrm>
            <a:off x="3538728" y="1929384"/>
            <a:ext cx="2203704" cy="384048"/>
          </a:xfrm>
          <a:prstGeom prst="rect">
            <a:avLst/>
          </a:prstGeom>
          <a:noFill/>
          <a:ln/>
        </p:spPr>
        <p:txBody>
          <a:bodyPr wrap="square" lIns="0" tIns="0" rIns="0" bIns="0" rtlCol="0" anchor="ctr"/>
          <a:lstStyle/>
          <a:p>
            <a:pPr indent="0" marL="0">
              <a:buNone/>
            </a:pPr>
            <a:r>
              <a:rPr lang="en-US" sz="1400" b="1" dirty="0">
                <a:solidFill>
                  <a:srgbClr val="1F4E5A"/>
                </a:solidFill>
                <a:latin typeface="Cambria" pitchFamily="34" charset="0"/>
                <a:ea typeface="Cambria" pitchFamily="34" charset="-122"/>
                <a:cs typeface="Cambria" pitchFamily="34" charset="-120"/>
              </a:rPr>
              <a:t>Escala diferenciada</a:t>
            </a:r>
            <a:endParaRPr lang="en-US" sz="1400" dirty="0"/>
          </a:p>
        </p:txBody>
      </p:sp>
      <p:sp>
        <p:nvSpPr>
          <p:cNvPr id="9" name="Text 7"/>
          <p:cNvSpPr txBox="1"/>
          <p:nvPr/>
        </p:nvSpPr>
        <p:spPr>
          <a:xfrm>
            <a:off x="3538728" y="2331720"/>
            <a:ext cx="2203704" cy="288036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Analista, analista senior, jefe y subgerente son grados distintos, con separación entre quien prepara y quien firma. Las referencias públicas de remuneración ubican jefaturas y especialistas contables en bandas distintas a los analistas operativos.</a:t>
            </a:r>
            <a:endParaRPr lang="en-US" sz="1150" dirty="0"/>
          </a:p>
        </p:txBody>
      </p:sp>
      <p:sp>
        <p:nvSpPr>
          <p:cNvPr id="10" name="Shape 8"/>
          <p:cNvSpPr/>
          <p:nvPr/>
        </p:nvSpPr>
        <p:spPr>
          <a:xfrm>
            <a:off x="6126480" y="1783080"/>
            <a:ext cx="2606040" cy="3566160"/>
          </a:xfrm>
          <a:prstGeom prst="roundRect">
            <a:avLst>
              <a:gd name="adj" fmla="val 3509"/>
            </a:avLst>
          </a:prstGeom>
          <a:solidFill>
            <a:srgbClr val="F1F6F7"/>
          </a:solidFill>
          <a:ln w="9525">
            <a:solidFill>
              <a:srgbClr val="C9D6DA"/>
            </a:solidFill>
            <a:prstDash val="solid"/>
          </a:ln>
        </p:spPr>
      </p:sp>
      <p:sp>
        <p:nvSpPr>
          <p:cNvPr id="11" name="Text 9"/>
          <p:cNvSpPr txBox="1"/>
          <p:nvPr/>
        </p:nvSpPr>
        <p:spPr>
          <a:xfrm>
            <a:off x="6327648" y="1929384"/>
            <a:ext cx="2203704" cy="384048"/>
          </a:xfrm>
          <a:prstGeom prst="rect">
            <a:avLst/>
          </a:prstGeom>
          <a:noFill/>
          <a:ln/>
        </p:spPr>
        <p:txBody>
          <a:bodyPr wrap="square" lIns="0" tIns="0" rIns="0" bIns="0" rtlCol="0" anchor="ctr"/>
          <a:lstStyle/>
          <a:p>
            <a:pPr indent="0" marL="0">
              <a:buNone/>
            </a:pPr>
            <a:r>
              <a:rPr lang="en-US" sz="1400" b="1" dirty="0">
                <a:solidFill>
                  <a:srgbClr val="1F4E5A"/>
                </a:solidFill>
                <a:latin typeface="Cambria" pitchFamily="34" charset="0"/>
                <a:ea typeface="Cambria" pitchFamily="34" charset="-122"/>
                <a:cs typeface="Cambria" pitchFamily="34" charset="-120"/>
              </a:rPr>
              <a:t>Competencias disputadas</a:t>
            </a:r>
            <a:endParaRPr lang="en-US" sz="1400" dirty="0"/>
          </a:p>
        </p:txBody>
      </p:sp>
      <p:sp>
        <p:nvSpPr>
          <p:cNvPr id="12" name="Text 10"/>
          <p:cNvSpPr txBox="1"/>
          <p:nvPr/>
        </p:nvSpPr>
        <p:spPr>
          <a:xfrm>
            <a:off x="6327648" y="2331720"/>
            <a:ext cx="2203704" cy="288036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SQL, plataformas de datos como Databricks y conocimiento del MSI y de Basilea III son el mismo perfil que buscan los pares. La rotación en estos cargos se paga en meses de curva de aprendizaje.</a:t>
            </a:r>
            <a:endParaRPr lang="en-US" sz="1150" dirty="0"/>
          </a:p>
        </p:txBody>
      </p:sp>
      <p:sp>
        <p:nvSpPr>
          <p:cNvPr id="13" name="Shape 11"/>
          <p:cNvSpPr/>
          <p:nvPr/>
        </p:nvSpPr>
        <p:spPr>
          <a:xfrm>
            <a:off x="8915400" y="1783080"/>
            <a:ext cx="2606040" cy="3566160"/>
          </a:xfrm>
          <a:prstGeom prst="roundRect">
            <a:avLst>
              <a:gd name="adj" fmla="val 3509"/>
            </a:avLst>
          </a:prstGeom>
          <a:solidFill>
            <a:srgbClr val="F1F6F7"/>
          </a:solidFill>
          <a:ln w="9525">
            <a:solidFill>
              <a:srgbClr val="C9D6DA"/>
            </a:solidFill>
            <a:prstDash val="solid"/>
          </a:ln>
        </p:spPr>
      </p:sp>
      <p:sp>
        <p:nvSpPr>
          <p:cNvPr id="14" name="Text 12"/>
          <p:cNvSpPr txBox="1"/>
          <p:nvPr/>
        </p:nvSpPr>
        <p:spPr>
          <a:xfrm>
            <a:off x="9116568" y="1929384"/>
            <a:ext cx="2203704" cy="384048"/>
          </a:xfrm>
          <a:prstGeom prst="rect">
            <a:avLst/>
          </a:prstGeom>
          <a:noFill/>
          <a:ln/>
        </p:spPr>
        <p:txBody>
          <a:bodyPr wrap="square" lIns="0" tIns="0" rIns="0" bIns="0" rtlCol="0" anchor="ctr"/>
          <a:lstStyle/>
          <a:p>
            <a:pPr indent="0" marL="0">
              <a:buNone/>
            </a:pPr>
            <a:r>
              <a:rPr lang="en-US" sz="1400" b="1" dirty="0">
                <a:solidFill>
                  <a:srgbClr val="1F4E5A"/>
                </a:solidFill>
                <a:latin typeface="Cambria" pitchFamily="34" charset="0"/>
                <a:ea typeface="Cambria" pitchFamily="34" charset="-122"/>
                <a:cs typeface="Cambria" pitchFamily="34" charset="-120"/>
              </a:rPr>
              <a:t>Perímetro en expansión</a:t>
            </a:r>
            <a:endParaRPr lang="en-US" sz="1400" dirty="0"/>
          </a:p>
        </p:txBody>
      </p:sp>
      <p:sp>
        <p:nvSpPr>
          <p:cNvPr id="15" name="Text 13"/>
          <p:cNvSpPr txBox="1"/>
          <p:nvPr/>
        </p:nvSpPr>
        <p:spPr>
          <a:xfrm>
            <a:off x="9116568" y="2331720"/>
            <a:ext cx="2203704" cy="2880360"/>
          </a:xfrm>
          <a:prstGeom prst="rect">
            <a:avLst/>
          </a:prstGeom>
          <a:noFill/>
          <a:ln/>
        </p:spPr>
        <p:txBody>
          <a:bodyPr wrap="square" lIns="0" tIns="0" rIns="0" bIns="0" rtlCol="0" anchor="t"/>
          <a:lstStyle/>
          <a:p>
            <a:pPr indent="0" marL="0">
              <a:buNone/>
            </a:pPr>
            <a:r>
              <a:rPr lang="en-US" sz="1150" dirty="0">
                <a:solidFill>
                  <a:srgbClr val="1B2A30"/>
                </a:solidFill>
                <a:latin typeface="Calibri" pitchFamily="34" charset="0"/>
                <a:ea typeface="Calibri" pitchFamily="34" charset="-122"/>
                <a:cs typeface="Calibri" pitchFamily="34" charset="-120"/>
              </a:rPr>
              <a:t>Registro de Deuda Consolidada, cierre de la implementación de Basilea III y cambios permanentes al MSI aumentan la carga en todos los bancos, lo que intensifica la competencia por el mismo talento.</a:t>
            </a:r>
            <a:endParaRPr lang="en-US" sz="1150" dirty="0"/>
          </a:p>
        </p:txBody>
      </p:sp>
      <p:sp>
        <p:nvSpPr>
          <p:cNvPr id="16" name="Text 14"/>
          <p:cNvSpPr txBox="1"/>
          <p:nvPr/>
        </p:nvSpPr>
        <p:spPr>
          <a:xfrm>
            <a:off x="548640" y="5532120"/>
            <a:ext cx="11091672" cy="731520"/>
          </a:xfrm>
          <a:prstGeom prst="rect">
            <a:avLst/>
          </a:prstGeom>
          <a:noFill/>
          <a:ln/>
        </p:spPr>
        <p:txBody>
          <a:bodyPr wrap="square" lIns="0" tIns="0" rIns="0" bIns="0" rtlCol="0" anchor="t"/>
          <a:lstStyle/>
          <a:p>
            <a:pPr indent="0" marL="0">
              <a:buNone/>
            </a:pPr>
            <a:r>
              <a:rPr lang="en-US" sz="1250" i="1" dirty="0">
                <a:solidFill>
                  <a:srgbClr val="4A5B62"/>
                </a:solidFill>
                <a:latin typeface="Calibri" pitchFamily="34" charset="0"/>
                <a:ea typeface="Calibri" pitchFamily="34" charset="-122"/>
                <a:cs typeface="Calibri" pitchFamily="34" charset="-120"/>
              </a:rPr>
              <a:t>Lo que esto significa para el banco: el equipo compite por talento con áreas y bancos que ya reconocen la función como especializada. Mantener la escala de 2020 es asumir un riesgo de retención en los reportes de mayor criticidad.</a:t>
            </a:r>
            <a:endParaRPr lang="en-US" sz="1250" dirty="0"/>
          </a:p>
        </p:txBody>
      </p:sp>
      <p:sp>
        <p:nvSpPr>
          <p:cNvPr id="17" name="Text 15"/>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979C"/>
                </a:solidFill>
                <a:latin typeface="Calibri" pitchFamily="34" charset="0"/>
                <a:ea typeface="Calibri" pitchFamily="34" charset="-122"/>
                <a:cs typeface="Calibri" pitchFamily="34" charset="-120"/>
              </a:rPr>
              <a:t>Basado en el documento de respaldo y en las fuentes públicas ahí citadas. Las cifras de mercado se presentarán con el diagnóstico.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Propuesta: reevaluar la escala en tres fases</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Cualitativa en esta etapa. Cada fase termina con un entregable verificable para el comité.</a:t>
            </a:r>
            <a:endParaRPr lang="en-US" sz="1400" dirty="0"/>
          </a:p>
        </p:txBody>
      </p:sp>
      <p:sp>
        <p:nvSpPr>
          <p:cNvPr id="4" name="Shape 2"/>
          <p:cNvSpPr/>
          <p:nvPr/>
        </p:nvSpPr>
        <p:spPr>
          <a:xfrm>
            <a:off x="548640" y="1737360"/>
            <a:ext cx="3566160" cy="4114800"/>
          </a:xfrm>
          <a:prstGeom prst="roundRect">
            <a:avLst>
              <a:gd name="adj" fmla="val 2564"/>
            </a:avLst>
          </a:prstGeom>
          <a:solidFill>
            <a:srgbClr val="F1F6F7"/>
          </a:solidFill>
          <a:ln w="9525">
            <a:solidFill>
              <a:srgbClr val="C9D6DA"/>
            </a:solidFill>
            <a:prstDash val="solid"/>
          </a:ln>
        </p:spPr>
      </p:sp>
      <p:sp>
        <p:nvSpPr>
          <p:cNvPr id="5" name="Text 3"/>
          <p:cNvSpPr txBox="1"/>
          <p:nvPr/>
        </p:nvSpPr>
        <p:spPr>
          <a:xfrm>
            <a:off x="777240" y="1901952"/>
            <a:ext cx="1097280" cy="274320"/>
          </a:xfrm>
          <a:prstGeom prst="rect">
            <a:avLst/>
          </a:prstGeom>
          <a:noFill/>
          <a:ln/>
        </p:spPr>
        <p:txBody>
          <a:bodyPr wrap="square" lIns="0" tIns="0" rIns="0" bIns="0" rtlCol="0" anchor="ctr"/>
          <a:lstStyle/>
          <a:p>
            <a:pPr indent="0" marL="0">
              <a:buNone/>
            </a:pPr>
            <a:r>
              <a:rPr lang="en-US" sz="1100" b="1" dirty="0">
                <a:solidFill>
                  <a:srgbClr val="1F4FD1"/>
                </a:solidFill>
                <a:latin typeface="Courier New" pitchFamily="34" charset="0"/>
                <a:ea typeface="Courier New" pitchFamily="34" charset="-122"/>
                <a:cs typeface="Courier New" pitchFamily="34" charset="-120"/>
              </a:rPr>
              <a:t>Fase 1</a:t>
            </a:r>
            <a:endParaRPr lang="en-US" sz="1100" dirty="0"/>
          </a:p>
        </p:txBody>
      </p:sp>
      <p:sp>
        <p:nvSpPr>
          <p:cNvPr id="6" name="Text 4"/>
          <p:cNvSpPr txBox="1"/>
          <p:nvPr/>
        </p:nvSpPr>
        <p:spPr>
          <a:xfrm>
            <a:off x="777240" y="2148840"/>
            <a:ext cx="3108960" cy="411480"/>
          </a:xfrm>
          <a:prstGeom prst="rect">
            <a:avLst/>
          </a:prstGeom>
          <a:noFill/>
          <a:ln/>
        </p:spPr>
        <p:txBody>
          <a:bodyPr wrap="square" lIns="0" tIns="0" rIns="0" bIns="0" rtlCol="0" anchor="ctr"/>
          <a:lstStyle/>
          <a:p>
            <a:pPr indent="0" marL="0">
              <a:buNone/>
            </a:pPr>
            <a:r>
              <a:rPr lang="en-US" sz="1900" b="1" dirty="0">
                <a:solidFill>
                  <a:srgbClr val="1F4E5A"/>
                </a:solidFill>
                <a:latin typeface="Cambria" pitchFamily="34" charset="0"/>
                <a:ea typeface="Cambria" pitchFamily="34" charset="-122"/>
                <a:cs typeface="Cambria" pitchFamily="34" charset="-120"/>
              </a:rPr>
              <a:t>Diagnóstico</a:t>
            </a:r>
            <a:endParaRPr lang="en-US" sz="1900" dirty="0"/>
          </a:p>
        </p:txBody>
      </p:sp>
      <p:sp>
        <p:nvSpPr>
          <p:cNvPr id="7" name="Text 5"/>
          <p:cNvSpPr txBox="1"/>
          <p:nvPr/>
        </p:nvSpPr>
        <p:spPr>
          <a:xfrm>
            <a:off x="777240" y="265176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Valoración formal de los cargos con Personas, usando la rúbrica de alcance: cobertura de reportes, autoridad de firma, interlocución con el regulador, equipo y complejidad.</a:t>
            </a:r>
            <a:endParaRPr lang="en-US" sz="1150" dirty="0"/>
          </a:p>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Matriz de responsabilidades por reporte: quién prepara, revisa, valida y firma.</a:t>
            </a:r>
            <a:endParaRPr lang="en-US" sz="1150" dirty="0"/>
          </a:p>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Mapa de puntos únicos de falla: reportes con una sola persona capacitada.</a:t>
            </a:r>
            <a:endParaRPr lang="en-US" sz="1150" dirty="0"/>
          </a:p>
        </p:txBody>
      </p:sp>
      <p:sp>
        <p:nvSpPr>
          <p:cNvPr id="8" name="Text 6"/>
          <p:cNvSpPr txBox="1"/>
          <p:nvPr/>
        </p:nvSpPr>
        <p:spPr>
          <a:xfrm>
            <a:off x="777240" y="5212080"/>
            <a:ext cx="3108960" cy="502920"/>
          </a:xfrm>
          <a:prstGeom prst="rect">
            <a:avLst/>
          </a:prstGeom>
          <a:noFill/>
          <a:ln/>
        </p:spPr>
        <p:txBody>
          <a:bodyPr wrap="square" lIns="0" tIns="0" rIns="0" bIns="0" rtlCol="0" anchor="b"/>
          <a:lstStyle/>
          <a:p>
            <a:pPr indent="0" marL="0">
              <a:buNone/>
            </a:pPr>
            <a:r>
              <a:rPr lang="en-US" sz="1100" i="1" dirty="0">
                <a:solidFill>
                  <a:srgbClr val="4A5B62"/>
                </a:solidFill>
                <a:latin typeface="Calibri" pitchFamily="34" charset="0"/>
                <a:ea typeface="Calibri" pitchFamily="34" charset="-122"/>
                <a:cs typeface="Calibri" pitchFamily="34" charset="-120"/>
              </a:rPr>
              <a:t>Entregable: informe de brechas de grado y de continuidad.</a:t>
            </a:r>
            <a:endParaRPr lang="en-US" sz="1100" dirty="0"/>
          </a:p>
        </p:txBody>
      </p:sp>
      <p:sp>
        <p:nvSpPr>
          <p:cNvPr id="9" name="Shape 7"/>
          <p:cNvSpPr/>
          <p:nvPr/>
        </p:nvSpPr>
        <p:spPr>
          <a:xfrm>
            <a:off x="4297680" y="1737360"/>
            <a:ext cx="3566160" cy="4114800"/>
          </a:xfrm>
          <a:prstGeom prst="roundRect">
            <a:avLst>
              <a:gd name="adj" fmla="val 2564"/>
            </a:avLst>
          </a:prstGeom>
          <a:solidFill>
            <a:srgbClr val="DCE9EC"/>
          </a:solidFill>
          <a:ln w="9525">
            <a:solidFill>
              <a:srgbClr val="C9D6DA"/>
            </a:solidFill>
            <a:prstDash val="solid"/>
          </a:ln>
        </p:spPr>
      </p:sp>
      <p:sp>
        <p:nvSpPr>
          <p:cNvPr id="10" name="Text 8"/>
          <p:cNvSpPr txBox="1"/>
          <p:nvPr/>
        </p:nvSpPr>
        <p:spPr>
          <a:xfrm>
            <a:off x="4526280" y="1901952"/>
            <a:ext cx="1097280" cy="274320"/>
          </a:xfrm>
          <a:prstGeom prst="rect">
            <a:avLst/>
          </a:prstGeom>
          <a:noFill/>
          <a:ln/>
        </p:spPr>
        <p:txBody>
          <a:bodyPr wrap="square" lIns="0" tIns="0" rIns="0" bIns="0" rtlCol="0" anchor="ctr"/>
          <a:lstStyle/>
          <a:p>
            <a:pPr indent="0" marL="0">
              <a:buNone/>
            </a:pPr>
            <a:r>
              <a:rPr lang="en-US" sz="1100" b="1" dirty="0">
                <a:solidFill>
                  <a:srgbClr val="1F4FD1"/>
                </a:solidFill>
                <a:latin typeface="Courier New" pitchFamily="34" charset="0"/>
                <a:ea typeface="Courier New" pitchFamily="34" charset="-122"/>
                <a:cs typeface="Courier New" pitchFamily="34" charset="-120"/>
              </a:rPr>
              <a:t>Fase 2</a:t>
            </a:r>
            <a:endParaRPr lang="en-US" sz="1100" dirty="0"/>
          </a:p>
        </p:txBody>
      </p:sp>
      <p:sp>
        <p:nvSpPr>
          <p:cNvPr id="11" name="Text 9"/>
          <p:cNvSpPr txBox="1"/>
          <p:nvPr/>
        </p:nvSpPr>
        <p:spPr>
          <a:xfrm>
            <a:off x="4526280" y="2148840"/>
            <a:ext cx="3108960" cy="411480"/>
          </a:xfrm>
          <a:prstGeom prst="rect">
            <a:avLst/>
          </a:prstGeom>
          <a:noFill/>
          <a:ln/>
        </p:spPr>
        <p:txBody>
          <a:bodyPr wrap="square" lIns="0" tIns="0" rIns="0" bIns="0" rtlCol="0" anchor="ctr"/>
          <a:lstStyle/>
          <a:p>
            <a:pPr indent="0" marL="0">
              <a:buNone/>
            </a:pPr>
            <a:r>
              <a:rPr lang="en-US" sz="1900" b="1" dirty="0">
                <a:solidFill>
                  <a:srgbClr val="1F4E5A"/>
                </a:solidFill>
                <a:latin typeface="Cambria" pitchFamily="34" charset="0"/>
                <a:ea typeface="Cambria" pitchFamily="34" charset="-122"/>
                <a:cs typeface="Cambria" pitchFamily="34" charset="-120"/>
              </a:rPr>
              <a:t>Diseño</a:t>
            </a:r>
            <a:endParaRPr lang="en-US" sz="1900" dirty="0"/>
          </a:p>
        </p:txBody>
      </p:sp>
      <p:sp>
        <p:nvSpPr>
          <p:cNvPr id="12" name="Text 10"/>
          <p:cNvSpPr txBox="1"/>
          <p:nvPr/>
        </p:nvSpPr>
        <p:spPr>
          <a:xfrm>
            <a:off x="4526280" y="265176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Escala de grados G1 a G4 específica para la función, con perfiles y competencias.</a:t>
            </a:r>
            <a:endParaRPr lang="en-US" sz="1150" dirty="0"/>
          </a:p>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Plan de respaldos y de desarrollo por persona.</a:t>
            </a:r>
            <a:endParaRPr lang="en-US" sz="1150" dirty="0"/>
          </a:p>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Referencia de mercado validada con una fuente formal de remuneraciones.</a:t>
            </a:r>
            <a:endParaRPr lang="en-US" sz="1150" dirty="0"/>
          </a:p>
        </p:txBody>
      </p:sp>
      <p:sp>
        <p:nvSpPr>
          <p:cNvPr id="13" name="Text 11"/>
          <p:cNvSpPr txBox="1"/>
          <p:nvPr/>
        </p:nvSpPr>
        <p:spPr>
          <a:xfrm>
            <a:off x="4526280" y="5212080"/>
            <a:ext cx="3108960" cy="502920"/>
          </a:xfrm>
          <a:prstGeom prst="rect">
            <a:avLst/>
          </a:prstGeom>
          <a:noFill/>
          <a:ln/>
        </p:spPr>
        <p:txBody>
          <a:bodyPr wrap="square" lIns="0" tIns="0" rIns="0" bIns="0" rtlCol="0" anchor="b"/>
          <a:lstStyle/>
          <a:p>
            <a:pPr indent="0" marL="0">
              <a:buNone/>
            </a:pPr>
            <a:r>
              <a:rPr lang="en-US" sz="1100" i="1" dirty="0">
                <a:solidFill>
                  <a:srgbClr val="4A5B62"/>
                </a:solidFill>
                <a:latin typeface="Calibri" pitchFamily="34" charset="0"/>
                <a:ea typeface="Calibri" pitchFamily="34" charset="-122"/>
                <a:cs typeface="Calibri" pitchFamily="34" charset="-120"/>
              </a:rPr>
              <a:t>Entregable: escala propuesta con su costo, para decisión del comité.</a:t>
            </a:r>
            <a:endParaRPr lang="en-US" sz="1100" dirty="0"/>
          </a:p>
        </p:txBody>
      </p:sp>
      <p:sp>
        <p:nvSpPr>
          <p:cNvPr id="14" name="Shape 12"/>
          <p:cNvSpPr/>
          <p:nvPr/>
        </p:nvSpPr>
        <p:spPr>
          <a:xfrm>
            <a:off x="8046720" y="1737360"/>
            <a:ext cx="3566160" cy="4114800"/>
          </a:xfrm>
          <a:prstGeom prst="roundRect">
            <a:avLst>
              <a:gd name="adj" fmla="val 2564"/>
            </a:avLst>
          </a:prstGeom>
          <a:solidFill>
            <a:srgbClr val="F1F6F7"/>
          </a:solidFill>
          <a:ln w="9525">
            <a:solidFill>
              <a:srgbClr val="C9D6DA"/>
            </a:solidFill>
            <a:prstDash val="solid"/>
          </a:ln>
        </p:spPr>
      </p:sp>
      <p:sp>
        <p:nvSpPr>
          <p:cNvPr id="15" name="Text 13"/>
          <p:cNvSpPr txBox="1"/>
          <p:nvPr/>
        </p:nvSpPr>
        <p:spPr>
          <a:xfrm>
            <a:off x="8275320" y="1901952"/>
            <a:ext cx="1097280" cy="274320"/>
          </a:xfrm>
          <a:prstGeom prst="rect">
            <a:avLst/>
          </a:prstGeom>
          <a:noFill/>
          <a:ln/>
        </p:spPr>
        <p:txBody>
          <a:bodyPr wrap="square" lIns="0" tIns="0" rIns="0" bIns="0" rtlCol="0" anchor="ctr"/>
          <a:lstStyle/>
          <a:p>
            <a:pPr indent="0" marL="0">
              <a:buNone/>
            </a:pPr>
            <a:r>
              <a:rPr lang="en-US" sz="1100" b="1" dirty="0">
                <a:solidFill>
                  <a:srgbClr val="1F4FD1"/>
                </a:solidFill>
                <a:latin typeface="Courier New" pitchFamily="34" charset="0"/>
                <a:ea typeface="Courier New" pitchFamily="34" charset="-122"/>
                <a:cs typeface="Courier New" pitchFamily="34" charset="-120"/>
              </a:rPr>
              <a:t>Fase 3</a:t>
            </a:r>
            <a:endParaRPr lang="en-US" sz="1100" dirty="0"/>
          </a:p>
        </p:txBody>
      </p:sp>
      <p:sp>
        <p:nvSpPr>
          <p:cNvPr id="16" name="Text 14"/>
          <p:cNvSpPr txBox="1"/>
          <p:nvPr/>
        </p:nvSpPr>
        <p:spPr>
          <a:xfrm>
            <a:off x="8275320" y="2148840"/>
            <a:ext cx="3108960" cy="411480"/>
          </a:xfrm>
          <a:prstGeom prst="rect">
            <a:avLst/>
          </a:prstGeom>
          <a:noFill/>
          <a:ln/>
        </p:spPr>
        <p:txBody>
          <a:bodyPr wrap="square" lIns="0" tIns="0" rIns="0" bIns="0" rtlCol="0" anchor="ctr"/>
          <a:lstStyle/>
          <a:p>
            <a:pPr indent="0" marL="0">
              <a:buNone/>
            </a:pPr>
            <a:r>
              <a:rPr lang="en-US" sz="1900" b="1" dirty="0">
                <a:solidFill>
                  <a:srgbClr val="1F4E5A"/>
                </a:solidFill>
                <a:latin typeface="Cambria" pitchFamily="34" charset="0"/>
                <a:ea typeface="Cambria" pitchFamily="34" charset="-122"/>
                <a:cs typeface="Cambria" pitchFamily="34" charset="-120"/>
              </a:rPr>
              <a:t>Implementación</a:t>
            </a:r>
            <a:endParaRPr lang="en-US" sz="1900" dirty="0"/>
          </a:p>
        </p:txBody>
      </p:sp>
      <p:sp>
        <p:nvSpPr>
          <p:cNvPr id="17" name="Text 15"/>
          <p:cNvSpPr txBox="1"/>
          <p:nvPr/>
        </p:nvSpPr>
        <p:spPr>
          <a:xfrm>
            <a:off x="8275320" y="265176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Ajuste gradual según prioridad de criticidad: primero los reportes del núcleo de cumplimiento y de operación crítica.</a:t>
            </a:r>
            <a:endParaRPr lang="en-US" sz="1150" dirty="0"/>
          </a:p>
          <a:p>
            <a:pPr marL="342900" indent="-342900">
              <a:spcAft>
                <a:spcPts val="600"/>
              </a:spcAft>
              <a:buSzPct val="100000"/>
              <a:buChar char="•"/>
            </a:pPr>
            <a:r>
              <a:rPr lang="en-US" sz="1150" dirty="0">
                <a:solidFill>
                  <a:srgbClr val="1B2A30"/>
                </a:solidFill>
                <a:latin typeface="Calibri" pitchFamily="34" charset="0"/>
                <a:ea typeface="Calibri" pitchFamily="34" charset="-122"/>
                <a:cs typeface="Calibri" pitchFamily="34" charset="-120"/>
              </a:rPr>
              <a:t>Indicadores: envíos a tiempo y sin reenvío, observaciones del regulador, cobertura de respaldos.</a:t>
            </a:r>
            <a:endParaRPr lang="en-US" sz="1150" dirty="0"/>
          </a:p>
        </p:txBody>
      </p:sp>
      <p:sp>
        <p:nvSpPr>
          <p:cNvPr id="18" name="Text 16"/>
          <p:cNvSpPr txBox="1"/>
          <p:nvPr/>
        </p:nvSpPr>
        <p:spPr>
          <a:xfrm>
            <a:off x="8275320" y="5212080"/>
            <a:ext cx="3108960" cy="502920"/>
          </a:xfrm>
          <a:prstGeom prst="rect">
            <a:avLst/>
          </a:prstGeom>
          <a:noFill/>
          <a:ln/>
        </p:spPr>
        <p:txBody>
          <a:bodyPr wrap="square" lIns="0" tIns="0" rIns="0" bIns="0" rtlCol="0" anchor="b"/>
          <a:lstStyle/>
          <a:p>
            <a:pPr indent="0" marL="0">
              <a:buNone/>
            </a:pPr>
            <a:r>
              <a:rPr lang="en-US" sz="1100" i="1" dirty="0">
                <a:solidFill>
                  <a:srgbClr val="4A5B62"/>
                </a:solidFill>
                <a:latin typeface="Calibri" pitchFamily="34" charset="0"/>
                <a:ea typeface="Calibri" pitchFamily="34" charset="-122"/>
                <a:cs typeface="Calibri" pitchFamily="34" charset="-120"/>
              </a:rPr>
              <a:t>Entregable: seguimiento trimestral al comité.</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Dos escenarios a doce meses</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Sin cifras: consecuencias cualitativas de actuar o no actuar sobre la escala de cargos.</a:t>
            </a:r>
            <a:endParaRPr lang="en-US" sz="1400" dirty="0"/>
          </a:p>
        </p:txBody>
      </p:sp>
      <p:sp>
        <p:nvSpPr>
          <p:cNvPr id="4" name="Shape 2"/>
          <p:cNvSpPr/>
          <p:nvPr/>
        </p:nvSpPr>
        <p:spPr>
          <a:xfrm>
            <a:off x="548640" y="1737360"/>
            <a:ext cx="5440680" cy="4114800"/>
          </a:xfrm>
          <a:prstGeom prst="roundRect">
            <a:avLst>
              <a:gd name="adj" fmla="val 2222"/>
            </a:avLst>
          </a:prstGeom>
          <a:solidFill>
            <a:srgbClr val="FBEEDC"/>
          </a:solidFill>
          <a:ln w="9525">
            <a:solidFill>
              <a:srgbClr val="E5C79A"/>
            </a:solidFill>
            <a:prstDash val="solid"/>
          </a:ln>
        </p:spPr>
      </p:sp>
      <p:sp>
        <p:nvSpPr>
          <p:cNvPr id="5" name="Text 3"/>
          <p:cNvSpPr txBox="1"/>
          <p:nvPr/>
        </p:nvSpPr>
        <p:spPr>
          <a:xfrm>
            <a:off x="749808" y="1883664"/>
            <a:ext cx="5038344" cy="384048"/>
          </a:xfrm>
          <a:prstGeom prst="rect">
            <a:avLst/>
          </a:prstGeom>
          <a:noFill/>
          <a:ln/>
        </p:spPr>
        <p:txBody>
          <a:bodyPr wrap="square" lIns="0" tIns="0" rIns="0" bIns="0" rtlCol="0" anchor="ctr"/>
          <a:lstStyle/>
          <a:p>
            <a:pPr indent="0" marL="0">
              <a:buNone/>
            </a:pPr>
            <a:r>
              <a:rPr lang="en-US" sz="1700" b="1" dirty="0">
                <a:solidFill>
                  <a:srgbClr val="B8641A"/>
                </a:solidFill>
                <a:latin typeface="Cambria" pitchFamily="34" charset="0"/>
                <a:ea typeface="Cambria" pitchFamily="34" charset="-122"/>
                <a:cs typeface="Cambria" pitchFamily="34" charset="-120"/>
              </a:rPr>
              <a:t>Si no se actúa</a:t>
            </a:r>
            <a:endParaRPr lang="en-US" sz="1700" dirty="0"/>
          </a:p>
        </p:txBody>
      </p:sp>
      <p:sp>
        <p:nvSpPr>
          <p:cNvPr id="6" name="Text 4"/>
          <p:cNvSpPr txBox="1"/>
          <p:nvPr/>
        </p:nvSpPr>
        <p:spPr>
          <a:xfrm>
            <a:off x="749808" y="2286000"/>
            <a:ext cx="5038344" cy="3429000"/>
          </a:xfrm>
          <a:prstGeom prst="rect">
            <a:avLst/>
          </a:prstGeom>
          <a:noFill/>
          <a:ln/>
        </p:spPr>
        <p:txBody>
          <a:bodyPr wrap="square" lIns="0" tIns="0" rIns="0" bIns="0" rtlCol="0" anchor="t"/>
          <a:lstStyle/>
          <a:p>
            <a:pPr indent="0" marL="0">
              <a:buNone/>
            </a:pPr>
            <a:endParaRPr lang="en-US" sz="1200" dirty="0"/>
          </a:p>
        </p:txBody>
      </p:sp>
      <p:sp>
        <p:nvSpPr>
          <p:cNvPr id="7" name="Text 5"/>
          <p:cNvSpPr txBox="1"/>
          <p:nvPr/>
        </p:nvSpPr>
        <p:spPr>
          <a:xfrm>
            <a:off x="777240" y="2331720"/>
            <a:ext cx="4983480" cy="3383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La escala sigue anclada al proceso de portabilidad de 2020.</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Salida de una o dos personas clave hacia áreas o bancos que ya reconocen la función; meses de curva de aprendizaje por reemplazo.</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Reportes diarios del RDC dependientes de respaldos improvisados; mayor probabilidad de atraso o error, con riesgo de bloqueo de acceso a la CMF.</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La conversación sobre remuneración se da igual, pero en modo reactivo, después de un incidente.</a:t>
            </a:r>
            <a:endParaRPr lang="en-US" sz="1200" dirty="0"/>
          </a:p>
        </p:txBody>
      </p:sp>
      <p:sp>
        <p:nvSpPr>
          <p:cNvPr id="8" name="Shape 6"/>
          <p:cNvSpPr/>
          <p:nvPr/>
        </p:nvSpPr>
        <p:spPr>
          <a:xfrm>
            <a:off x="6172200" y="1737360"/>
            <a:ext cx="5440680" cy="4114800"/>
          </a:xfrm>
          <a:prstGeom prst="roundRect">
            <a:avLst>
              <a:gd name="adj" fmla="val 2222"/>
            </a:avLst>
          </a:prstGeom>
          <a:solidFill>
            <a:srgbClr val="DCE9EC"/>
          </a:solidFill>
          <a:ln w="9525">
            <a:solidFill>
              <a:srgbClr val="C9D6DA"/>
            </a:solidFill>
            <a:prstDash val="solid"/>
          </a:ln>
        </p:spPr>
      </p:sp>
      <p:sp>
        <p:nvSpPr>
          <p:cNvPr id="9" name="Text 7"/>
          <p:cNvSpPr txBox="1"/>
          <p:nvPr/>
        </p:nvSpPr>
        <p:spPr>
          <a:xfrm>
            <a:off x="6373368" y="1883664"/>
            <a:ext cx="5038344" cy="384048"/>
          </a:xfrm>
          <a:prstGeom prst="rect">
            <a:avLst/>
          </a:prstGeom>
          <a:noFill/>
          <a:ln/>
        </p:spPr>
        <p:txBody>
          <a:bodyPr wrap="square" lIns="0" tIns="0" rIns="0" bIns="0" rtlCol="0" anchor="ctr"/>
          <a:lstStyle/>
          <a:p>
            <a:pPr indent="0" marL="0">
              <a:buNone/>
            </a:pPr>
            <a:r>
              <a:rPr lang="en-US" sz="1700" b="1" dirty="0">
                <a:solidFill>
                  <a:srgbClr val="1F4E5A"/>
                </a:solidFill>
                <a:latin typeface="Cambria" pitchFamily="34" charset="0"/>
                <a:ea typeface="Cambria" pitchFamily="34" charset="-122"/>
                <a:cs typeface="Cambria" pitchFamily="34" charset="-120"/>
              </a:rPr>
              <a:t>Si se aprueba el mandato</a:t>
            </a:r>
            <a:endParaRPr lang="en-US" sz="1700" dirty="0"/>
          </a:p>
        </p:txBody>
      </p:sp>
      <p:sp>
        <p:nvSpPr>
          <p:cNvPr id="10" name="Text 8"/>
          <p:cNvSpPr txBox="1"/>
          <p:nvPr/>
        </p:nvSpPr>
        <p:spPr>
          <a:xfrm>
            <a:off x="6373368" y="2286000"/>
            <a:ext cx="5038344" cy="3429000"/>
          </a:xfrm>
          <a:prstGeom prst="rect">
            <a:avLst/>
          </a:prstGeom>
          <a:noFill/>
          <a:ln/>
        </p:spPr>
        <p:txBody>
          <a:bodyPr wrap="square" lIns="0" tIns="0" rIns="0" bIns="0" rtlCol="0" anchor="t"/>
          <a:lstStyle/>
          <a:p>
            <a:pPr indent="0" marL="0">
              <a:buNone/>
            </a:pPr>
            <a:endParaRPr lang="en-US" sz="1200" dirty="0"/>
          </a:p>
        </p:txBody>
      </p:sp>
      <p:sp>
        <p:nvSpPr>
          <p:cNvPr id="11" name="Text 9"/>
          <p:cNvSpPr txBox="1"/>
          <p:nvPr/>
        </p:nvSpPr>
        <p:spPr>
          <a:xfrm>
            <a:off x="6400800" y="2331720"/>
            <a:ext cx="4983480" cy="3383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Cargos valorados según lo que hoy hacen: producir, controlar y responder ante el regulador.</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Cadena de confiabilidad formalizada: quién prepara, quién firma, quién respalda cada reporte.</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Retención del conocimiento normativo y técnico acumulado desde 2022; capacidad para absorber los cambios del MSI.</a:t>
            </a:r>
            <a:endParaRPr lang="en-US" sz="1200" dirty="0"/>
          </a:p>
          <a:p>
            <a:pPr marL="342900" indent="-342900">
              <a:spcAft>
                <a:spcPts val="600"/>
              </a:spcAft>
              <a:buSzPct val="100000"/>
              <a:buChar char="•"/>
            </a:pPr>
            <a:r>
              <a:rPr lang="en-US" sz="1200" dirty="0">
                <a:solidFill>
                  <a:srgbClr val="1B2A30"/>
                </a:solidFill>
                <a:latin typeface="Calibri" pitchFamily="34" charset="0"/>
                <a:ea typeface="Calibri" pitchFamily="34" charset="-122"/>
                <a:cs typeface="Calibri" pitchFamily="34" charset="-120"/>
              </a:rPr>
              <a:t>El comité decide sobre cifras validadas, en la fecha acordada, y no bajo presión.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E5A"/>
        </a:solidFill>
      </p:bgPr>
    </p:bg>
    <p:spTree>
      <p:nvGrpSpPr>
        <p:cNvPr id="1" name=""/>
        <p:cNvGrpSpPr/>
        <p:nvPr/>
      </p:nvGrpSpPr>
      <p:grpSpPr>
        <a:xfrm>
          <a:off x="0" y="0"/>
          <a:ext cx="0" cy="0"/>
          <a:chOff x="0" y="0"/>
          <a:chExt cx="0" cy="0"/>
        </a:xfrm>
      </p:grpSpPr>
      <p:sp>
        <p:nvSpPr>
          <p:cNvPr id="2" name="Text 0"/>
          <p:cNvSpPr txBox="1"/>
          <p:nvPr/>
        </p:nvSpPr>
        <p:spPr>
          <a:xfrm>
            <a:off x="548640" y="822960"/>
            <a:ext cx="91440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 que se pide hoy</a:t>
            </a:r>
            <a:endParaRPr lang="en-US" sz="3600" dirty="0"/>
          </a:p>
        </p:txBody>
      </p:sp>
      <p:sp>
        <p:nvSpPr>
          <p:cNvPr id="3" name="Shape 1"/>
          <p:cNvSpPr/>
          <p:nvPr/>
        </p:nvSpPr>
        <p:spPr>
          <a:xfrm>
            <a:off x="548640" y="1965960"/>
            <a:ext cx="640080" cy="640080"/>
          </a:xfrm>
          <a:prstGeom prst="ellipse">
            <a:avLst/>
          </a:prstGeom>
          <a:solidFill>
            <a:srgbClr val="DCE9EC"/>
          </a:solidFill>
          <a:ln w="12700">
            <a:solidFill>
              <a:srgbClr val="DCE9EC"/>
            </a:solidFill>
            <a:prstDash val="solid"/>
          </a:ln>
        </p:spPr>
      </p:sp>
      <p:sp>
        <p:nvSpPr>
          <p:cNvPr id="4" name="Text 2"/>
          <p:cNvSpPr txBox="1"/>
          <p:nvPr/>
        </p:nvSpPr>
        <p:spPr>
          <a:xfrm>
            <a:off x="548640" y="1965960"/>
            <a:ext cx="640080" cy="640080"/>
          </a:xfrm>
          <a:prstGeom prst="rect">
            <a:avLst/>
          </a:prstGeom>
          <a:noFill/>
          <a:ln/>
        </p:spPr>
        <p:txBody>
          <a:bodyPr wrap="square" lIns="0" tIns="0" rIns="0" bIns="0" rtlCol="0" anchor="ctr"/>
          <a:lstStyle/>
          <a:p>
            <a:pPr algn="ctr" indent="0" marL="0">
              <a:buNone/>
            </a:pPr>
            <a:r>
              <a:rPr lang="en-US" sz="2200" b="1" dirty="0">
                <a:solidFill>
                  <a:srgbClr val="1F4E5A"/>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63040" y="1920240"/>
            <a:ext cx="9601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Mandato</a:t>
            </a:r>
            <a:endParaRPr lang="en-US" sz="1800" dirty="0"/>
          </a:p>
        </p:txBody>
      </p:sp>
      <p:sp>
        <p:nvSpPr>
          <p:cNvPr id="6" name="Text 4"/>
          <p:cNvSpPr txBox="1"/>
          <p:nvPr/>
        </p:nvSpPr>
        <p:spPr>
          <a:xfrm>
            <a:off x="1463040" y="2304288"/>
            <a:ext cx="9601200" cy="640080"/>
          </a:xfrm>
          <a:prstGeom prst="rect">
            <a:avLst/>
          </a:prstGeom>
          <a:noFill/>
          <a:ln/>
        </p:spPr>
        <p:txBody>
          <a:bodyPr wrap="square" lIns="0" tIns="0" rIns="0" bIns="0" rtlCol="0" anchor="t"/>
          <a:lstStyle/>
          <a:p>
            <a:pPr indent="0" marL="0">
              <a:buNone/>
            </a:pPr>
            <a:r>
              <a:rPr lang="en-US" sz="1300" dirty="0">
                <a:solidFill>
                  <a:srgbClr val="CFE0E5"/>
                </a:solidFill>
                <a:latin typeface="Calibri" pitchFamily="34" charset="0"/>
                <a:ea typeface="Calibri" pitchFamily="34" charset="-122"/>
                <a:cs typeface="Calibri" pitchFamily="34" charset="-120"/>
              </a:rPr>
              <a:t>Reevaluar la escala de cargos del equipo de reportes normativos junto con Personas, con la rúbrica presentada.</a:t>
            </a:r>
            <a:endParaRPr lang="en-US" sz="1300" dirty="0"/>
          </a:p>
        </p:txBody>
      </p:sp>
      <p:sp>
        <p:nvSpPr>
          <p:cNvPr id="7" name="Shape 5"/>
          <p:cNvSpPr/>
          <p:nvPr/>
        </p:nvSpPr>
        <p:spPr>
          <a:xfrm>
            <a:off x="548640" y="3154680"/>
            <a:ext cx="640080" cy="640080"/>
          </a:xfrm>
          <a:prstGeom prst="ellipse">
            <a:avLst/>
          </a:prstGeom>
          <a:solidFill>
            <a:srgbClr val="DCE9EC"/>
          </a:solidFill>
          <a:ln w="12700">
            <a:solidFill>
              <a:srgbClr val="DCE9EC"/>
            </a:solidFill>
            <a:prstDash val="solid"/>
          </a:ln>
        </p:spPr>
      </p:sp>
      <p:sp>
        <p:nvSpPr>
          <p:cNvPr id="8" name="Text 6"/>
          <p:cNvSpPr txBox="1"/>
          <p:nvPr/>
        </p:nvSpPr>
        <p:spPr>
          <a:xfrm>
            <a:off x="548640" y="3154680"/>
            <a:ext cx="640080" cy="640080"/>
          </a:xfrm>
          <a:prstGeom prst="rect">
            <a:avLst/>
          </a:prstGeom>
          <a:noFill/>
          <a:ln/>
        </p:spPr>
        <p:txBody>
          <a:bodyPr wrap="square" lIns="0" tIns="0" rIns="0" bIns="0" rtlCol="0" anchor="ctr"/>
          <a:lstStyle/>
          <a:p>
            <a:pPr algn="ctr" indent="0" marL="0">
              <a:buNone/>
            </a:pPr>
            <a:r>
              <a:rPr lang="en-US" sz="2200" b="1" dirty="0">
                <a:solidFill>
                  <a:srgbClr val="1F4E5A"/>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463040" y="3108960"/>
            <a:ext cx="9601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Reconocimiento</a:t>
            </a:r>
            <a:endParaRPr lang="en-US" sz="1800" dirty="0"/>
          </a:p>
        </p:txBody>
      </p:sp>
      <p:sp>
        <p:nvSpPr>
          <p:cNvPr id="10" name="Text 8"/>
          <p:cNvSpPr txBox="1"/>
          <p:nvPr/>
        </p:nvSpPr>
        <p:spPr>
          <a:xfrm>
            <a:off x="1463040" y="3493008"/>
            <a:ext cx="9601200" cy="640080"/>
          </a:xfrm>
          <a:prstGeom prst="rect">
            <a:avLst/>
          </a:prstGeom>
          <a:noFill/>
          <a:ln/>
        </p:spPr>
        <p:txBody>
          <a:bodyPr wrap="square" lIns="0" tIns="0" rIns="0" bIns="0" rtlCol="0" anchor="t"/>
          <a:lstStyle/>
          <a:p>
            <a:pPr indent="0" marL="0">
              <a:buNone/>
            </a:pPr>
            <a:r>
              <a:rPr lang="en-US" sz="1300" dirty="0">
                <a:solidFill>
                  <a:srgbClr val="CFE0E5"/>
                </a:solidFill>
                <a:latin typeface="Calibri" pitchFamily="34" charset="0"/>
                <a:ea typeface="Calibri" pitchFamily="34" charset="-122"/>
                <a:cs typeface="Calibri" pitchFamily="34" charset="-120"/>
              </a:rPr>
              <a:t>Formalizar la función como crítica de cumplimiento dentro de la estructura.</a:t>
            </a:r>
            <a:endParaRPr lang="en-US" sz="1300" dirty="0"/>
          </a:p>
        </p:txBody>
      </p:sp>
      <p:sp>
        <p:nvSpPr>
          <p:cNvPr id="11" name="Shape 9"/>
          <p:cNvSpPr/>
          <p:nvPr/>
        </p:nvSpPr>
        <p:spPr>
          <a:xfrm>
            <a:off x="548640" y="4343400"/>
            <a:ext cx="640080" cy="640080"/>
          </a:xfrm>
          <a:prstGeom prst="ellipse">
            <a:avLst/>
          </a:prstGeom>
          <a:solidFill>
            <a:srgbClr val="DCE9EC"/>
          </a:solidFill>
          <a:ln w="12700">
            <a:solidFill>
              <a:srgbClr val="DCE9EC"/>
            </a:solidFill>
            <a:prstDash val="solid"/>
          </a:ln>
        </p:spPr>
      </p:sp>
      <p:sp>
        <p:nvSpPr>
          <p:cNvPr id="12" name="Text 10"/>
          <p:cNvSpPr txBox="1"/>
          <p:nvPr/>
        </p:nvSpPr>
        <p:spPr>
          <a:xfrm>
            <a:off x="548640" y="4343400"/>
            <a:ext cx="640080" cy="640080"/>
          </a:xfrm>
          <a:prstGeom prst="rect">
            <a:avLst/>
          </a:prstGeom>
          <a:noFill/>
          <a:ln/>
        </p:spPr>
        <p:txBody>
          <a:bodyPr wrap="square" lIns="0" tIns="0" rIns="0" bIns="0" rtlCol="0" anchor="ctr"/>
          <a:lstStyle/>
          <a:p>
            <a:pPr algn="ctr" indent="0" marL="0">
              <a:buNone/>
            </a:pPr>
            <a:r>
              <a:rPr lang="en-US" sz="2200" b="1" dirty="0">
                <a:solidFill>
                  <a:srgbClr val="1F4E5A"/>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463040" y="4297680"/>
            <a:ext cx="9601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Patrocinio</a:t>
            </a:r>
            <a:endParaRPr lang="en-US" sz="1800" dirty="0"/>
          </a:p>
        </p:txBody>
      </p:sp>
      <p:sp>
        <p:nvSpPr>
          <p:cNvPr id="14" name="Text 12"/>
          <p:cNvSpPr txBox="1"/>
          <p:nvPr/>
        </p:nvSpPr>
        <p:spPr>
          <a:xfrm>
            <a:off x="1463040" y="4681728"/>
            <a:ext cx="9601200" cy="640080"/>
          </a:xfrm>
          <a:prstGeom prst="rect">
            <a:avLst/>
          </a:prstGeom>
          <a:noFill/>
          <a:ln/>
        </p:spPr>
        <p:txBody>
          <a:bodyPr wrap="square" lIns="0" tIns="0" rIns="0" bIns="0" rtlCol="0" anchor="t"/>
          <a:lstStyle/>
          <a:p>
            <a:pPr indent="0" marL="0">
              <a:buNone/>
            </a:pPr>
            <a:r>
              <a:rPr lang="en-US" sz="1300" dirty="0">
                <a:solidFill>
                  <a:srgbClr val="CFE0E5"/>
                </a:solidFill>
                <a:latin typeface="Calibri" pitchFamily="34" charset="0"/>
                <a:ea typeface="Calibri" pitchFamily="34" charset="-122"/>
                <a:cs typeface="Calibri" pitchFamily="34" charset="-120"/>
              </a:rPr>
              <a:t>Un gerente patrocinador y una fecha de retorno al comité con la escala propuesta y su costo, sugerida a 60 días.</a:t>
            </a:r>
            <a:endParaRPr lang="en-US" sz="1300" dirty="0"/>
          </a:p>
        </p:txBody>
      </p:sp>
      <p:sp>
        <p:nvSpPr>
          <p:cNvPr id="15" name="Text 13"/>
          <p:cNvSpPr txBox="1"/>
          <p:nvPr/>
        </p:nvSpPr>
        <p:spPr>
          <a:xfrm>
            <a:off x="548640" y="5760720"/>
            <a:ext cx="10058400" cy="457200"/>
          </a:xfrm>
          <a:prstGeom prst="rect">
            <a:avLst/>
          </a:prstGeom>
          <a:noFill/>
          <a:ln/>
        </p:spPr>
        <p:txBody>
          <a:bodyPr wrap="square" lIns="0" tIns="0" rIns="0" bIns="0" rtlCol="0" anchor="ctr"/>
          <a:lstStyle/>
          <a:p>
            <a:pPr indent="0" marL="0">
              <a:buNone/>
            </a:pPr>
            <a:r>
              <a:rPr lang="en-US" sz="1300" i="1" dirty="0">
                <a:solidFill>
                  <a:srgbClr val="9FBAC2"/>
                </a:solidFill>
                <a:latin typeface="Calibri" pitchFamily="34" charset="0"/>
                <a:ea typeface="Calibri" pitchFamily="34" charset="-122"/>
                <a:cs typeface="Calibri" pitchFamily="34" charset="-120"/>
              </a:rPr>
              <a:t>Sin montos ni dotación adicional en esta etapa. Las cifras llegan con el diagnóstico.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Anexo 1 · Catálogo de los 18 reportes del equipo</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Frecuencia según el área; familia y observaciones según el documento de respaldo.</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828800"/>
                <a:gridCol w="1371600"/>
                <a:gridCol w="2468880"/>
                <a:gridCol w="5422392"/>
              </a:tblGrid>
              <a:tr h="310896">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Código</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Frecuencia</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Familia</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Observación</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RDC40</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Diario</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Registro de Deuda Consolidada</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Bloqueo de acceso a información CMF ante incumplimiento; responsable sugerido G4</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R05</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Diario</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Sistema de Riesgo</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Contenido por confirmar en el MSI</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RDC01</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Semanal y 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Registro de Deuda Consolidada</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Alta criticidad; responsable sugerido G3</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RDC02</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Semanal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Registro de Deuda Consolidada</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Alta criticidad; responsable sugerido G3</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D10</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Semanal y 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Deudores (art. 14 LGB)</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Frecuencia semanal en consulta pública de la CMF</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D02</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Deudores</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Último envío septiembre 2026 según Circular N° 2.376 (verificar)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D03</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Deudores</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Vigente desde 2017; contenido por confirmar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D51</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Trimestral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Deudores</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Contenido por confirmar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E23</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Por confirmar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Contenido por confirmar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T01</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Por confirmar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Incorporado en 2024</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Sernac</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Reporte al SERNAC</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Riesgo reputacional; fuera del MSI</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P14 · P16 · P37 · P38 · P39</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Sistema de Productos</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Rutina estadística; candidatos a automatización</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310896">
                <a:tc>
                  <a:txBody>
                    <a:bodyPr/>
                    <a:lstStyle/>
                    <a:p>
                      <a:pPr indent="0" marL="0">
                        <a:buNone/>
                      </a:pPr>
                      <a:r>
                        <a:rPr lang="en-US" sz="1000" b="1" dirty="0">
                          <a:solidFill>
                            <a:srgbClr val="1B2A30"/>
                          </a:solidFill>
                          <a:latin typeface="Courier New" pitchFamily="34" charset="0"/>
                          <a:ea typeface="Courier New" pitchFamily="34" charset="-122"/>
                          <a:cs typeface="Courier New" pitchFamily="34" charset="-120"/>
                        </a:rPr>
                        <a:t>P15 · P22</a:t>
                      </a:r>
                      <a:endParaRPr lang="en-US" sz="1000" dirty="0">
                        <a:latin typeface="Courier New" charset="0"/>
                        <a:ea typeface="Courier New" charset="0"/>
                        <a:cs typeface="Courier New"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Mensual</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Sistema de Productos</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000" dirty="0">
                          <a:solidFill>
                            <a:srgbClr val="1B2A30"/>
                          </a:solidFill>
                          <a:latin typeface="Calibri" pitchFamily="34" charset="0"/>
                          <a:ea typeface="Calibri" pitchFamily="34" charset="-122"/>
                          <a:cs typeface="Calibri" pitchFamily="34" charset="-120"/>
                        </a:rPr>
                        <a:t>Último envío septiembre 2026 según Circular N° 2.376 (verificar)</a:t>
                      </a:r>
                      <a:endParaRPr lang="en-US" sz="1000" dirty="0">
                        <a:latin typeface="Calibri" charset="0"/>
                        <a:ea typeface="Calibri" charset="0"/>
                        <a:cs typeface="Calibri" charset="0"/>
                      </a:endParaRPr>
                    </a:p>
                  </a:txBody>
                  <a:tcPr marL="76200" marR="76200" marT="38100" marB="381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Anexo 2 · Perfil requerido por grado</a:t>
            </a:r>
            <a:endParaRPr lang="en-US" sz="2800" dirty="0"/>
          </a:p>
        </p:txBody>
      </p:sp>
      <p:sp>
        <p:nvSpPr>
          <p:cNvPr id="3" name="Text 1"/>
          <p:cNvSpPr txBox="1"/>
          <p:nvPr/>
        </p:nvSpPr>
        <p:spPr>
          <a:xfrm>
            <a:off x="548640" y="1078992"/>
            <a:ext cx="11091672" cy="411480"/>
          </a:xfrm>
          <a:prstGeom prst="rect">
            <a:avLst/>
          </a:prstGeom>
          <a:noFill/>
          <a:ln/>
        </p:spPr>
        <p:txBody>
          <a:bodyPr wrap="square" lIns="0" tIns="0" rIns="0" bIns="0" rtlCol="0" anchor="ctr"/>
          <a:lstStyle/>
          <a:p>
            <a:pPr indent="0" marL="0">
              <a:buNone/>
            </a:pPr>
            <a:r>
              <a:rPr lang="en-US" sz="1400" dirty="0">
                <a:solidFill>
                  <a:srgbClr val="4A5B62"/>
                </a:solidFill>
                <a:latin typeface="Calibri" pitchFamily="34" charset="0"/>
                <a:ea typeface="Calibri" pitchFamily="34" charset="-122"/>
                <a:cs typeface="Calibri" pitchFamily="34" charset="-120"/>
              </a:rPr>
              <a:t>Resumen del documento de respaldo. Sirve como base para la valoración de cargos de la fase 1.</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737360"/>
                <a:gridCol w="1188720"/>
                <a:gridCol w="2560320"/>
                <a:gridCol w="3108960"/>
                <a:gridCol w="2496312"/>
              </a:tblGrid>
              <a:tr h="365760">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Grado</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Rol</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Experiencia</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Conocimiento normativo</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Herramientas</a:t>
                      </a:r>
                      <a:endParaRPr lang="en-US" sz="1150" dirty="0">
                        <a:latin typeface="Cambria" charset="0"/>
                        <a:ea typeface="Cambria" charset="0"/>
                        <a:cs typeface="Cambria" charset="0"/>
                      </a:endParaRPr>
                    </a:p>
                  </a:txBody>
                  <a:tcPr marL="76200" marR="76200" marT="38100" marB="38100">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1F4E5A"/>
                    </a:solidFill>
                  </a:tcPr>
                </a:tc>
              </a:tr>
              <a:tr h="868680">
                <a:tc>
                  <a:txBody>
                    <a:bodyPr/>
                    <a:lstStyle/>
                    <a:p>
                      <a:pPr indent="0" marL="0">
                        <a:buNone/>
                      </a:pPr>
                      <a:r>
                        <a:rPr lang="en-US" sz="1100" b="1" dirty="0">
                          <a:solidFill>
                            <a:srgbClr val="1B2A30"/>
                          </a:solidFill>
                          <a:latin typeface="Calibri" pitchFamily="34" charset="0"/>
                          <a:ea typeface="Calibri" pitchFamily="34" charset="-122"/>
                          <a:cs typeface="Calibri" pitchFamily="34" charset="-120"/>
                        </a:rPr>
                        <a:t>G1 Analista</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i="1" dirty="0">
                          <a:solidFill>
                            <a:srgbClr val="1F4FD1"/>
                          </a:solidFill>
                          <a:latin typeface="Calibri" pitchFamily="34" charset="0"/>
                          <a:ea typeface="Calibri" pitchFamily="34" charset="-122"/>
                          <a:cs typeface="Calibri" pitchFamily="34" charset="-120"/>
                        </a:rPr>
                        <a:t>Produce</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Título profesional afín; 0 a 3 años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Estructura del MSI, formatos y validaciones; nociones contables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SQL básico, Excel avanzado, herramienta de reportería</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868680">
                <a:tc>
                  <a:txBody>
                    <a:bodyPr/>
                    <a:lstStyle/>
                    <a:p>
                      <a:pPr indent="0" marL="0">
                        <a:buNone/>
                      </a:pPr>
                      <a:r>
                        <a:rPr lang="en-US" sz="1100" b="1" dirty="0">
                          <a:solidFill>
                            <a:srgbClr val="1B2A30"/>
                          </a:solidFill>
                          <a:latin typeface="Calibri" pitchFamily="34" charset="0"/>
                          <a:ea typeface="Calibri" pitchFamily="34" charset="-122"/>
                          <a:cs typeface="Calibri" pitchFamily="34" charset="-120"/>
                        </a:rPr>
                        <a:t>G2 Analista Senior</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i="1" dirty="0">
                          <a:solidFill>
                            <a:srgbClr val="1F4FD1"/>
                          </a:solidFill>
                          <a:latin typeface="Calibri" pitchFamily="34" charset="0"/>
                          <a:ea typeface="Calibri" pitchFamily="34" charset="-122"/>
                          <a:cs typeface="Calibri" pitchFamily="34" charset="-120"/>
                        </a:rPr>
                        <a:t>Controla</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3 a 6 años en reportería, contabilidad bancaria o riesgo</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Compendio de Normas Contables, RAN de capital y liquidez, circulares recientes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SQL intermedio, Python o Databricks, control de versiones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r h="868680">
                <a:tc>
                  <a:txBody>
                    <a:bodyPr/>
                    <a:lstStyle/>
                    <a:p>
                      <a:pPr indent="0" marL="0">
                        <a:buNone/>
                      </a:pPr>
                      <a:r>
                        <a:rPr lang="en-US" sz="1100" b="1" dirty="0">
                          <a:solidFill>
                            <a:srgbClr val="1B2A30"/>
                          </a:solidFill>
                          <a:latin typeface="Calibri" pitchFamily="34" charset="0"/>
                          <a:ea typeface="Calibri" pitchFamily="34" charset="-122"/>
                          <a:cs typeface="Calibri" pitchFamily="34" charset="-120"/>
                        </a:rPr>
                        <a:t>G3 Jefe</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i="1" dirty="0">
                          <a:solidFill>
                            <a:srgbClr val="1F4FD1"/>
                          </a:solidFill>
                          <a:latin typeface="Calibri" pitchFamily="34" charset="0"/>
                          <a:ea typeface="Calibri" pitchFamily="34" charset="-122"/>
                          <a:cs typeface="Calibri" pitchFamily="34" charset="-120"/>
                        </a:rPr>
                        <a:t>Responde</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6 a 10 años; ha liderado cierres o fiscalizaciones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Dominio integral del MSI y su relación con el balance; gestión del cambio normativo</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Tableros de cumplimiento; capacidad de auditar lo que firma</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r>
              <a:tr h="868680">
                <a:tc>
                  <a:txBody>
                    <a:bodyPr/>
                    <a:lstStyle/>
                    <a:p>
                      <a:pPr indent="0" marL="0">
                        <a:buNone/>
                      </a:pPr>
                      <a:r>
                        <a:rPr lang="en-US" sz="1100" b="1" dirty="0">
                          <a:solidFill>
                            <a:srgbClr val="1B2A30"/>
                          </a:solidFill>
                          <a:latin typeface="Calibri" pitchFamily="34" charset="0"/>
                          <a:ea typeface="Calibri" pitchFamily="34" charset="-122"/>
                          <a:cs typeface="Calibri" pitchFamily="34" charset="-120"/>
                        </a:rPr>
                        <a:t>G4 Subgerente</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i="1" dirty="0">
                          <a:solidFill>
                            <a:srgbClr val="1F4FD1"/>
                          </a:solidFill>
                          <a:latin typeface="Calibri" pitchFamily="34" charset="0"/>
                          <a:ea typeface="Calibri" pitchFamily="34" charset="-122"/>
                          <a:cs typeface="Calibri" pitchFamily="34" charset="-120"/>
                        </a:rPr>
                        <a:t>Rinde cuentas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10 a 15 años; dos áreas entre contabilidad, riesgo, auditoría y TI</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Basilea III completo, normativa del Banco Central, interlocución con la CMF</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c>
                  <a:txBody>
                    <a:bodyPr/>
                    <a:lstStyle/>
                    <a:p>
                      <a:pPr indent="0" marL="0">
                        <a:buNone/>
                      </a:pPr>
                      <a:r>
                        <a:rPr lang="en-US" sz="1100" dirty="0">
                          <a:solidFill>
                            <a:srgbClr val="1B2A30"/>
                          </a:solidFill>
                          <a:latin typeface="Calibri" pitchFamily="34" charset="0"/>
                          <a:ea typeface="Calibri" pitchFamily="34" charset="-122"/>
                          <a:cs typeface="Calibri" pitchFamily="34" charset="-120"/>
                        </a:rPr>
                        <a:t>Arquitectura y gobierno de datos financieros</a:t>
                      </a:r>
                      <a:endParaRPr lang="en-US" sz="1100" dirty="0">
                        <a:latin typeface="Calibri" charset="0"/>
                        <a:ea typeface="Calibri" charset="0"/>
                        <a:cs typeface="Calibri" charset="0"/>
                      </a:endParaRPr>
                    </a:p>
                  </a:txBody>
                  <a:tcPr marL="76200" marR="76200" marT="50800" marB="508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1F6F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2800" b="1" dirty="0">
                <a:solidFill>
                  <a:srgbClr val="1F4E5A"/>
                </a:solidFill>
                <a:latin typeface="Cambria" pitchFamily="34" charset="0"/>
                <a:ea typeface="Cambria" pitchFamily="34" charset="-122"/>
                <a:cs typeface="Cambria" pitchFamily="34" charset="-120"/>
              </a:rPr>
              <a:t>Anexo 3 · Supuestos y fuentes</a:t>
            </a:r>
            <a:endParaRPr lang="en-US" sz="2800" dirty="0"/>
          </a:p>
        </p:txBody>
      </p:sp>
      <p:sp>
        <p:nvSpPr>
          <p:cNvPr id="3" name="Text 1"/>
          <p:cNvSpPr txBox="1"/>
          <p:nvPr/>
        </p:nvSpPr>
        <p:spPr>
          <a:xfrm>
            <a:off x="548640" y="1280160"/>
            <a:ext cx="11091672" cy="4754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Listado de reportes, frecuencias, dotación y riesgos: entregados por el responsable del área (septiembre 2026).</a:t>
            </a:r>
            <a:endParaRPr lang="en-US" sz="1250" dirty="0"/>
          </a:p>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Historia, métricas de portabilidad, eficacia de envíos y descripciones de cargo 2020 y 2024: presentaciones internas de la unidad.</a:t>
            </a:r>
            <a:endParaRPr lang="en-US" sz="1250" dirty="0"/>
          </a:p>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Mapa complejidad × criticidad, escala de grados y perfiles: documento de respaldo "Job grades para la ejecución confiable de los reportes normativos CMF" (septiembre 2026); puntajes asignados con una rúbrica declarada, no con una valoración formal de cargos.</a:t>
            </a:r>
            <a:endParaRPr lang="en-US" sz="1250" dirty="0"/>
          </a:p>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Circular N° 2.376 de la CMF (eliminación de archivos D02, P15 y P22, último envío septiembre 2026) y consulta pública sobre frecuencia de D10: comunicados públicos de la CMF; verificar vigencia antes del comité.</a:t>
            </a:r>
            <a:endParaRPr lang="en-US" sz="1250" dirty="0"/>
          </a:p>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Referencia de mercado: cualitativa; las cifras públicas disponibles corresponden a cargos contables genéricos y se presentarán con el diagnóstico de la fase 1.</a:t>
            </a:r>
            <a:endParaRPr lang="en-US" sz="1250" dirty="0"/>
          </a:p>
          <a:p>
            <a:pPr marL="342900" indent="-342900">
              <a:spcAft>
                <a:spcPts val="600"/>
              </a:spcAft>
              <a:buSzPct val="100000"/>
              <a:buChar char="•"/>
            </a:pPr>
            <a:r>
              <a:rPr lang="en-US" sz="1250" dirty="0">
                <a:solidFill>
                  <a:srgbClr val="1B2A30"/>
                </a:solidFill>
                <a:latin typeface="Calibri" pitchFamily="34" charset="0"/>
                <a:ea typeface="Calibri" pitchFamily="34" charset="-122"/>
                <a:cs typeface="Calibri" pitchFamily="34" charset="-120"/>
              </a:rPr>
              <a:t>La presentación no contiene montos ni datos individuales de remuneración por decisión del área.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2026-09-05T16:13:34Z</dcterms:created>
  <dcterms:modified xsi:type="dcterms:W3CDTF">2026-09-05T16:13:34Z</dcterms:modified>
</cp:coreProperties>
</file>
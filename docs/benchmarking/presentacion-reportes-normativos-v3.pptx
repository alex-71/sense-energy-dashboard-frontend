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con la pregunta y dejarla en el aire un segundo. Todo lo que sigue la responde: el equipo pasó de operar portabilidad a responder por 18 reportes normativos, y la escala con que se valora sigue siendo la de 2020. Hoy no se pide dinero; se propone evaluar el perfil de los cargos.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la propuesta como oportunidad de mejora, no como exigencia. Si preguntan "¿por qué ahora?": porque desde abril de 2026 el equipo envía reportes diarios del Registro de Deuda Consolidada, cuyo incumplimiento puede bloquear el acceso del banco a información de la CMF, y porque el rediseño de 2024 dejó pendiente el pesaje de remuneración.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brecha entre 4.608 solicitudes proyectadas y 18 reales explica el origen de la escala: se diseñó para un proceso operativo. El equipo no se disolvió; absorbió la reportería normativa con la misma dotación. Ese es el hecho central de toda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no es la cantidad de códigos sino la frecuencia: dos reportes diarios y tres semanales significan que el equipo no tiene días sin obligación regulatoria. Objeción: "ya está automatizado". Respuesta: la ejecución puede estarlo; la validación, la respuesta a observaciones y cada cambio normativo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Mensaje: el problema no es la cantidad de reportes sino que hoy se administran como si fueran equivalentes. A la izquierda, la realidad: todos los puntos del mismo color porque todos los cargos tienen el mismo grado. A la derecha, lo que la función exige: cuatro reportes en el cuadrante superior derecho concentran la exposición legal y necesitan un responsable con grado de jefatura y controles formales. Objeción: "los puntajes son subjetivos". Respuesta: por eso la fase 1 de la propuesta es una evaluación formal con Personas.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riesgo de bloqueo convierte un problema de cumplimiento en un problema de negocio: afecta la originación. Los antecedentes muestran que la CMF sanciona el criterio de inclusión y la exactitud, no solo el atraso, y que un error de parametrización persistió 21 meses en un banco sistémico sin que sus controles lo detectaran. Enmarcarlos como precedentes del sistema, no como comparación con competidores.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de síntesis. Arriba: qué era el cargo y qué es hoy, con seis indicadores. Centro: el salto de nivel por competencia (gris 2020, azul hoy) y, a la derecha, todo lo que se sumó al cargo sin retirar lo anterior. Abajo: la escala es lo único que no cambió. Objeción probable: "el perfil ya se actualizó en 2024"; respuesta: se actualizaron funciones y requisitos y el pesaje de remuneración quedó pendiente en ese mismo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Mantener cualitativo. Si piden cifras: existen rangos públicos para cargos contables genéricos (Robert Half, Buk) que el área puede compartir por separado; el diagnóstico los validará con una encuesta 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de izquierda a derecha: hoy, seis cargos con el mismo grado administran reportes de complejidad muy distinta. Los dos caminos parten del mismo diagnóstico. El primero reconoce a todo el equipo y mantiene la estructura; el segundo diferencia roles y crea una ruta de desarrollo. La lámina siguiente los compara criterio a criterio.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las alternativas con neutralidad y dejar que el comité pregunte. La 1 es simple y equitativa y reconoce a todo el equipo; la 2 diferencia responsabilidades, alinea grado con complejidad y crea una ruta de desarrollo, a cambio de definir criterios de selección transparentes. Son combinables: la 2 ahora y revisión de los plenos con la evaluación.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el contraste sin dramatizar: son probabilidades, no certezas. Si preguntan por la probabilidad de rotación, usar el dato interno de rotación y vacantes si existe; si no, la escasez del perfil en el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propuesta en positivo y pedir la fecha. Si el comité no está listo para decidir, acordar al menos el patrocinador y la fecha de retorno.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de consulta. Nombres verificados en fuentes públicas de la CMF y del SERNAC donde se indica; confirmar R05, E23, T01 y D51 con el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de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0160"/>
            <a:ext cx="182880" cy="182880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280160"/>
            <a:ext cx="182880" cy="182880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280160"/>
            <a:ext cx="182880" cy="18288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1280160"/>
            <a:ext cx="182880" cy="18288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¿Estamos valorando el trabajo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hoy hacemos, o el que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46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6F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hacíamos en 2020?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976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propuesta para evaluar el perfil de los cargos del equipo que genera, valida y envía los reportes normativos a la CMF y al SERNAC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cualitativa para el comité directivo · Septiembre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proponemos hoy son tres pasos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1945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9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del perfil de los cargos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520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Personas y la gerencia evalúen el perfil de los cargos del equipo de reportes normativos, con la rúbrica de alcance de este documento, como una oportunidad de mejora.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201168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1945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9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 de la función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520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Formalizar que generar, validar y enviar reportes normativos es una función de control del banco, no una tarea operativa de un producto.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6720" y="201168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1945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9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Patrocinio y fecha de retorno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520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gerente patrocinador y una fecha para volver al comité con la escala propuesta y su costo, una vez completada la evaluación.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035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pasos, una misma idea: valorar los cargos por el trabajo que hoy realizan.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HISTORIA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unidad creada para una demanda que no llegó, y que se reinventó en cumplimiento</a:t>
            </a:r>
            <a:endParaRPr lang="en-US" sz="26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4.608 → 18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200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solicitudes de portabilidad al año: proyectadas al crear la unidad en 2020 frente a las gestionadas en 2024</a:t>
            </a:r>
            <a:endParaRPr lang="en-US" sz="11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87452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297680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→ 18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4297680" y="3200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 bajo responsabilidad del equipo, de 2022 a 2026</a:t>
            </a:r>
            <a:endParaRPr lang="en-US" sz="11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874520"/>
            <a:ext cx="502920" cy="5029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46720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→ 6</a:t>
            </a:r>
            <a:endParaRPr lang="en-US" sz="3800" dirty="0"/>
          </a:p>
        </p:txBody>
      </p:sp>
      <p:sp>
        <p:nvSpPr>
          <p:cNvPr id="17" name="Text 12"/>
          <p:cNvSpPr txBox="1"/>
          <p:nvPr/>
        </p:nvSpPr>
        <p:spPr>
          <a:xfrm>
            <a:off x="8046720" y="3200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en la unidad durante todo el período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4343400"/>
            <a:ext cx="11091672" cy="0"/>
          </a:xfrm>
          <a:prstGeom prst="line">
            <a:avLst/>
          </a:prstGeom>
          <a:noFill/>
          <a:ln w="19050">
            <a:solidFill>
              <a:srgbClr val="E3E6E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48640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48640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 la unidad para la Ley 21.236 de Portabilidad. Requisito del cargo: Excel básico.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2766974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2766974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2766974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Asume el Estado de Deudores (D10) y, desde octubre, 13 informes a la CMF.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4985309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985309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4985309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suman deudores y productos; eficacia promedio de envío 98,78 %.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7203643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203643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7203643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Rediseño del cargo: SQL, Power BI, Databricks. Pendiente: pesaje de remuneración.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421978" y="4261104"/>
            <a:ext cx="164592" cy="164592"/>
          </a:xfrm>
          <a:prstGeom prst="ellipse">
            <a:avLst/>
          </a:prstGeom>
          <a:solidFill>
            <a:srgbClr val="4A6F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421978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9421978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Entran RDC01, RDC02 y RDC40, los reportes diarios y semanales del Registro de Deuda Consolidada (REDEC).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presentaciones internas "Historia y métricas Portabilidad", "Evolución de la responsabilidad" y "Diseño organizacional Compliance 2024".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PERÍMETRO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salen de este equipo 18 reportes hacia la CMF y el SERNAC, y no hay día sin obligación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65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margen de atraso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196596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R05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310128" y="196596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RDC40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la versión semanal de D10 y RDC01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278892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RDC02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310128" y="278892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242816" y="278892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611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886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Primeros días hábiles del mes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310128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242816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E23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175504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Sernac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108192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D03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310128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P14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242816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P15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P16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108192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P22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P37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434340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P38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3310128" y="434340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P39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983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Trimestral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257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trimestral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2377440" y="49834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D51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8412480" y="1920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</a:t>
            </a:r>
            <a:endParaRPr lang="en-US" sz="4000" dirty="0"/>
          </a:p>
        </p:txBody>
      </p:sp>
      <p:sp>
        <p:nvSpPr>
          <p:cNvPr id="38" name="Text 36"/>
          <p:cNvSpPr txBox="1"/>
          <p:nvPr/>
        </p:nvSpPr>
        <p:spPr>
          <a:xfrm>
            <a:off x="841248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al regulador por mes, según el indicador interno de la unidad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412480" y="3337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98,78 %</a:t>
            </a:r>
            <a:endParaRPr lang="en-US" sz="400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eficacia promedio de envío, con margen permitido de 3 %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66928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perímetro cambia sin aviso: la Circular N° 2.376 elimina D02, P15 y P22 con último envío en septiembre de 2026, mientras el Registro de Deuda Consolidada entra en régimen diario.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y frecuencias: responsable del área. Eficacia y volumen: indicador interno. Circular N° 2.376: comunicado público de la CMF, verificar vigencia.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COMPLEJIDAD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los 18 reportes se asignan sin diferenciar complejidad ni competencias; la función exige roles distintos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520440" y="2377440"/>
            <a:ext cx="2560320" cy="150876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377440"/>
            <a:ext cx="5120640" cy="3017520"/>
          </a:xfrm>
          <a:prstGeom prst="rect">
            <a:avLst/>
          </a:prstGeom>
          <a:ln w="12700">
            <a:solidFill>
              <a:srgbClr val="E3E6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2377440"/>
            <a:ext cx="0" cy="301752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3886200"/>
            <a:ext cx="51206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54223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→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 rot="16200000">
            <a:off x="502920" y="3785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Criticidad →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19933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un mismo grado para los 18 reportes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2854" y="251825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RDC40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4246474" y="2729484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3785616" y="288036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RDC02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068726" y="2548433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3478378" y="3061411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2966314" y="3212287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D03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2556662" y="3031236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2403043" y="339333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Sernac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3888029" y="3514039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D51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068726" y="360456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E23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2249424" y="366491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2454250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P37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2812694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P38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171139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P39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942186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P14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2300630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P16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1839773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P15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2198218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P22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9326880" y="2377440"/>
            <a:ext cx="2560320" cy="150876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0" y="2377440"/>
            <a:ext cx="5120640" cy="3017520"/>
          </a:xfrm>
          <a:prstGeom prst="rect">
            <a:avLst/>
          </a:prstGeom>
          <a:ln w="12700">
            <a:solidFill>
              <a:srgbClr val="E3E6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326880" y="2377440"/>
            <a:ext cx="0" cy="301752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66560" y="3886200"/>
            <a:ext cx="51206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66560" y="54223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→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 rot="16200000">
            <a:off x="6309360" y="3785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Criticidad →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6766560" y="19933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cada reporte exige: responsable según su peso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899294" y="251825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34517D"/>
          </a:solidFill>
          <a:ln>
            <a:solidFill>
              <a:srgbClr val="34517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RDC40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10052914" y="2729484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9592056" y="288036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RDC02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8875166" y="2548433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R05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9284818" y="3061411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8772754" y="3212287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8363102" y="3031236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8209483" y="339333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Sernac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9694469" y="3514039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D51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8875166" y="360456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E23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8055864" y="366491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8260690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P37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8619134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P38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8977579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P39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748626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P14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8107070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P16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7646213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P15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8004658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P22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766560" y="5760720"/>
            <a:ext cx="128016" cy="128016"/>
          </a:xfrm>
          <a:prstGeom prst="ellipse">
            <a:avLst/>
          </a:prstGeom>
          <a:solidFill>
            <a:srgbClr val="34517D"/>
          </a:solidFill>
          <a:ln w="12700">
            <a:solidFill>
              <a:srgbClr val="34517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49440" y="5715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 (G4)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8503920" y="5760720"/>
            <a:ext cx="128016" cy="128016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686800" y="5715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(G3)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10241280" y="5760720"/>
            <a:ext cx="128016" cy="128016"/>
          </a:xfrm>
          <a:prstGeom prst="ellipse">
            <a:avLst/>
          </a:prstGeom>
          <a:solidFill>
            <a:srgbClr val="A9BEDC"/>
          </a:solidFill>
          <a:ln w="12700">
            <a:solidFill>
              <a:srgbClr val="A9BEDC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0424160" y="5715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Senior (G2)</a:t>
            </a:r>
            <a:endParaRPr lang="en-US" sz="950" dirty="0"/>
          </a:p>
        </p:txBody>
      </p:sp>
      <p:sp>
        <p:nvSpPr>
          <p:cNvPr id="65" name="Text 63"/>
          <p:cNvSpPr txBox="1"/>
          <p:nvPr/>
        </p:nvSpPr>
        <p:spPr>
          <a:xfrm>
            <a:off x="960120" y="57150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especialistas con el mismo grado se reparten reportes cuya complejidad y consecuencia son muy distintas, aunque sus competencias para administrarlos también lo son. Diferenciar roles alinea la responsabilidad con la capacidad y con el riesgo.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Puntajes con la rúbrica del documento de respaldo; contenido de R05, E23, T01 y D51 por confirmar en el MSI vigente.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RIESGO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está en juego ya tiene precedentes en la banca chilena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E7E5"/>
          </a:solidFill>
          <a:ln w="9525">
            <a:solidFill>
              <a:srgbClr val="F6E7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011680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de acceso a información de la CMF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286000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incumplimiento en RDC01, RDC02 o RDC40 puede derivar en la suspensión del acceso al Registro de Deuda Consolidada hasta por un año. Sin esa información, el banco no puede evaluar deuda consolidada al originar créditos.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944368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E7E5"/>
          </a:solidFill>
          <a:ln w="9525">
            <a:solidFill>
              <a:srgbClr val="F6E7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035808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Multas por contenido, no solo por atraso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" y="331012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CMF sanciona el criterio de inclusión y la exactitud de lo informado: quien decide qué deudor entra en D10 o qué cifra va en un archivo toma una decisión con consecuencia legal.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968496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059936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reputacional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334256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 en información de deudores o en el reporte al SERNAC afecta a clientes concretos y a la relación con el regulador.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4992624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5084064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operativa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5358384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personas sostienen 18 reportes con envíos diarios y semanales; el conocimiento normativo y técnico es escaso.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1920240"/>
            <a:ext cx="5513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INVESTIGADOS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208776" y="2286000"/>
            <a:ext cx="0" cy="3703320"/>
          </a:xfrm>
          <a:prstGeom prst="line">
            <a:avLst/>
          </a:prstGeom>
          <a:noFill/>
          <a:ln w="19050">
            <a:solidFill>
              <a:srgbClr val="E3E6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2258568"/>
            <a:ext cx="164592" cy="164592"/>
          </a:xfrm>
          <a:prstGeom prst="ellipse">
            <a:avLst/>
          </a:prstGeom>
          <a:solidFill>
            <a:srgbClr val="B85C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46520" y="219456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Jul. 2024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Deudores (D10)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2468880"/>
            <a:ext cx="5193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Santander Chile, UF 2.500 (Res. Ex. N° 5.664) y Coopeuch, UF 1.000 (Res. Ex. N° 5.666), por incluir a personas que no cumplían las condiciones. Infringidos: números 2 y 5 del Capítulo 18-5 de la RAN y artículo 14 de la LGB.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126480" y="3282696"/>
            <a:ext cx="164592" cy="164592"/>
          </a:xfrm>
          <a:prstGeom prst="ellipse">
            <a:avLst/>
          </a:prstGeom>
          <a:solidFill>
            <a:srgbClr val="B85C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3218688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Nov. 2024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tardío de información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493008"/>
            <a:ext cx="5193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bancos sancionados con UF 450 y UF 250 por remitir fuera de plazo información requerida por la Fiscalía.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26480" y="3995928"/>
            <a:ext cx="164592" cy="164592"/>
          </a:xfrm>
          <a:prstGeom prst="ellipse">
            <a:avLst/>
          </a:prstGeom>
          <a:solidFill>
            <a:srgbClr val="B85C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6520" y="393192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Ene. 2026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R13, riesgo de mercado del libro de banca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4206240"/>
            <a:ext cx="5193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Santander-Chile, UF 2.500 (Res. N° 1.183 del 30 de enero). Entre abril de 2023 y enero de 2025 informó una sensibilidad Delta EVE inferior a la exigida; la CMF citó debilidades en los controles. Infringido: Capítulo 21-13 de la RAN.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26480" y="5020056"/>
            <a:ext cx="164592" cy="164592"/>
          </a:xfrm>
          <a:prstGeom prst="ellipse">
            <a:avLst/>
          </a:prstGeom>
          <a:solidFill>
            <a:srgbClr val="4A6F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4956048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abr. 2026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Deuda Consolidada, Ley 21.680 y NCG N° 540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5230368"/>
            <a:ext cx="5193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Infracciones leves hasta 100 UTM; graves (datos inexactos) hasta 5.000 UTM; gravísimas (datos falsos) hasta 10.000 UTM; suspensión del acceso al Registro hasta por un año.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comunicados de la CMF del 4 de julio de 2024, 26 de noviembre de 2024 y 30 de enero de 2026; Ley 21.680 y NCG N° 540. Enlaces en el anexo de fuentes.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11457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trabajo cambió, la escala no: de Portabilidad de Entrada a Especialista Normativo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365760" y="640080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713232"/>
            <a:ext cx="32461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 · PUNTO DE PARTIDA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Analista de Portabilidad de Entrada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flujo de entrada de portabilidad, cuadrar pagos y resolver discrepancias con la institución inicial vía Redbanc. Requisito excluyente: Excel básico. Demanda real: 1,5 solicitudes al mes.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8302752" y="640080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39912" y="713232"/>
            <a:ext cx="32461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HOY · PERFIL NORMATIVO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Especialista en Información Normativa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Modelar, monitorear y validar la información que responde a la CMF y al SERNAC; desarrollar controles y alertas; sostener la posición del banco ante observaciones del regulador y en mesas normativas.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023360" y="640080"/>
            <a:ext cx="414223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0" y="713232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713232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excluyentes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976872" y="713232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159752" y="713232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935736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935736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del cargo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976872" y="935736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159752" y="935736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1158240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1158240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exigidas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1158240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159752" y="1158240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1380744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1380744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Interlocutores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976872" y="1380744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159752" y="1380744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1603248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120640" y="1603248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1603248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159752" y="1603248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1825752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Operativa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825752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 de un error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976872" y="1825752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7159752" y="1825752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65760" y="2313432"/>
            <a:ext cx="109728" cy="109728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2064" y="226771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 en 2020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554480" y="2313432"/>
            <a:ext cx="109728" cy="10972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700784" y="22677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 hoy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256032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Intermedio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903720" y="226771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772400" y="22677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Salto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97180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2628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8076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3524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65760" y="2523744"/>
            <a:ext cx="18288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SKILLS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365760" y="270296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971800" y="2792578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81144" y="2792578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4471416" y="2737714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80376" y="2737714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772400" y="270296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365760" y="2882189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971800" y="2971800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026664" y="2971800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2916936" y="2916936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580376" y="2916936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772400" y="2882189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3061411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PySpark y Databricks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2971800" y="3151022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026664" y="3151022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2916936" y="3096158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80376" y="3096158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772400" y="3061411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365760" y="3240634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2971800" y="3330245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26664" y="3330245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2916936" y="3275381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025896" y="3275381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772400" y="3240634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365760" y="341985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 CMF: MSI, RAN 18-5, Ley 21.680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2971800" y="3509467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026664" y="3509467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2916936" y="3454603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580376" y="3454603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772400" y="341985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365760" y="3599078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 bancaria (Compendio)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2971800" y="3688690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81144" y="3688690"/>
            <a:ext cx="144475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79" name="Shape 77"/>
          <p:cNvSpPr/>
          <p:nvPr/>
        </p:nvSpPr>
        <p:spPr>
          <a:xfrm>
            <a:off x="4471416" y="3633826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25896" y="3633826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7772400" y="3599078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365760" y="3778301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 y trazabilidad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2971800" y="3867912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581144" y="3867912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4471416" y="3813048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580376" y="3813048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772400" y="3778301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88" name="Text 86"/>
          <p:cNvSpPr txBox="1"/>
          <p:nvPr/>
        </p:nvSpPr>
        <p:spPr>
          <a:xfrm>
            <a:off x="365760" y="3957523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datos, Ley 19.628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2971800" y="4047134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026664" y="4047134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91" name="Shape 89"/>
          <p:cNvSpPr/>
          <p:nvPr/>
        </p:nvSpPr>
        <p:spPr>
          <a:xfrm>
            <a:off x="2916936" y="3992270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25896" y="3992270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772400" y="3957523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365760" y="413674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procesos (BPMN)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971800" y="4226357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026664" y="4226357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916936" y="4171493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025896" y="4171493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772400" y="413674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365760" y="4315968"/>
            <a:ext cx="18288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SKILLS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365760" y="4495190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con reguladores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2971800" y="4584802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026664" y="4584802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2916936" y="4529938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80376" y="4529938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7772400" y="4495190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107" name="Text 105"/>
          <p:cNvSpPr txBox="1"/>
          <p:nvPr/>
        </p:nvSpPr>
        <p:spPr>
          <a:xfrm>
            <a:off x="365760" y="4674413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Juicio normativo y criterio para escalar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2971800" y="4764024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581144" y="4764024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4471416" y="4709160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580376" y="4709160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772400" y="4674413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13" name="Text 111"/>
          <p:cNvSpPr txBox="1"/>
          <p:nvPr/>
        </p:nvSpPr>
        <p:spPr>
          <a:xfrm>
            <a:off x="365760" y="4853635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Colaboración transversal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2971800" y="4943246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581144" y="4943246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6" name="Shape 114"/>
          <p:cNvSpPr/>
          <p:nvPr/>
        </p:nvSpPr>
        <p:spPr>
          <a:xfrm>
            <a:off x="4471416" y="4888382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7580376" y="4888382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7772400" y="4853635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19" name="Text 117"/>
          <p:cNvSpPr txBox="1"/>
          <p:nvPr/>
        </p:nvSpPr>
        <p:spPr>
          <a:xfrm>
            <a:off x="365760" y="5032858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 causa raíz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2971800" y="5122469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581144" y="5122469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471416" y="5067605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580376" y="5067605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7772400" y="5032858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25" name="Text 123"/>
          <p:cNvSpPr txBox="1"/>
          <p:nvPr/>
        </p:nvSpPr>
        <p:spPr>
          <a:xfrm>
            <a:off x="365760" y="5212080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calendario bajo plazo diario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2971800" y="5301691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581144" y="5301691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>
            <a:off x="4471416" y="5246827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80376" y="5246827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7772400" y="5212080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31" name="Text 129"/>
          <p:cNvSpPr txBox="1"/>
          <p:nvPr/>
        </p:nvSpPr>
        <p:spPr>
          <a:xfrm>
            <a:off x="365760" y="5391302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Storytelling y mesas de trabajo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2971800" y="5480914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3026664" y="5480914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34" name="Shape 132"/>
          <p:cNvSpPr/>
          <p:nvPr/>
        </p:nvSpPr>
        <p:spPr>
          <a:xfrm>
            <a:off x="2916936" y="5426050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025896" y="5426050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772400" y="5391302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37" name="Shape 135"/>
          <p:cNvSpPr/>
          <p:nvPr/>
        </p:nvSpPr>
        <p:spPr>
          <a:xfrm>
            <a:off x="8412480" y="2240280"/>
            <a:ext cx="3410712" cy="3375965"/>
          </a:xfrm>
          <a:prstGeom prst="roundRect">
            <a:avLst>
              <a:gd name="adj" fmla="val 162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8522208" y="2322576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SUMÓ AL CARGO</a:t>
            </a:r>
            <a:endParaRPr lang="en-US" sz="750" dirty="0"/>
          </a:p>
        </p:txBody>
      </p:sp>
      <p:sp>
        <p:nvSpPr>
          <p:cNvPr id="139" name="Text 137"/>
          <p:cNvSpPr txBox="1"/>
          <p:nvPr/>
        </p:nvSpPr>
        <p:spPr>
          <a:xfrm>
            <a:off x="8522208" y="2542032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Funciones  </a:t>
            </a:r>
            <a:pPr indent="0" marL="0">
              <a:buNone/>
            </a:pPr>
            <a:r>
              <a:rPr lang="en-US" sz="9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8522208" y="2734056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8577072" y="2734056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8522208" y="2935224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8577072" y="2935224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e interpretación de datos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8522208" y="3136392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577072" y="3136392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8522208" y="3337560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8577072" y="3337560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alertas</a:t>
            </a:r>
            <a:endParaRPr lang="en-US" sz="750" dirty="0"/>
          </a:p>
        </p:txBody>
      </p:sp>
      <p:sp>
        <p:nvSpPr>
          <p:cNvPr id="148" name="Shape 146"/>
          <p:cNvSpPr/>
          <p:nvPr/>
        </p:nvSpPr>
        <p:spPr>
          <a:xfrm>
            <a:off x="8522208" y="3538728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8577072" y="3538728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Rediseño de procesos</a:t>
            </a:r>
            <a:endParaRPr lang="en-US" sz="750" dirty="0"/>
          </a:p>
        </p:txBody>
      </p:sp>
      <p:sp>
        <p:nvSpPr>
          <p:cNvPr id="150" name="Shape 148"/>
          <p:cNvSpPr/>
          <p:nvPr/>
        </p:nvSpPr>
        <p:spPr>
          <a:xfrm>
            <a:off x="8522208" y="3739896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8577072" y="3739896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reactivas y proactivas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8522208" y="3941064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8577072" y="3941064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de trabajo normativo (Governance)</a:t>
            </a:r>
            <a:endParaRPr lang="en-US" sz="750" dirty="0"/>
          </a:p>
        </p:txBody>
      </p:sp>
      <p:sp>
        <p:nvSpPr>
          <p:cNvPr id="154" name="Text 152"/>
          <p:cNvSpPr txBox="1"/>
          <p:nvPr/>
        </p:nvSpPr>
        <p:spPr>
          <a:xfrm>
            <a:off x="8522208" y="4178808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Competencias  </a:t>
            </a:r>
            <a:pPr indent="0" marL="0">
              <a:buNone/>
            </a:pPr>
            <a:r>
              <a:rPr lang="en-US" sz="9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000" dirty="0"/>
          </a:p>
        </p:txBody>
      </p:sp>
      <p:sp>
        <p:nvSpPr>
          <p:cNvPr id="155" name="Shape 153"/>
          <p:cNvSpPr/>
          <p:nvPr/>
        </p:nvSpPr>
        <p:spPr>
          <a:xfrm>
            <a:off x="8522208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8577072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326880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9381744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700" dirty="0"/>
          </a:p>
        </p:txBody>
      </p:sp>
      <p:sp>
        <p:nvSpPr>
          <p:cNvPr id="159" name="Shape 157"/>
          <p:cNvSpPr/>
          <p:nvPr/>
        </p:nvSpPr>
        <p:spPr>
          <a:xfrm>
            <a:off x="10131552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10186416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10936224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10991088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8522208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8577072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Analítica</a:t>
            </a:r>
            <a:endParaRPr lang="en-US" sz="700" dirty="0"/>
          </a:p>
        </p:txBody>
      </p:sp>
      <p:sp>
        <p:nvSpPr>
          <p:cNvPr id="165" name="Shape 163"/>
          <p:cNvSpPr/>
          <p:nvPr/>
        </p:nvSpPr>
        <p:spPr>
          <a:xfrm>
            <a:off x="9326880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381744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Plazos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10131552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10186416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936224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0" name="Text 168"/>
          <p:cNvSpPr txBox="1"/>
          <p:nvPr/>
        </p:nvSpPr>
        <p:spPr>
          <a:xfrm>
            <a:off x="10991088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CMF</a:t>
            </a:r>
            <a:endParaRPr lang="en-US" sz="700" dirty="0"/>
          </a:p>
        </p:txBody>
      </p:sp>
      <p:sp>
        <p:nvSpPr>
          <p:cNvPr id="171" name="Text 169"/>
          <p:cNvSpPr txBox="1"/>
          <p:nvPr/>
        </p:nvSpPr>
        <p:spPr>
          <a:xfrm>
            <a:off x="8522208" y="4809744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Interlocutores  </a:t>
            </a:r>
            <a:pPr indent="0" marL="0">
              <a:buNone/>
            </a:pPr>
            <a:r>
              <a:rPr lang="en-US" sz="9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</a:t>
            </a:r>
            <a:endParaRPr lang="en-US" sz="1000" dirty="0"/>
          </a:p>
        </p:txBody>
      </p:sp>
      <p:sp>
        <p:nvSpPr>
          <p:cNvPr id="172" name="Shape 170"/>
          <p:cNvSpPr/>
          <p:nvPr/>
        </p:nvSpPr>
        <p:spPr>
          <a:xfrm>
            <a:off x="8522208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8577072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Reguladores Financieros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9595104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649968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Regulatorios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10668000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10722864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Fiscalía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8522208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8577072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SERNAC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9595104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9649968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SIGIR</a:t>
            </a:r>
            <a:endParaRPr lang="en-US" sz="700" dirty="0"/>
          </a:p>
        </p:txBody>
      </p:sp>
      <p:sp>
        <p:nvSpPr>
          <p:cNvPr id="182" name="Shape 180"/>
          <p:cNvSpPr/>
          <p:nvPr/>
        </p:nvSpPr>
        <p:spPr>
          <a:xfrm>
            <a:off x="10668000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83" name="Text 181"/>
          <p:cNvSpPr txBox="1"/>
          <p:nvPr/>
        </p:nvSpPr>
        <p:spPr>
          <a:xfrm>
            <a:off x="10722864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Comercial</a:t>
            </a:r>
            <a:endParaRPr lang="en-US" sz="700" dirty="0"/>
          </a:p>
        </p:txBody>
      </p:sp>
      <p:sp>
        <p:nvSpPr>
          <p:cNvPr id="184" name="Shape 182"/>
          <p:cNvSpPr/>
          <p:nvPr/>
        </p:nvSpPr>
        <p:spPr>
          <a:xfrm>
            <a:off x="8522208" y="5404104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577072" y="5404104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Otras inst. financieras</a:t>
            </a:r>
            <a:endParaRPr lang="en-US" sz="700" dirty="0"/>
          </a:p>
        </p:txBody>
      </p:sp>
      <p:sp>
        <p:nvSpPr>
          <p:cNvPr id="186" name="Shape 184"/>
          <p:cNvSpPr/>
          <p:nvPr/>
        </p:nvSpPr>
        <p:spPr>
          <a:xfrm>
            <a:off x="365760" y="5698541"/>
            <a:ext cx="11457432" cy="457200"/>
          </a:xfrm>
          <a:prstGeom prst="roundRect">
            <a:avLst>
              <a:gd name="adj" fmla="val 12000"/>
            </a:avLst>
          </a:prstGeom>
          <a:solidFill>
            <a:srgbClr val="F6F1D9"/>
          </a:solidFill>
          <a:ln w="9525">
            <a:solidFill>
              <a:srgbClr val="E3D9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0352" y="5698541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5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único que no cambió: la escala de cargos y remuneraciones. </a:t>
            </a:r>
            <a:pPr indent="0" marL="0">
              <a:buNone/>
            </a:pPr>
            <a:r>
              <a:rPr lang="en-US" sz="9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15 competencias subieron en promedio 2,2 niveles; las funciones pasaron de 4 a 11, los interlocutores de 3 a 10 y la consecuencia de un error de operativa a legal (Ley 21.680). El rediseño de 2024 dejó pendiente el pesaje de remuneración respecto a responsabilidad.</a:t>
            </a:r>
            <a:endParaRPr lang="en-US" sz="900" dirty="0"/>
          </a:p>
        </p:txBody>
      </p:sp>
      <p:sp>
        <p:nvSpPr>
          <p:cNvPr id="188" name="Text 186"/>
          <p:cNvSpPr txBox="1"/>
          <p:nvPr/>
        </p:nvSpPr>
        <p:spPr>
          <a:xfrm>
            <a:off x="365760" y="6192317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descripción de cargo 2020, rediseño 2024 y lámina de funciones, competencias e interacción (Diseño Organizacional Compliance 2024); perfil actual deducido del análisis de los 18 reportes normativos. Niveles 2020 literales de la descripción; niveles actuales son exigencia de la función, no evaluación de personas.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bancos sistémicos ya tratan esta función como especializada; competimos por el mismo talento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especializada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reportería regulatoria opera en unidades dedicadas, separadas de los procesos de producto, con dueños por bloque de archivos del MSI y un responsable del proceso completo.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6616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diferenciada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Analista, analista senior, jefe y subgerente son grados distintos, con separación entre quien prepara y quien firma. Las referencias públicas ubican jefaturas y especialistas contables en bandas distintas a los analistas operativos.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disputadas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SQL, plataformas de datos como Databricks y conocimiento del MSI, del REDEC y de Basilea III son el perfil que buscan Riesgo, Contabilidad, las áreas de datos y los pares. Un reemplazo se paga en meses de curva de aprendizaje.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Perímetro en expansión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Deuda Consolidada, cierre de Basilea III y cambios permanentes al MSI aumentan la carga en todos los bancos, lo que intensifica la competencia por el mismo talento.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cualitativa a propósito: las cifras de mercado llegan al comité con el diagnóstico de la fase 1, validadas con una fuente formal de remuneraciones.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afirmación está respaldada en el documento "Respaldo de afirmaciones de mercado", entregado junto con esta presentación, con sus fuentes públicas.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CAMINOS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equipo plano con un mismo grado a dos caminos para alinear la estructura con el trabajo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3514344" cy="4069080"/>
          </a:xfrm>
          <a:prstGeom prst="roundRect">
            <a:avLst>
              <a:gd name="adj" fmla="val 1561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965960"/>
            <a:ext cx="3148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20012" y="237744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0E4E9"/>
          </a:solidFill>
          <a:ln w="12700">
            <a:solidFill>
              <a:srgbClr val="E0E4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56588" y="237744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305812" y="2706624"/>
            <a:ext cx="0" cy="201168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20012" y="2907792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0E4E9"/>
          </a:solidFill>
          <a:ln w="12700">
            <a:solidFill>
              <a:srgbClr val="E0E4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656588" y="290779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Normativo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305812" y="3236976"/>
            <a:ext cx="0" cy="25603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8492" y="3493008"/>
            <a:ext cx="28346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8492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2460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9036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1455420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99388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35964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022348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66316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802892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2589276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33244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369820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156204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00172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936748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723132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67100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503676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343400"/>
            <a:ext cx="3514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Especialistas Normativos, un mismo grado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31520" y="507492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18 reportes se reparten sin diferenciar complejidad ni competencias; la validación y la firma recaen en el Jefe.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37304" y="1874520"/>
            <a:ext cx="3514344" cy="4069080"/>
          </a:xfrm>
          <a:prstGeom prst="roundRect">
            <a:avLst>
              <a:gd name="adj" fmla="val 1561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20184" y="1965960"/>
            <a:ext cx="3148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1 · UN GRADO MÁS PARA TODOS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408676" y="237744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45252" y="237744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5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094476" y="2706624"/>
            <a:ext cx="0" cy="201168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08676" y="2907792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45252" y="290779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5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Normativo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094476" y="3236976"/>
            <a:ext cx="0" cy="25603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77156" y="3493008"/>
            <a:ext cx="2834640" cy="0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7156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421124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57700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244084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988052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024628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811012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54980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591556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6377940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121908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158484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6944868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688836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725412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7511796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255764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292340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4750308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750308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7236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317236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5884164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884164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6451092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451092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7018020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01802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7584948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7584948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77" name="Text 75"/>
          <p:cNvSpPr txBox="1"/>
          <p:nvPr/>
        </p:nvSpPr>
        <p:spPr>
          <a:xfrm>
            <a:off x="4337304" y="4343400"/>
            <a:ext cx="3514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Especialistas Normativos, grado +1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4520184" y="507492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 las competencias adquiridas en todo el equipo y conserva el respaldo mutuo entre pares. La estructura sigue siendo plana.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8125968" y="1874520"/>
            <a:ext cx="3514344" cy="4069080"/>
          </a:xfrm>
          <a:prstGeom prst="roundRect">
            <a:avLst>
              <a:gd name="adj" fmla="val 1561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308848" y="1965960"/>
            <a:ext cx="3148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2 · DOS CARGOS SENIOR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9197340" y="237744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9233916" y="237744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5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883140" y="2706624"/>
            <a:ext cx="0" cy="201168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197340" y="2907792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9233916" y="290779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5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Normativo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9883140" y="3236976"/>
            <a:ext cx="0" cy="1014984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465820" y="3611880"/>
            <a:ext cx="2834640" cy="0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191500" y="3383280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34517D"/>
          </a:solidFill>
          <a:ln w="12700">
            <a:solidFill>
              <a:srgbClr val="34517D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8228076" y="3383280"/>
            <a:ext cx="1161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Especialista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9288780" y="3273552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9288780" y="3273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10340340" y="3383280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34517D"/>
          </a:solidFill>
          <a:ln w="12700">
            <a:solidFill>
              <a:srgbClr val="34517D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0376916" y="3383280"/>
            <a:ext cx="1161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TI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(datos y automatización)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11437620" y="3273552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11437620" y="3273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8676132" y="4251960"/>
            <a:ext cx="2414016" cy="0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676132" y="4251960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319516" y="4416552"/>
            <a:ext cx="713232" cy="384048"/>
          </a:xfrm>
          <a:prstGeom prst="roundRect">
            <a:avLst>
              <a:gd name="adj" fmla="val 11905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356092" y="44165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9480804" y="4251960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124188" y="4416552"/>
            <a:ext cx="713232" cy="384048"/>
          </a:xfrm>
          <a:prstGeom prst="roundRect">
            <a:avLst>
              <a:gd name="adj" fmla="val 11905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9160764" y="44165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10285476" y="4251960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928860" y="4416552"/>
            <a:ext cx="713232" cy="384048"/>
          </a:xfrm>
          <a:prstGeom prst="roundRect">
            <a:avLst>
              <a:gd name="adj" fmla="val 11905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9965436" y="44165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11090148" y="4251960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733532" y="4416552"/>
            <a:ext cx="713232" cy="384048"/>
          </a:xfrm>
          <a:prstGeom prst="roundRect">
            <a:avLst>
              <a:gd name="adj" fmla="val 11905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10770108" y="44165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8125968" y="4828032"/>
            <a:ext cx="3514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seniors, grado +1; cuatro plenos</a:t>
            </a:r>
            <a:endParaRPr lang="en-US" sz="900" dirty="0"/>
          </a:p>
        </p:txBody>
      </p:sp>
      <p:sp>
        <p:nvSpPr>
          <p:cNvPr id="110" name="Text 108"/>
          <p:cNvSpPr txBox="1"/>
          <p:nvPr/>
        </p:nvSpPr>
        <p:spPr>
          <a:xfrm>
            <a:off x="8308848" y="507492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seniors asumen los bloques críticos (Deudores y REDEC; datos, automatización y controles) y la validación; los plenos ejecutan bajo control dual con ruta a senior.</a:t>
            </a:r>
            <a:endParaRPr lang="en-US" sz="950" dirty="0"/>
          </a:p>
        </p:txBody>
      </p:sp>
      <p:sp>
        <p:nvSpPr>
          <p:cNvPr id="111" name="Text 109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común: quien prepara nunca firma; ningún reporte crítico depende de una sola persona. Grados a validar con Personas en la evaluación.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ALTERNATIVAS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alternativas, criterio a criterio; ambas sin monto en esta etapa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16459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1 · UN GRADO MÁS PARA TODOS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178040" y="16459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2 · DOS CARGOS SENIOR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11091672" cy="45720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19659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reconoce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19659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competencias adquiridas con el cambio de tareas, en los seis cargos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19659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competencias adquiridas y, además, la diferencia de complejidad entre reportes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4231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651760" y="24231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alinea con las expectativas del mercado para todo el equipo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4231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alinea en los dos cargos que asumen los bloques críticos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2880360"/>
            <a:ext cx="11091672" cy="45720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28803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28803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Plana: seis especialistas con el mismo grado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28803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Diferenciada: dos seniors y cuatro plenos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33375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y firma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33375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mantienen en el Jefe Normativo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178040" y="33375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seniors validan sus bloques; el Jefe firma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3794760"/>
            <a:ext cx="11091672" cy="45720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37947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651760" y="37947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Mutuo entre pares: sin dependencia de una sola persona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37947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Seniors respaldan los bloques críticos; plenos se respaldan entre sí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42519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Equidad interna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2651760" y="42519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para todos, sin criterios de selección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178040" y="42519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criterios de selección claros y comunicados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709160"/>
            <a:ext cx="11091672" cy="45720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8368" y="47091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del ajuste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651760" y="47091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cargos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178040" y="47091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cargos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51663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desarrollo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2651760" y="51663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abre expectativa de crecimiento posterior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7178040" y="51663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el paso de pleno a senior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parten del mismo diagnóstico y son compatibles con una implementación por etapas. El costo de cada una se presenta al comité con el resultado de la evaluación del perfil de los cargos.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ESCENARIOS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escenarios a doce meses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5440680" cy="3931920"/>
          </a:xfrm>
          <a:prstGeom prst="roundRect">
            <a:avLst>
              <a:gd name="adj" fmla="val 1395"/>
            </a:avLst>
          </a:prstGeom>
          <a:solidFill>
            <a:srgbClr val="F6E7E5"/>
          </a:solidFill>
          <a:ln w="9525">
            <a:solidFill>
              <a:srgbClr val="F6E7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72200" y="1965960"/>
            <a:ext cx="5440680" cy="3931920"/>
          </a:xfrm>
          <a:prstGeom prst="roundRect">
            <a:avLst>
              <a:gd name="adj" fmla="val 139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148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se actúa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651760"/>
            <a:ext cx="4892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escala sigue anclada al proceso de portabilidad de 2020.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de una o dos personas clave hacia áreas o bancos que ya reconocen la función; meses de curva de aprendizaje por reemplazo.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diarios del RDC sostenidos con respaldos improvisados; mayor probabilidad de atraso o error, con riesgo de bloqueo de acceso.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conversación sobre remuneración se da igual, pero en modo reactivo, después de un incidente.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148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aprueba la evaluación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651760"/>
            <a:ext cx="4892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Cargos valorados según lo que hoy hacen: producir, controlar y responder ante el regulador.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Grados y roles alineados con la complejidad de los reportes, según la alternativa que se elija.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Retención del conocimiento normativo y técnico acumulado desde 2022; capacidad para absorber los cambios del MSI.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comité decide sobre cifras validadas, en la fecha acordada, y no bajo presión.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0160"/>
            <a:ext cx="182880" cy="182880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280160"/>
            <a:ext cx="182880" cy="182880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280160"/>
            <a:ext cx="182880" cy="18288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1280160"/>
            <a:ext cx="182880" cy="18288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proponemos hoy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907792"/>
            <a:ext cx="457200" cy="45720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834640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el perfil de los cargos </a:t>
            </a:r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equipo de reportes normativos junto con Personas, como oportunidad de mejora.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685032"/>
            <a:ext cx="457200" cy="45720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611880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la función </a:t>
            </a:r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crítica de cumplimiento dentro de la estructura.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462272"/>
            <a:ext cx="457200" cy="45720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462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Patrocinar el proceso </a:t>
            </a:r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gerente y una fecha de retorno al comité, sugerida a 60 días.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669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montos ni dotación adicional en esta etapa. Las cifras llegan con la evaluación.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1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los 18 reportes del equipo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3657600"/>
                <a:gridCol w="423367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Frecuencia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RDC40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Deuda Consolidada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diaria de solicitudes de deudores (derechos ARCC); responsable sugerido G4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R05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Riesgo, codificación previa a Basilea III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 por confirmar en el MSI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RDC01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Semanal y 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Deuda Consolidada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Deuda positiva y negativa de los deudores; responsable G3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RDC02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Semanal (viernes)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Deuda Consolidada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Rectificaciones trazables al RDC01; responsable G3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D10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Semanal y 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Deudores, art. 14 LGB y RAN 18-5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Precedente de multa por criterio de inclusión (2024); frecuencia semanal en consulta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D03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Deudores: identificación, categoría, actividad, activos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Alimenta la clasificación de la cartera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D02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Último envío septiembre 2026, Circular N° 2.376 (verificar)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D51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 por confirmar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E23 · T01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confirmar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referencia pública encontrada; T01 incorporado en 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Sernac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Mensual, primeros 5 días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21.236 y Circular del SERNAC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Incumplimientos de portabilidad de la institución inicial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P14 · P16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las Colocaciones · Colocaciones por actividad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con balance; contabilidad avanzada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P37 · P38 · P39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Tarjetas de débito y cajeros · Tarjetas de crédito · Uso como medio de pago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Rutina estadística; candidatos a automatización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P15 · P22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Productos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Último envío septiembre 2026, Circular N° 2.376 (verificar)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2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 y fuentes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63040"/>
            <a:ext cx="110916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de reportes, frecuencias, dotación y riesgos: entregados por el responsable del área (septiembre 2026).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Historia, métricas de portabilidad, eficacia de envíos y descripciones de cargo 2020 y 2024: presentaciones internas de la unidad.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Precedentes: CMF, 4 de julio de 2024, Resoluciones Exentas N° 5.664 (Banco Santander Chile, UF 2.500) y N° 5.666 (Coopeuch, UF 1.000) por el Estado de Deudores, RAN 18-5 y art. 14 LGB; CMF, 30 de enero de 2026, Resolución N° 1.183 (Banco Santander-Chile, UF 2.500) por el archivo R13, RAN 21-13. Identificación de archivos: Ley 21.680 y NCG N° 540 del Registro de Deuda Consolidada; Manual del Sistema de Información (Sistema de Productos y de Deudores); Circular N° 2.376; Circular Interpretativa del SERNAC sobre portabilidad.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complejidad × criticidad, escala de grados, perfiles y competencias: documento de respaldo del área, con rúbrica declarada; no es una valoración formal de cargos.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de mercado: cualitativa; las cifras se presentarán con el diagnóstico de la fase 1.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presentación no contiene montos ni datos individuales de remuneración por decisión del área. Verificar cada cita en su fuente antes del comité.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2026-09-06T18:01:04Z</dcterms:created>
  <dcterms:modified xsi:type="dcterms:W3CDTF">2026-09-06T18:01:04Z</dcterms:modified>
</cp:coreProperties>
</file>
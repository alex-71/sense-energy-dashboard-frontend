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tiempo (%)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94.4</c:v>
                </c:pt>
                <c:pt idx="1">
                  <c:v>95.7</c:v>
                </c:pt>
                <c:pt idx="2">
                  <c:v>95.8</c:v>
                </c:pt>
                <c:pt idx="3">
                  <c:v>97.2</c:v>
                </c:pt>
                <c:pt idx="4">
                  <c:v>98.6</c:v>
                </c:pt>
                <c:pt idx="5">
                  <c:v>97.1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 95 %</c:v>
                </c:pt>
              </c:strCache>
            </c:strRef>
          </c:tx>
          <c:spPr>
            <a:solidFill>
              <a:srgbClr val="B85C55"/>
            </a:solidFill>
            <a:ln w="19050" cap="flat">
              <a:solidFill>
                <a:srgbClr val="B85C55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C55"/>
              </a:solidFill>
              <a:ln w="9525" cap="flat">
                <a:solidFill>
                  <a:srgbClr val="B85C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tiempo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11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atraso</c:v>
                </c:pt>
              </c:strCache>
            </c:strRef>
          </c:tx>
          <c:spPr>
            <a:solidFill>
              <a:srgbClr val="C9B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Observadas</c:v>
                </c:pt>
              </c:strCache>
            </c:strRef>
          </c:tx>
          <c:spPr>
            <a:solidFill>
              <a:srgbClr val="B85C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Diario</c:v>
                  </c:pt>
                  <c:pt idx="1">
                    <c:v>Semanal</c:v>
                  </c:pt>
                  <c:pt idx="2">
                    <c:v>Mensual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 y dejarla en el aire un segundo. Todo lo que sigue la responde: el equipo pasó de operar portabilidad a responder por 18 reportes normativos, y la escala con que se valora sigue siendo la de 2020. Hoy no se pide dinero; se propone evaluar el perfil de los cargos.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propuesta como oportunidad de mejora, no como exigencia. Si preguntan "¿por qué ahora?": porque desde abril de 2026 el equipo envía reportes diarios del Registro de Deuda Consolidada, cuyo incumplimiento puede bloquear el acceso del banco a información de la CMF, y porque el rediseño de 2024 dejó pendiente el pesaje de remuneración.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brecha entre 4.608 solicitudes proyectadas y 18 reales explica el origen de la escala: se diseñó para un proceso operativo. El equipo no se disolvió; absorbió la reportería normativa con la misma dotación. Ese es el hecho central de toda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no es la cantidad de códigos sino la frecuencia: dos reportes diarios y tres semanales significan que el equipo no tiene días sin obligación regulatoria. Objeción: "ya está automatizado". Respuesta: la ejecución puede estarlo; la validación, la respuesta a observaciones y cada cambio normativo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Mensaje: el problema no es la cantidad de reportes sino que hoy se administran como si fueran equivalentes. A la izquierda, la realidad: todos los puntos del mismo color porque todos los cargos tienen el mismo grado. A la derecha, lo que la función exige: cuatro reportes en el cuadrante superior derecho concentran la exposición legal y necesitan un responsable con grado de jefatura y controles formales. Objeción: "los puntajes son subjetivos". Respuesta: por eso la fase 1 de la propuesta es una evaluación formal con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de bloqueo convierte un problema de cumplimiento en un problema de negocio: afecta la originación. Los antecedentes muestran que la CMF sanciona el criterio de inclusión y la exactitud, no solo el atraso, y que un error de parametrización persistió 21 meses en un banco sistémico sin que sus controles lo detectaran. Enmarcarlos como precedentes del sistema, no como comparación con competidores.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síntesis. Arriba: qué era el cargo y qué es hoy, con seis indicadores. Centro: el salto de nivel por competencia (gris 2020, azul hoy) y, a la derecha, todo lo que se sumó al cargo sin retirar lo anterior. Abajo: la escala es lo único que no cambió. Objeción probable: "el perfil ya se actualizó en 2024"; respuesta: se actualizaron funciones y requisitos y el pesaje de remuneración quedó pendiente en ese mismo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cualitativo. Si piden cifras: existen rangos públicos para cargos contables genéricos (Robert Half, Buk) que el área puede compartir por separado; el diagnóstico los validará con una encuesta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de izquierda a derecha: hoy, seis cargos con el mismo grado administran reportes de complejidad muy distinta. La alternativa recomendada sube un grado a todo el equipo y dos a los seniors que asumen los bloques críticos y la validación: reconoce a todos y además alinea grado con complejidad y abre una ruta de desarrollo. La alternativa 2 reconoce a todos pero mantiene la estructura plana. La lámina siguiente compara ambas criterio a criterio.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Recomendar explícitamente la alternativa 1: sube un grado a todo el equipo y dos a los seniors que asumen los bloques críticos y la validación; alinea grado con complejidad, crea la cadena de confiabilidad y abre una ruta de desarrollo. La alternativa 2 queda como opción simple y equitativa si el comité prefiere no diferenciar roles en esta etapa. Objeción probable: criterios de selección de los seniors; respuesta: se definen con Personas en la evaluación, con la rúbrica de competencias.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contraste sin dramatizar: son probabilidades, no certezas. Si preguntan por la probabilidad de rotación, usar el dato interno de rotación y vacantes si existe; si no, la escasez del perfil en el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propuesta en positivo y pedir la fecha. Si el comité no está listo para decidir, acordar al menos el patrocinador y la fecha de retorno.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consulta. Nombres verificados en fuentes públicas de la CMF y del SERNAC donde se indica; confirmar R05, E23, T01 y D51 con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consulta. El video resume la propuesta de automatización asistida; el detalle de opciones de acceso y gobierno está en el documento de arquitectura del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82880" cy="182880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80160"/>
            <a:ext cx="182880" cy="182880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280160"/>
            <a:ext cx="182880" cy="182880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¿Estamos valorando el trabajo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hoy hacemos, o el que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hacíamos en 2020?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para evaluar el perfil de los cargos del equipo que genera, valida y envía los reportes normativos a la CMF y al SERNAC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cualitativa para el comité directivo · Septiembre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proponemos hoy son tres pasos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E8F0E8"/>
          </a:solidFill>
          <a:ln w="9525">
            <a:solidFill>
              <a:srgbClr val="E8F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9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perfil de los cargos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Personas y la gerencia evalúen el perfil de los cargos del equipo de reportes normativos, con la rúbrica de alcance de este documento, como una oportunidad de mejora.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E8F0E8"/>
          </a:solidFill>
          <a:ln w="9525">
            <a:solidFill>
              <a:srgbClr val="E8F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9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la función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que generar, validar y enviar reportes normativos es una función de control del banco, no una tarea operativa de un producto.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E8F0E8"/>
          </a:solidFill>
          <a:ln w="9525">
            <a:solidFill>
              <a:srgbClr val="E8F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94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9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 y fecha de retorno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204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gerente patrocinador y una fecha para volver al comité con la escala propuesta y su costo, una vez completada la evaluación.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pasos, una misma idea: valorar los cargos por el trabajo que hoy realizan.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creada para una demanda que no llegó, y que se reinventó en cumplimiento</a:t>
            </a:r>
            <a:endParaRPr lang="en-US" sz="2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4.608 → 18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portabilidad al año: proyectadas al crear la unidad en 2020 frente a las gestionadas en 2024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745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18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normativos bajo responsabilidad del equipo, de 2022 a 2026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745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6</a:t>
            </a:r>
            <a:endParaRPr lang="en-US" sz="38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la unidad durante todo el período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11091672" cy="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261104"/>
            <a:ext cx="164592" cy="164592"/>
          </a:xfrm>
          <a:prstGeom prst="ellipse">
            <a:avLst/>
          </a:prstGeom>
          <a:solidFill>
            <a:srgbClr val="9AA3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4526280"/>
            <a:ext cx="198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846320"/>
            <a:ext cx="19897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la unidad para la Ley 21.236 de Portabilidad. Requisito del cargo: Excel básico.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66974" y="4261104"/>
            <a:ext cx="164592" cy="164592"/>
          </a:xfrm>
          <a:prstGeom prst="ellipse">
            <a:avLst/>
          </a:prstGeom>
          <a:solidFill>
            <a:srgbClr val="9AA3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766974" y="4526280"/>
            <a:ext cx="198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2766974" y="4846320"/>
            <a:ext cx="19897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el Estado de Deudores (D10) y, desde octubre, 13 informes a la CMF.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985309" y="4261104"/>
            <a:ext cx="164592" cy="164592"/>
          </a:xfrm>
          <a:prstGeom prst="ellipse">
            <a:avLst/>
          </a:prstGeom>
          <a:solidFill>
            <a:srgbClr val="9AA3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985309" y="4526280"/>
            <a:ext cx="198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985309" y="4846320"/>
            <a:ext cx="19897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suman deudores y productos; eficacia promedio de envío 98,78 %.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7203643" y="4261104"/>
            <a:ext cx="164592" cy="164592"/>
          </a:xfrm>
          <a:prstGeom prst="ellipse">
            <a:avLst/>
          </a:prstGeom>
          <a:solidFill>
            <a:srgbClr val="9AA3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203643" y="4526280"/>
            <a:ext cx="198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7203643" y="4846320"/>
            <a:ext cx="19897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del cargo: SQL, Power BI, Databricks. Pendiente: pesaje de remuneración.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421978" y="4261104"/>
            <a:ext cx="164592" cy="164592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21978" y="4526280"/>
            <a:ext cx="19897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9421978" y="4846320"/>
            <a:ext cx="19897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RDC01, RDC02 y RDC40, los reportes diarios y semanales del Registro de Deuda Consolidada (REDEC).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presentaciones internas "Historia y métricas Portabilidad", "Evolución de la responsabilidad" y "Diseño organizacional Compliance 2024".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PERÍMETRO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salen de este equipo 18 reportes hacia la CMF y el SERNAC, y no hay día sin obligación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margen de atraso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9659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196596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RDC40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versión semanal de D10 y RDC01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27889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27889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242816" y="27889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RDC01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días hábiles del mes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10128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RDC01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42816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Sernac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08192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6118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310128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P14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242816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P15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175504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P16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08192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97764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P37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4343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P38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310128" y="4343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P39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983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trimestral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49834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6ECF5"/>
          </a:solidFill>
          <a:ln>
            <a:solidFill>
              <a:srgbClr val="E6EC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51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D51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40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al regulador por mes, según el indicador interno de la unidad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3337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98,78 %</a:t>
            </a:r>
            <a:endParaRPr lang="en-US" sz="4000" dirty="0"/>
          </a:p>
        </p:txBody>
      </p:sp>
      <p:sp>
        <p:nvSpPr>
          <p:cNvPr id="40" name="Text 38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eficacia promedio de envío, con margen permitido de 3 %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669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perímetro cambia sin aviso: la Circular N° 2.376 elimina D02, P15 y P22 con último envío en septiembre de 2026, mientras el Registro de Deuda Consolidada entra en régimen diario.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y frecuencias: responsable del área. Eficacia y volumen: indicador interno. Circular N° 2.376: comunicado público de la CMF, verificar vigencia.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los 18 reportes se asignan sin diferenciar complejidad ni competencias; la función exige roles distintos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560320" cy="150876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377440"/>
            <a:ext cx="5120640" cy="3017520"/>
          </a:xfrm>
          <a:prstGeom prst="rect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377440"/>
            <a:ext cx="0" cy="301752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86200"/>
            <a:ext cx="51206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4223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→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 rot="16200000">
            <a:off x="502920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 →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1993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un mismo grado para los 18 reportes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092854" y="251825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RDC40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246474" y="2729484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RDC01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785616" y="288036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RDC02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068726" y="2548433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R05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478378" y="3061411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966314" y="3212287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556662" y="3031236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D02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403043" y="339333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Sernac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888029" y="3514039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D51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068726" y="3604565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E23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249424" y="3664915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454250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P37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2812694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P38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171139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P39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942186" y="432877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P14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300630" y="432877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839773" y="4630522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P15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2198218" y="4630522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9AA3AE"/>
          </a:solidFill>
          <a:ln>
            <a:solidFill>
              <a:srgbClr val="9AA3A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26880" y="2377440"/>
            <a:ext cx="2560320" cy="150876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2377440"/>
            <a:ext cx="5120640" cy="3017520"/>
          </a:xfrm>
          <a:prstGeom prst="rect">
            <a:avLst/>
          </a:prstGeom>
          <a:ln w="12700">
            <a:solidFill>
              <a:srgbClr val="E3E6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2377440"/>
            <a:ext cx="0" cy="301752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886200"/>
            <a:ext cx="512064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542239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→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 rot="16200000">
            <a:off x="6309360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 →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1993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cada reporte exige: responsable según su peso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899294" y="251825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34517D"/>
          </a:solidFill>
          <a:ln>
            <a:solidFill>
              <a:srgbClr val="3451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RDC40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052914" y="2729484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RDC01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9592056" y="288036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RDC02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8875166" y="2548433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R05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9284818" y="3061411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D10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772754" y="3212287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D03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363102" y="3031236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D02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209483" y="339333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Sernac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9694469" y="3514039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4A6FA5"/>
          </a:solidFill>
          <a:ln>
            <a:solidFill>
              <a:srgbClr val="4A6F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D51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8875166" y="3604565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E23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055864" y="3664915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260690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P37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619134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P38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977579" y="4027018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P39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748626" y="432877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P14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8107070" y="4328770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P16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646213" y="4630522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P15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004658" y="4630522"/>
            <a:ext cx="493776" cy="201168"/>
          </a:xfrm>
          <a:prstGeom prst="roundRect">
            <a:avLst>
              <a:gd name="adj" fmla="val 22727"/>
            </a:avLst>
          </a:prstGeom>
          <a:solidFill>
            <a:srgbClr val="A9BEDC"/>
          </a:solidFill>
          <a:ln>
            <a:solidFill>
              <a:srgbClr val="A9BE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66560" y="5760720"/>
            <a:ext cx="128016" cy="128016"/>
          </a:xfrm>
          <a:prstGeom prst="ellipse">
            <a:avLst/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4944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Subgerente (G4)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503920" y="5760720"/>
            <a:ext cx="128016" cy="128016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8680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(G3)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241280" y="5760720"/>
            <a:ext cx="128016" cy="128016"/>
          </a:xfrm>
          <a:prstGeom prst="ellipse">
            <a:avLst/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42416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Senior (G2)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960120" y="5715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especialistas con el mismo grado se reparten reportes cuya complejidad y consecuencia son muy distintas, aunque sus competencias para administrarlos también lo son. Diferenciar roles alinea la responsabilidad con la capacidad y con el riesgo.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 con la rúbrica del documento de respaldo; contenido de R05, E23, T01 y D51 por confirmar en el MSI vigente.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en juego ya tiene precedentes en la banca chilena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6E7E5"/>
          </a:solidFill>
          <a:ln w="9525">
            <a:solidFill>
              <a:srgbClr val="F6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01168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acceso a información de la CMF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8600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incumplimiento en RDC01, RDC02 o RDC40 puede derivar en la suspensión del acceso al Registro de Deuda Consolidada hasta por un año. Sin esa información, el banco no puede evaluar deuda consolidada al originar créditos.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6E7E5"/>
          </a:solidFill>
          <a:ln w="9525">
            <a:solidFill>
              <a:srgbClr val="F6E7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03580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por contenido, no solo por atraso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31012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CMF sanciona el criterio de inclusión y la exactitud de lo informado: quien decide qué deudor entra en D10 o qué cifra va en un archivo toma una decisión con consecuencia legal.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059936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reputacional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334256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información de deudores o en el reporte al SERNAC afecta a clientes concretos y a la relación con el regulador.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992624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08406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operativa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5358384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personas sostienen 18 reportes con envíos diarios y semanales; el conocimiento normativo y técnico es escaso.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92024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INVESTIGADOS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08776" y="2286000"/>
            <a:ext cx="0" cy="3703320"/>
          </a:xfrm>
          <a:prstGeom prst="line">
            <a:avLst/>
          </a:prstGeom>
          <a:noFill/>
          <a:ln w="19050">
            <a:solidFill>
              <a:srgbClr val="E3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258568"/>
            <a:ext cx="164592" cy="164592"/>
          </a:xfrm>
          <a:prstGeom prst="ellipse">
            <a:avLst/>
          </a:prstGeom>
          <a:solidFill>
            <a:srgbClr val="B85C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1945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Jul. 2024  </a:t>
            </a:r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Deudores (D10)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468880"/>
            <a:ext cx="5193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Santander Chile, UF 2.500 (Res. Ex. N° 5.664) y Coopeuch, UF 1.000 (Res. Ex. N° 5.666), por incluir a personas que no cumplían las condiciones. Infringidos: números 2 y 5 del Capítulo 18-5 de la RAN y artículo 14 de la LGB.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282696"/>
            <a:ext cx="164592" cy="164592"/>
          </a:xfrm>
          <a:prstGeom prst="ellipse">
            <a:avLst/>
          </a:prstGeom>
          <a:solidFill>
            <a:srgbClr val="B85C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2186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2024  </a:t>
            </a:r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tardío de información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493008"/>
            <a:ext cx="5193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bancos sancionados con UF 450 y UF 250 por remitir fuera de plazo información requerida por la Fiscalía.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995928"/>
            <a:ext cx="164592" cy="164592"/>
          </a:xfrm>
          <a:prstGeom prst="ellipse">
            <a:avLst/>
          </a:prstGeom>
          <a:solidFill>
            <a:srgbClr val="B85C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393192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Ene. 2026  </a:t>
            </a:r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R13, riesgo de mercado del libro de banca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06240"/>
            <a:ext cx="5193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Santander-Chile, UF 2.500 (Res. N° 1.183 del 30 de enero). Entre abril de 2023 y enero de 2025 informó una sensibilidad Delta EVE inferior a la exigida; la CMF citó debilidades en los controles. Infringido: Capítulo 21-13 de la RAN.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5020056"/>
            <a:ext cx="164592" cy="164592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95604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abr. 2026  </a:t>
            </a:r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Deuda Consolidada, Ley 21.680 y NCG N° 540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230368"/>
            <a:ext cx="5193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Infracciones leves hasta 100 UTM; graves (datos inexactos) hasta 5.000 UTM; gravísimas (datos falsos) hasta 10.000 UTM; suspensión del acceso al Registro hasta por un año.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comunicados de la CMF del 4 de julio de 2024, 26 de noviembre de 2024 y 30 de enero de 2026; Ley 21.680 y NCG N° 540. Enlaces en el anexo de fuentes.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64592"/>
            <a:ext cx="11457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trabajo cambió, la escala no: de Portabilidad de Entrada a Especialista Normativo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EDF0F3"/>
          </a:solidFill>
          <a:ln w="12700">
            <a:solidFill>
              <a:srgbClr val="EDF0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713232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 · PUNTO DE PARTIDA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Portabilidad de Entrada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flujo de entrada de portabilidad, cuadrar pagos y resolver discrepancias con la institución inicial vía Redbanc. Requisito excluyente: Excel básico. Demanda real: 1,5 solicitudes al mes.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302752" y="64008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39912" y="713232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HOY · PERFIL NORMATIVO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 en Información Normativa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Modelar, monitorear y validar la información que responde a la CMF y al SERNAC; desarrollar controles y alertas; sostener la posición del banco ante observaciones del regulador y en mesas normativas.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023360" y="640080"/>
            <a:ext cx="414223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713232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713232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excluyentes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713232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713232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935736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935736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del cargo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935736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935736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1158240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158240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exigidas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1158240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1158240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1380744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380744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Interlocutores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1380744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1380744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1603248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1603248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normativos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1603248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1603248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1825752"/>
            <a:ext cx="9601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825752"/>
            <a:ext cx="19019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de un error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1825752"/>
            <a:ext cx="18288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1825752"/>
            <a:ext cx="91440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2313432"/>
            <a:ext cx="109728" cy="109728"/>
          </a:xfrm>
          <a:prstGeom prst="ellipse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en 2020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54480" y="2313432"/>
            <a:ext cx="109728" cy="10972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00784" y="2267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Exigido hoy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256032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Intermedio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2267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772400" y="2267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971800" y="2523744"/>
            <a:ext cx="0" cy="3046781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2523744"/>
            <a:ext cx="0" cy="3046781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2523744"/>
            <a:ext cx="0" cy="3046781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2523744"/>
            <a:ext cx="0" cy="3046781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5760" y="2523744"/>
            <a:ext cx="18288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365760" y="2702966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71800" y="2792578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81144" y="2792578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471416" y="2737714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80376" y="2737714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72400" y="2702966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365760" y="2882189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71800" y="2971800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26664" y="2971800"/>
            <a:ext cx="455371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916936" y="2916936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0376" y="2916936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72400" y="2882189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365760" y="3061411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PySpark y Databricks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71800" y="3151022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26664" y="3151022"/>
            <a:ext cx="455371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916936" y="3096158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0376" y="3096158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72400" y="3061411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365760" y="3240634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971800" y="3330245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026664" y="3330245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2916936" y="3275381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25896" y="3275381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72400" y="3240634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365760" y="3419856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CMF: MSI, RAN 18-5, Ley 21.680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971800" y="3509467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26664" y="3509467"/>
            <a:ext cx="455371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2916936" y="3454603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80376" y="3454603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72400" y="3419856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365760" y="3599078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 bancaria (Compendio)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971800" y="3688690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81144" y="3688690"/>
            <a:ext cx="144475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4471416" y="3633826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25896" y="3633826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772400" y="3599078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365760" y="3778301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y trazabilidad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971800" y="3867912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81144" y="3867912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4471416" y="3813048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80376" y="3813048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772400" y="3778301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365760" y="3957523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datos, Ley 19.628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971800" y="4047134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26664" y="4047134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916936" y="3992270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25896" y="3992270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772400" y="3957523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365760" y="4136746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procesos (BPMN)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971800" y="4226357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26664" y="4226357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2916936" y="4171493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25896" y="4171493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772400" y="4136746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365760" y="4315968"/>
            <a:ext cx="18288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365760" y="4495190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reguladores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971800" y="4584802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26664" y="4584802"/>
            <a:ext cx="455371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2916936" y="4529938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580376" y="4529938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772400" y="4495190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365760" y="4674413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normativo y criterio para escalar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971800" y="4764024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581144" y="4764024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471416" y="4709160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4709160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772400" y="4674413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13" name="Text 111"/>
          <p:cNvSpPr txBox="1"/>
          <p:nvPr/>
        </p:nvSpPr>
        <p:spPr>
          <a:xfrm>
            <a:off x="365760" y="4853635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transversal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971800" y="4943246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581144" y="4943246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4471416" y="4888382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580376" y="4888382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7772400" y="4853635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365760" y="5032858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causa raíz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971800" y="5122469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81144" y="5122469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4471416" y="5067605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80376" y="5067605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772400" y="5032858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25" name="Text 123"/>
          <p:cNvSpPr txBox="1"/>
          <p:nvPr/>
        </p:nvSpPr>
        <p:spPr>
          <a:xfrm>
            <a:off x="365760" y="5212080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calendario bajo plazo diario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971800" y="5301691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81144" y="5301691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4471416" y="5246827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580376" y="5246827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7772400" y="5212080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31" name="Text 129"/>
          <p:cNvSpPr txBox="1"/>
          <p:nvPr/>
        </p:nvSpPr>
        <p:spPr>
          <a:xfrm>
            <a:off x="365760" y="5391302"/>
            <a:ext cx="25146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y mesas de trabajo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2971800" y="5480914"/>
            <a:ext cx="46634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026664" y="5480914"/>
            <a:ext cx="2999232" cy="0"/>
          </a:xfrm>
          <a:prstGeom prst="line">
            <a:avLst/>
          </a:prstGeom>
          <a:noFill/>
          <a:ln w="22225">
            <a:solidFill>
              <a:srgbClr val="4A6FA5">
                <a:alpha val="65000"/>
              </a:srgbClr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2916936" y="5426050"/>
            <a:ext cx="109728" cy="109728"/>
          </a:xfrm>
          <a:prstGeom prst="ellipse">
            <a:avLst/>
          </a:prstGeom>
          <a:solidFill>
            <a:srgbClr val="9AA3A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025896" y="5426050"/>
            <a:ext cx="109728" cy="109728"/>
          </a:xfrm>
          <a:prstGeom prst="ellipse">
            <a:avLst/>
          </a:prstGeom>
          <a:solidFill>
            <a:srgbClr val="4A6FA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7772400" y="5391302"/>
            <a:ext cx="457200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8412480" y="2240280"/>
            <a:ext cx="3410712" cy="3375965"/>
          </a:xfrm>
          <a:prstGeom prst="roundRect">
            <a:avLst>
              <a:gd name="adj" fmla="val 162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522208" y="232257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SUMÓ AL CARGO</a:t>
            </a:r>
            <a:endParaRPr lang="en-US" sz="750" dirty="0"/>
          </a:p>
        </p:txBody>
      </p:sp>
      <p:sp>
        <p:nvSpPr>
          <p:cNvPr id="139" name="Text 137"/>
          <p:cNvSpPr txBox="1"/>
          <p:nvPr/>
        </p:nvSpPr>
        <p:spPr>
          <a:xfrm>
            <a:off x="8522208" y="2542032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 </a:t>
            </a:r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8522208" y="2734056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577072" y="2734056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normativos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8522208" y="2935224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8577072" y="2935224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e interpretación de datos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8522208" y="3136392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8577072" y="3136392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8522208" y="3337560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8577072" y="3337560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alertas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8522208" y="3538728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8577072" y="3538728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 procesos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8522208" y="3739896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8577072" y="3739896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reactivas y proactivas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8522208" y="3941064"/>
            <a:ext cx="3191256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8577072" y="3941064"/>
            <a:ext cx="3081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trabajo normativo (Governance)</a:t>
            </a:r>
            <a:endParaRPr lang="en-US" sz="750" dirty="0"/>
          </a:p>
        </p:txBody>
      </p:sp>
      <p:sp>
        <p:nvSpPr>
          <p:cNvPr id="154" name="Text 152"/>
          <p:cNvSpPr txBox="1"/>
          <p:nvPr/>
        </p:nvSpPr>
        <p:spPr>
          <a:xfrm>
            <a:off x="8522208" y="41788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 </a:t>
            </a:r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8522208" y="4370832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8577072" y="437083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326880" y="4370832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9381744" y="437083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0131552" y="4370832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0186416" y="437083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10936224" y="4370832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0991088" y="437083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522208" y="4572000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8577072" y="4572000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9326880" y="4572000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9381744" y="4572000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0131552" y="4572000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0186416" y="4572000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936224" y="4572000"/>
            <a:ext cx="777240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991088" y="4572000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CMF</a:t>
            </a:r>
            <a:endParaRPr lang="en-US" sz="700" dirty="0"/>
          </a:p>
        </p:txBody>
      </p:sp>
      <p:sp>
        <p:nvSpPr>
          <p:cNvPr id="171" name="Text 169"/>
          <p:cNvSpPr txBox="1"/>
          <p:nvPr/>
        </p:nvSpPr>
        <p:spPr>
          <a:xfrm>
            <a:off x="8522208" y="48097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Interlocutores  </a:t>
            </a:r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8522208" y="5001768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8577072" y="5001768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 Financieros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9595104" y="5001768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9649968" y="5001768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Regulatorios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10668000" y="5001768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10722864" y="5001768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8522208" y="5202936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8577072" y="5202936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9595104" y="5202936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649968" y="5202936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10668000" y="5202936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10722864" y="5202936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Comercial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8522208" y="5404104"/>
            <a:ext cx="1045464" cy="173736"/>
          </a:xfrm>
          <a:prstGeom prst="roundRect">
            <a:avLst>
              <a:gd name="adj" fmla="val 21053"/>
            </a:avLst>
          </a:prstGeom>
          <a:solidFill>
            <a:srgbClr val="E6ECF5"/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8577072" y="5404104"/>
            <a:ext cx="935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inst. financieras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365760" y="5698541"/>
            <a:ext cx="11457432" cy="457200"/>
          </a:xfrm>
          <a:prstGeom prst="roundRect">
            <a:avLst>
              <a:gd name="adj" fmla="val 12000"/>
            </a:avLst>
          </a:prstGeom>
          <a:solidFill>
            <a:srgbClr val="F6F1D9"/>
          </a:solidFill>
          <a:ln w="9525">
            <a:solidFill>
              <a:srgbClr val="E3D9A6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530352" y="5698541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único que no cambió: la escala de cargos y remuneraciones. </a:t>
            </a:r>
            <a:pPr indent="0" marL="0">
              <a:buNone/>
            </a:pPr>
            <a:r>
              <a:rPr lang="en-US" sz="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15 competencias subieron en promedio 2,2 niveles; las funciones pasaron de 4 a 11, los interlocutores de 3 a 10 y la consecuencia de un error de operativa a legal (Ley 21.680). El rediseño de 2024 dejó pendiente el pesaje de remuneración respecto a responsabilidad.</a:t>
            </a:r>
            <a:endParaRPr lang="en-US" sz="900" dirty="0"/>
          </a:p>
        </p:txBody>
      </p:sp>
      <p:sp>
        <p:nvSpPr>
          <p:cNvPr id="188" name="Text 186"/>
          <p:cNvSpPr txBox="1"/>
          <p:nvPr/>
        </p:nvSpPr>
        <p:spPr>
          <a:xfrm>
            <a:off x="365760" y="6192317"/>
            <a:ext cx="11457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descripción de cargo 2020, rediseño 2024 y lámina de funciones, competencias e interacción (Diseño Organizacional Compliance 2024); perfil actual deducido del análisis de los 18 reportes normativos. Niveles 2020 literales de la descripción; niveles actuales son exigencia de la función, no evaluación de personas.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sistémicos ya tratan esta función como especializada; competimos por el mismo talento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especializada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432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reportería regulatoria opera en unidades dedicadas, separadas de los procesos de producto, con dueños por bloque de archivos del MSI y un responsable del proceso completo.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diferenciada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432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Analista, analista senior, jefe y subgerente son grados distintos, con separación entre quien prepara y quien firma. Las referencias públicas ubican jefaturas y especialistas contables en bandas distintas a los analistas operativos.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disputadas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7432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plataformas de datos como Databricks y conocimiento del MSI, del REDEC y de Basilea III son el perfil que buscan Riesgo, Contabilidad, las áreas de datos y los pares. Un reemplazo se paga en meses de curva de aprendizaje.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en expansión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74320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Deuda Consolidada, cierre de Basilea III y cambios permanentes al MSI aumentan la carga en todos los bancos, lo que intensifica la competencia por el mismo talento.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cualitativa a propósito: las cifras de mercado llegan al comité con el diagnóstico de la fase 1, validadas con una fuente formal de remuneraciones.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afirmación está respaldada en el documento "Respaldo de afirmaciones de mercado", entregado junto con esta presentación, con sus fuentes públicas.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CAMINOS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equipo plano con un mismo grado a roles alineados con el trabajo: dos caminos, uno recomendado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514344" cy="4069080"/>
          </a:xfrm>
          <a:prstGeom prst="roundRect">
            <a:avLst>
              <a:gd name="adj" fmla="val 1561"/>
            </a:avLst>
          </a:prstGeom>
          <a:solidFill>
            <a:srgbClr val="F6F7F9"/>
          </a:solidFill>
          <a:ln w="9525">
            <a:solidFill>
              <a:srgbClr val="F6F7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965960"/>
            <a:ext cx="314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20012" y="237744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0E4E9"/>
          </a:solidFill>
          <a:ln w="12700">
            <a:solidFill>
              <a:srgbClr val="E0E4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56588" y="2377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Subgerente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5812" y="2706624"/>
            <a:ext cx="0" cy="201168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0012" y="2907792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0E4E9"/>
          </a:solidFill>
          <a:ln w="12700">
            <a:solidFill>
              <a:srgbClr val="E0E4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56588" y="29077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Normativo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05812" y="3236976"/>
            <a:ext cx="0" cy="25603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8492" y="3493008"/>
            <a:ext cx="2834640" cy="0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8492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60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036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455420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9388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35964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022348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6316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02892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89276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3244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69820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56204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0172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36748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723132" y="3493008"/>
            <a:ext cx="0" cy="164592"/>
          </a:xfrm>
          <a:prstGeom prst="line">
            <a:avLst/>
          </a:prstGeom>
          <a:noFill/>
          <a:ln w="15875">
            <a:solidFill>
              <a:srgbClr val="E3E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67100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03676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34340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Especialistas Normativos, un mismo grado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07492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18 reportes se reparten sin diferenciar complejidad ni competencias; la validación y la firma recaen en el Jefe.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37304" y="1874520"/>
            <a:ext cx="3514344" cy="406908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9525">
            <a:solidFill>
              <a:srgbClr val="6A9B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25768" y="1993392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5768" y="19933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4520184" y="1965960"/>
            <a:ext cx="1959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1 · DOS CARGOS SENIOR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08676" y="237744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45252" y="2377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Subgerente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94476" y="2706624"/>
            <a:ext cx="0" cy="201168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08676" y="2907792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45252" y="29077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Normativo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94476" y="3236976"/>
            <a:ext cx="0" cy="1014984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77156" y="3611880"/>
            <a:ext cx="2834640" cy="0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02836" y="338328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39412" y="33832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Especialista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500116" y="3273552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00116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51676" y="338328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34517D"/>
          </a:solidFill>
          <a:ln w="12700">
            <a:solidFill>
              <a:srgbClr val="34517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8252" y="33832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(datos y automatización)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648956" y="3273552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648956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87468" y="4251960"/>
            <a:ext cx="2414016" cy="0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87468" y="4251960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30852" y="441655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67428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92140" y="4251960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35524" y="441655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372100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496812" y="4251960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40196" y="441655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176772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301484" y="4251960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4868" y="441655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81444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79492" y="4297680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79492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84164" y="4297680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884164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688836" y="4297680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688836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493508" y="4297680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493508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4337304" y="4828032"/>
            <a:ext cx="3514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seniors, grado +2; cuatro plenos, grado +1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4520184" y="507492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 sube un grado; los dos seniors suben dos, asumen los bloques críticos (Deudores y REDEC; datos, automatización y controles) y la validación. Los plenos ejecutan bajo control dual con ruta a senior.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125968" y="1874520"/>
            <a:ext cx="3514344" cy="406908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308848" y="1965960"/>
            <a:ext cx="314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2 · UN GRADO MÁS PARA TODOS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197340" y="237744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233916" y="23774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Subgerente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883140" y="2706624"/>
            <a:ext cx="0" cy="201168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97340" y="2907792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E6ECF5"/>
          </a:solidFill>
          <a:ln w="12700">
            <a:solidFill>
              <a:srgbClr val="E6ECF5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233916" y="29077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5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Normativo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883140" y="3236976"/>
            <a:ext cx="0" cy="25603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65820" y="3493008"/>
            <a:ext cx="2834640" cy="0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65820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09788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46364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032748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6716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813292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599676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43644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380220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166604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10572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947148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10733532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477500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514076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11300460" y="3493008"/>
            <a:ext cx="0" cy="164592"/>
          </a:xfrm>
          <a:prstGeom prst="line">
            <a:avLst/>
          </a:prstGeom>
          <a:noFill/>
          <a:ln w="15875">
            <a:solidFill>
              <a:srgbClr val="A9BED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044428" y="3657600"/>
            <a:ext cx="512064" cy="566928"/>
          </a:xfrm>
          <a:prstGeom prst="roundRect">
            <a:avLst>
              <a:gd name="adj" fmla="val 8929"/>
            </a:avLst>
          </a:prstGeom>
          <a:solidFill>
            <a:srgbClr val="A9BEDC"/>
          </a:solidFill>
          <a:ln w="12700">
            <a:solidFill>
              <a:srgbClr val="A9BED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081004" y="36576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cialista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8538972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538972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9105900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1059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9672828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672828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0239756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23975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0806684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0806684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1373612" y="3529584"/>
            <a:ext cx="274320" cy="27432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1373612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8125968" y="4343400"/>
            <a:ext cx="3514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Especialistas Normativos, grado +1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8308848" y="5074920"/>
            <a:ext cx="3148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las competencias adquiridas en todo el equipo y conserva el respaldo mutuo entre pares. La estructura sigue siendo plana.</a:t>
            </a:r>
            <a:endParaRPr lang="en-US" sz="950" dirty="0"/>
          </a:p>
        </p:txBody>
      </p:sp>
      <p:sp>
        <p:nvSpPr>
          <p:cNvPr id="121" name="Text 119"/>
          <p:cNvSpPr txBox="1"/>
          <p:nvPr/>
        </p:nvSpPr>
        <p:spPr>
          <a:xfrm>
            <a:off x="548640" y="6400800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común: quien prepara nunca firma; ningún reporte crítico depende de una sola persona. Grados a validar con Personas en la evaluación.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ALTERNATIVAS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alternativas, criterio a criterio; ambas sin monto en esta etapa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514600" y="1581912"/>
            <a:ext cx="4434840" cy="4114800"/>
          </a:xfrm>
          <a:prstGeom prst="roundRect">
            <a:avLst>
              <a:gd name="adj" fmla="val 1333"/>
            </a:avLst>
          </a:prstGeom>
          <a:solidFill>
            <a:srgbClr val="E8F0E8"/>
          </a:solidFill>
          <a:ln w="9525">
            <a:solidFill>
              <a:srgbClr val="6A9B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645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1 · DOS CARGOS SENIOR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55064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16550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6459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2 · UN GRADO MÁS PARA TODOS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1965960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1965960"/>
            <a:ext cx="4553712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19659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reconoce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competencias adquiridas y, además, la diferencia de complejidad entre reportes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965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competencias adquiridas con el cambio de tareas, en los seis cargos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423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2423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alinea para todo el equipo, con mayor reconocimiento en los dos cargos que asumen los bloques críticos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423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alinea con las expectativas del mercado para todo el equipo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1965960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2880360"/>
            <a:ext cx="4553712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2880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2880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Diferenciada: dos seniors dos niveles más y cuatro plenos un nivel más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880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Plana: seis especialistas con el mismo grado, un nivel más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337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firma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3337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seniors validan sus bloques; el Jefe firma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37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mantienen en el Jefe Normativo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1965960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794760"/>
            <a:ext cx="4553712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37947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3794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respaldan los bloques críticos; plenos se respaldan entre sí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794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Mutuo entre pares: sin dependencia de una sola persona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42519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interna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65176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criterios de selección claros y comunicados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251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para todos, sin criterios de selección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1965960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4709160"/>
            <a:ext cx="4553712" cy="457200"/>
          </a:xfrm>
          <a:prstGeom prst="rect">
            <a:avLst/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47091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ajuste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651760" y="4709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cargos: dos suben dos grados y cuatro suben uno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709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cargos, un grado cada uno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51663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desarrollo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651760" y="5166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paso de pleno a senior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5166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abre expectativa de crecimiento posterior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recomendamos la alternativa 1: reconoce a todo el equipo y, además, alinea grado con complejidad, crea una cadena de validación y abre una ruta de desarrollo. Ambas se costean con el resultado de la evaluación del perfil de los cargos.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ESCENARIOS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a doce meses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40680" cy="3931920"/>
          </a:xfrm>
          <a:prstGeom prst="roundRect">
            <a:avLst>
              <a:gd name="adj" fmla="val 1395"/>
            </a:avLst>
          </a:prstGeom>
          <a:solidFill>
            <a:srgbClr val="F6E7E5"/>
          </a:solidFill>
          <a:ln w="9525">
            <a:solidFill>
              <a:srgbClr val="F6E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65960"/>
            <a:ext cx="5440680" cy="3931920"/>
          </a:xfrm>
          <a:prstGeom prst="roundRect">
            <a:avLst>
              <a:gd name="adj" fmla="val 1395"/>
            </a:avLst>
          </a:prstGeom>
          <a:solidFill>
            <a:srgbClr val="E8F0E8"/>
          </a:solidFill>
          <a:ln w="9525">
            <a:solidFill>
              <a:srgbClr val="E8F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actúa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sigue anclada al proceso de portabilidad de 2020.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una o dos personas clave hacia áreas o bancos que ya reconocen la función; meses de curva de aprendizaje por reemplazo.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diarios del RDC sostenidos con respaldos improvisados; mayor probabilidad de atraso o error, con riesgo de bloqueo de acceso.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 sobre remuneración se da igual, pero en modo reactivo, después de un incidente.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aprueba la evaluación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517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 valorados según lo que hoy hacen: producir, controlar y responder ante el regulador.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y roles alineados con la complejidad de los reportes, según la alternativa que se elija.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del conocimiento normativo y técnico acumulado desde 2022; capacidad para absorber los cambios del MSI.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decide sobre cifras validadas, en la fecha acordada, y no bajo presión.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82880" cy="182880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280160"/>
            <a:ext cx="182880" cy="182880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280160"/>
            <a:ext cx="182880" cy="182880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proponemos hoy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3464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perfil de los cargos </a:t>
            </a:r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 de reportes normativos junto con Personas, como oportunidad de mejora.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 función </a:t>
            </a:r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crítica de cumplimiento dentro de la estructura.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Patrocinar el proceso </a:t>
            </a:r>
            <a:pPr indent="0" marL="0">
              <a:buNone/>
            </a:pPr>
            <a:r>
              <a:rPr lang="en-US" sz="16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gerente y una fecha de retorno al comité, sugerida a 60 días.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montos ni dotación adicional en esta etapa. Las cifras llegan con la evaluación.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los 18 reportes del equipo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3657600"/>
                <a:gridCol w="42336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RDC40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Deuda Consolidada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diaria de solicitudes de deudores (derechos ARCC); responsable sugerido G4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Riesgo, codificación previa a Basilea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por confirmar en el MSI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 y 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Deuda Consolidada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positiva y negativa de los deudores; responsable G3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 (viernes)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Deuda Consolidada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Rectificaciones trazables al RDC01; responsable G3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 y 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Deudores, art. 14 LGB y RAN 18-5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Precedente de multa por criterio de inclusión (2024); frecuencia semanal en consulta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Deudores: identificación, categoría, actividad, activos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 la clasificación de la cartera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septiembre 2026, Circular N° 2.376 (verificar)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por confirmar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E23 · T01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confirmar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referencia pública encontrada; T01 incorporado en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Sernac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Mensual, primeros 5 días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21.236 y Circular del SERNAC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Incumplimientos de portabilidad de la institución inicial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P14 · P16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las Colocaciones · Colocaciones por actividad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Conciliación con balance; contabilidad avanzada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P37 · P38 · P39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débito y cajeros · Tarjetas de crédito · Uso como medio de pago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Rutina estadística; candidatos a automatización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P15 · P22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Productos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septiembre 2026, Circular N° 2.376 (verificar)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y fuentes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304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reportes, frecuencias, dotación y riesgos: entregados por el responsable del área (septiembre 2026).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Historia, métricas de portabilidad, eficacia de envíos y descripciones de cargo 2020 y 2024: presentaciones internas de la unidad.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Precedentes: CMF, 4 de julio de 2024, Resoluciones Exentas N° 5.664 (Banco Santander Chile, UF 2.500) y N° 5.666 (Coopeuch, UF 1.000) por el Estado de Deudores, RAN 18-5 y art. 14 LGB; CMF, 30 de enero de 2026, Resolución N° 1.183 (Banco Santander-Chile, UF 2.500) por el archivo R13, RAN 21-13. Identificación de archivos: Ley 21.680 y NCG N° 540 del Registro de Deuda Consolidada; Manual del Sistema de Información (Sistema de Productos y de Deudores); Circular N° 2.376; Circular Interpretativa del SERNAC sobre portabilidad.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complejidad × criticidad, escala de grados, perfiles y competencias: documento de respaldo del área, con rúbrica declarada; no es una valoración formal de cargos.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mercado: cualitativa; las cifras se presentarán con el diagnóstico de la fase 1.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no contiene montos ni datos individuales de remuneración por decisión del área. Verificar cada cita en su fuente antes del comité.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3 · PROCESO ASISTIDO DE CONTROL DE ENTREGA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controlaría la entrega: del portal al dashboard en cuatro pasos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4241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en 3D de 44 segundos. Una persona abre la sesión en CMF Supervisa; el asistente lee los módulos, Gemini convierte capturas en datos y el comité recibe el dashboard.</a:t>
            </a:r>
            <a:endParaRPr lang="en-US" sz="11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508760"/>
            <a:ext cx="7589520" cy="42691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832729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 en modo presentación · 1280×720 · 24 fps · sin audio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412480" y="1536192"/>
            <a:ext cx="310896" cy="31089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15087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asistida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178308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ingresa RUT y Clave Única; el asistente trabaja dentro de su sesión. La credencial nunca se almacena.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12480" y="2450592"/>
            <a:ext cx="310896" cy="31089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24231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interés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269748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Envíos, acuses y observaciones de los 18 reportes. Gemini Flash confirma la pantalla antes de capturar.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412480" y="3364992"/>
            <a:ext cx="310896" cy="31089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33375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361188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y PDF pasan al proyecto del banco; Gemini los convierte en filas con esquema fijo.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412480" y="4279392"/>
            <a:ext cx="310896" cy="310896"/>
          </a:xfrm>
          <a:prstGeom prst="ellipse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2519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gerencial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823960" y="4526280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SQL asignan el estado; Gemini redacta el resumen y responde preguntas. Revisión a cuatro ojos.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412480" y="5212080"/>
            <a:ext cx="3227832" cy="868680"/>
          </a:xfrm>
          <a:prstGeom prst="roundRect">
            <a:avLst>
              <a:gd name="adj" fmla="val 6316"/>
            </a:avLst>
          </a:prstGeom>
          <a:solidFill>
            <a:srgbClr val="E8F0E8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49640" y="5285232"/>
            <a:ext cx="2953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reglas. </a:t>
            </a:r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es de la persona · solo lectura en el portal · Gemini explica, la regla decide. Computer Use y Gemini en Looker: confirmar disponibilidad.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4 · REPORTE GERENCIAL · RESUMEN DEL PERIODO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reporte gerencial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de reportes normativos · Septiembre 2026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sobre la meta interna; la atención del mes está en los acuses pendientes de conciliar y en los atrasos de los envíos diarios.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esperadas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18 reportes del perímetro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99893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64485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Entregadas a tiempo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64485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97,1 %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2964485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-1,4 pp vs. Ago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51146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5738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atraso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15738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E5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215738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máximo 2,0 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02398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66990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Observadas por la CMF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66990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66990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reenviadas y cerradas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53651" y="1481328"/>
            <a:ext cx="2086661" cy="1143000"/>
          </a:xfrm>
          <a:prstGeom prst="roundRect">
            <a:avLst>
              <a:gd name="adj" fmla="val 6400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18243" y="159105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conciliar con CMF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718243" y="1810512"/>
            <a:ext cx="1812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5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718243" y="2286000"/>
            <a:ext cx="1812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acuses conciliados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2852928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2944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a tiempo por mes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31638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sobre las esperadas · línea: meta interna de 95 % (supuesto de ejemplo)</a:t>
            </a:r>
            <a:endParaRPr lang="en-US" sz="8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40080" y="3355848"/>
          <a:ext cx="55778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6492240" y="2852928"/>
            <a:ext cx="51480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75120" y="2944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por periodicidad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31638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de septiembre: a tiempo, con atraso y observadas</a:t>
            </a:r>
            <a:endParaRPr lang="en-US" sz="85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6583680" y="3355848"/>
          <a:ext cx="496519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548640" y="532180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8F0E8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31520" y="539496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7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borrador que redactaría Gemini a partir de las tablas conciliadas · se emite tras revisión a cuatro ojos</a:t>
            </a:r>
            <a:endParaRPr lang="en-US" sz="800" dirty="0"/>
          </a:p>
        </p:txBody>
      </p:sp>
      <p:sp>
        <p:nvSpPr>
          <p:cNvPr id="43" name="Text 39"/>
          <p:cNvSpPr txBox="1"/>
          <p:nvPr/>
        </p:nvSpPr>
        <p:spPr>
          <a:xfrm>
            <a:off x="731520" y="5596128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septiembre se esperaban 70 entregas de los reportes normativos del perímetro; 97,1 % llegaron a tiempo. Hubo 2 envíos con atraso, ambos cerrados el mismo día, y 1 archivo observado por la CMF que fue reenviado. Queda 1 entrega sin acuse visible en el portal, pendiente de conciliar. Los archivos en retiro según la Circular 2.376 cumplieron su último envío previsto.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4 · REPORTE GERENCIAL · DETALLE POR REPORTE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reporte gerencial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por reporte y periodicidad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reporte. Estado asignado por regla: a tiempo, con atraso, observado, sin conciliar, próximo vencimiento.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868680"/>
                <a:gridCol w="914400"/>
                <a:gridCol w="731520"/>
                <a:gridCol w="685800"/>
                <a:gridCol w="594360"/>
                <a:gridCol w="640080"/>
                <a:gridCol w="594360"/>
                <a:gridCol w="960120"/>
                <a:gridCol w="2267712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R05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· codificación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RDC40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diaria de solicitudes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5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indisponible el 15-09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deudores (semanal)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D10M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deudores (mensual)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REDEC (semanal)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RDC01M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REDEC (mensual)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Rectificaciones 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E5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atraso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Reproceso de origen el 04-09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E23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de operaciones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· detalle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de totales con D10; reenviado 12-09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Tasas de interés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colocaciones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P16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Colocaciones por actividad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P22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(en retiro)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envío previsto sept.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débito y cajeros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conciliar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CMF no visible en el portal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P38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 de crédito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medios de pago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SERNAC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SERNAC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SERNAC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tiempo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 regulador; misma lógica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 · trimestral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A9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Vence en octubre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" cy="100584"/>
          </a:xfrm>
          <a:prstGeom prst="rect">
            <a:avLst/>
          </a:prstGeom>
          <a:solidFill>
            <a:srgbClr val="6A9B6E"/>
          </a:solidFill>
          <a:ln w="12700">
            <a:solidFill>
              <a:srgbClr val="6A9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" y="384048"/>
            <a:ext cx="100584" cy="100584"/>
          </a:xfrm>
          <a:prstGeom prst="rect">
            <a:avLst/>
          </a:prstGeom>
          <a:solidFill>
            <a:srgbClr val="B85C55"/>
          </a:solidFill>
          <a:ln w="12700">
            <a:solidFill>
              <a:srgbClr val="B85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384048"/>
            <a:ext cx="100584" cy="1005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84048"/>
            <a:ext cx="100584" cy="100584"/>
          </a:xfrm>
          <a:prstGeom prst="rect">
            <a:avLst/>
          </a:prstGeom>
          <a:solidFill>
            <a:srgbClr val="C9B458"/>
          </a:solidFill>
          <a:ln w="12700">
            <a:solidFill>
              <a:srgbClr val="C9B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4 · REPORTE GERENCIAL · INCIDENTES Y CONCILIACIÓN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262872" y="301752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F6F1D9"/>
          </a:solidFill>
          <a:ln w="9525">
            <a:solidFill>
              <a:srgbClr val="C9B45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262872" y="301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E5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FICTICIOS · EJEMPLO ILUSTRATIVO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reporte gerencial · Septiembre 2026 · ningún valor corresponde a entregas reales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Incidentes del periodo y lectura del reporte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424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Atrasos, observaciones y acuses pendientes registrados por la conciliación; reglas con que se asigna cada estado.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280160"/>
                <a:gridCol w="6976872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B64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2026-09-04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RDC02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Rectificación semanal enviada 2 h después del corte por reproceso en origen.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2026-09-10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 de la CMF por diferencia de totales con D10; archivo reenviado el 12-09.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2026-09-15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RDC40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diario 1,5 h tarde por indisponibilidad de la interfaz de origen.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7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2026-10-01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B2F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P37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Acuse de la CMF no visible en el portal; conciliación pendiente con Supervisa.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5C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E5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asigna el estado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tiempo: envío registrado antes del plazo y acuse recibido.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atraso: envío después del plazo del calendario normativo.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Observado: la CMF devolvió una observación; se reenvía y se cierra.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conciliar: envío interno sin acuse visible en CMF Supervisa.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sin vencimiento en el periodo.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06824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9704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Conciliación con el portal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489704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de 70 entregas con acuse conciliado.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portal en sesión asistida: la persona inicia sesión, el asistente solo lee.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primaria: motor de envíos, buzón de acuses y PDF del área.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65008" y="33375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6F7F9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7888" y="34655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 de este ejemplo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47888" y="3794760"/>
            <a:ext cx="3209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interna de 95 % a tiempo: supuesto para ilustrar la lectura.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D02, P15 y P22 en retiro según Circular 2.376 (último envío sept. 2026).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SERNAC se entrega a otro regulador; D51 vence en octubre.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valores son ficticios.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2026-10-12T19:45:53Z</dcterms:created>
  <dcterms:modified xsi:type="dcterms:W3CDTF">2026-10-12T19:45:53Z</dcterms:modified>
</cp:coreProperties>
</file>
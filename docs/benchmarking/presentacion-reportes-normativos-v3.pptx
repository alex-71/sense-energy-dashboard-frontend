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 y dejarla en el aire un segundo. Todo lo que sigue la responde: el equipo pasó de operar portabilidad a responder por 18 reportes normativos, y la escala con que se valora sigue siendo la de 2020. Hoy no se pide dinero; se propone evaluar el perfil de los 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propuesta como oportunidad de mejora, no como exigencia. Si preguntan "¿por qué ahora?": porque desde abril de 2026 el equipo envía reportes diarios del Registro de Deuda Consolidada, cuyo incumplimiento puede bloquear el acceso del banco a información de la CMF, y porque el rediseño de 2024 dejó pendiente el pesaje de remuneración.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brecha entre 4.608 solicitudes proyectadas y 18 reales explica el origen de la escala: se diseñó para un proceso operativo. El equipo no se disolvió; absorbió la reportería normativa con la misma dotación. Ese es el hecho central de toda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no es la cantidad de códigos sino la frecuencia: dos reportes diarios y tres semanales significan que el equipo no tiene días sin obligación regulatoria. Objeción: "ya está automatizado". Respuesta: la ejecución puede estarlo; la validación, la respuesta a observaciones y cada cambio normativo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el problema no es la cantidad de reportes sino que hoy se administran como si fueran equivalentes. A la izquierda, la realidad: todos los puntos del mismo color porque todos los cargos tienen el mismo grado. A la derecha, lo que la función exige: cuatro reportes en el cuadrante superior derecho concentran la exposición legal y necesitan un responsable con grado de jefatura y controles formales. Objeción: "los puntajes son subjetivos". Respuesta: por eso la fase 1 de la propuesta es una evaluación formal con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de bloqueo convierte un problema de cumplimiento en un problema de negocio: afecta la originación. Los antecedentes muestran que la CMF sanciona el criterio de inclusión y la exactitud, no solo el atraso, y que un error de parametrización persistió 21 meses en un banco sistémico sin que sus controles lo detectaran. Enmarcarlos como precedentes del sistema, no como comparación con competidores.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cualitativo. Si piden cifras: existen rangos públicos para cargos contables genéricos (Robert Half, Buk) que el área puede compartir por separado; el diagnóstico los validará con una encuesta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de izquierda a derecha: hoy, seis cargos con el mismo grado administran reportes de complejidad muy distinta. Los dos caminos parten del mismo diagnóstico. El primero reconoce a todo el equipo con un grado más y mantiene la estructura; el segundo también sube un grado a todos y diferencia roles con dos seniors dos grados más, creando una ruta de desarrollo. La lámina siguiente los compara criterio a criterio.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las alternativas con neutralidad y dejar que el comité pregunte. La 1 es simple y equitativa y reconoce a todo el equipo; la 2 también sube un grado a todos y, además, diferencia responsabilidades con dos seniors dos grados más, alineando grado con complejidad y creando una ruta de desarrollo, a cambio de definir criterios de selección transparentes.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contraste sin dramatizar: son probabilidades, no certezas. Si preguntan por la probabilidad de rotación, usar el dato interno de rotación y vacantes si existe; si no, la escasez del perfil en el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propuesta en positivo y pedir la fecha. Si el comité no está listo para decidir, acordar al menos el patrocinador y la fecha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 Nombres verificados en fuentes públicas de la CMF y del SERNAC donde se indica; confirmar R05, E23, T01 y D51 con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¿Estamos valorando el trabajo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hoy hacemos, o el que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hacíamos en 2020?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7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para evaluar el perfil de los cargos del equipo que genera, valida y envía los reportes normativos a la CMF y al SERNAC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cualitativa para el comité directivo · Septiembre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proponemos hoy son tres pasos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perfil de los cargos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Personas y la gerencia evalúen el perfil de los cargos del equipo de reportes normativos, con la rúbrica de alcance de este documento, como una oportunidad de mejora.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la función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que generar, validar y enviar reportes normativos es una función de control del banco, no una tarea operativa de un producto.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Patrocinio y fecha de retorno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gerente patrocinador y una fecha para volver al comité con la escala propuesta y su costo, una vez completada la evaluación.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una misma idea: valorar los cargos por el trabajo que hoy realizan.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creada para una demanda que no llegó, y que se reinventó en cumplimiento</a:t>
            </a:r>
            <a:endParaRPr lang="en-US" sz="2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4.608 → 18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portabilidad al año: proyectadas al crear la unidad en 2020 frente a las gestionadas en 2024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745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9768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18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 bajo responsabilidad del equipo, de 2022 a 2026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8745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4672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→ 6</a:t>
            </a:r>
            <a:endParaRPr lang="en-US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la unidad durante todo el período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343400"/>
            <a:ext cx="11091672" cy="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48640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unidad para la Ley 21.236 de Portabilidad. Requisito del cargo: Excel básico.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66974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766974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2766974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el Estado de Deudores (D10) y, desde octubre, 13 informes a la CMF.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985309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85309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985309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suman deudores y productos; eficacia promedio de envío 98,78 %.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203643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03643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7203643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del cargo: SQL, Power BI, Databricks. Pendiente: pesaje de remuneración.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421978" y="4261104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421978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9421978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 RDC01, RDC02 y RDC40, los reportes diarios y semanales del Registro de Deuda Consolidada (REDEC).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presentaciones internas "Historia y métricas Portabilidad", "Evolución de la responsabilidad" y "Diseño organizacional Compliance 2024".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salen de este equipo 18 reportes hacia la CMF y el SERNAC, y no hay día sin obligación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65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atraso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versión semanal de D10 y RDC01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310128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242816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días hábiles del mes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10128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42816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310128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242816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108192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310128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983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trimestral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9834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412480" y="1920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al regulador por mes, según el indicador interno de la unidad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98,78 %</a:t>
            </a:r>
            <a:endParaRPr lang="en-US" sz="40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eficacia promedio de envío, con margen permitido de 3 %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692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 cambia sin aviso: la Circular N° 2.376 elimina D02, P15 y P22 con último envío en septiembre de 2026, mientras el Registro de Deuda Consolidada entra en régimen diario.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y frecuencias: responsable del área. Eficacia y volumen: indicador interno. Circular N° 2.376: comunicado público de la CMF, verificar vigencia.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los 18 reportes se asignan sin diferenciar complejidad ni competencias; la función exige roles distintos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2044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 rot="16200000">
            <a:off x="50292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mismo grado para los 18 reportes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285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24647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06872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7837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6631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55666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40304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88802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06872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24942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45425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281269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17113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94218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30063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183977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219821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2688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 rot="16200000">
            <a:off x="630936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cada reporte exige: responsable según su peso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9929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34517D"/>
          </a:solidFill>
          <a:ln>
            <a:solidFill>
              <a:srgbClr val="34517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05291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959205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87516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928481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77275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36310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20948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969446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87516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805586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826069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861913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97757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74862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810707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64621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800465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766560" y="5760720"/>
            <a:ext cx="128016" cy="128016"/>
          </a:xfrm>
          <a:prstGeom prst="ellipse">
            <a:avLst/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4944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 (G4)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03920" y="5760720"/>
            <a:ext cx="128016" cy="128016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8680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(G3)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241280" y="5760720"/>
            <a:ext cx="128016" cy="128016"/>
          </a:xfrm>
          <a:prstGeom prst="ellipse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42416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Senior (G2)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960120" y="5715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con el mismo grado se reparten reportes cuya complejidad y consecuencia son muy distintas, aunque sus competencias para administrarlos también lo son. Diferenciar roles alinea la responsabilidad con la capacidad y con el riesgo.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Puntajes con la rúbrica del documento de respaldo; contenido de R05, E23, T01 y D51 por confirmar en el MSI vigente.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está en juego ya tiene precedentes en la banca chilena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01168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acceso a información de la CMF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2860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incumplimiento en RDC01, RDC02 o RDC40 puede derivar en la suspensión del acceso al Registro de Deuda Consolidada hasta por un año. Sin esa información, el banco no puede evaluar deuda consolidada al originar créditos.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03580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Multas por contenido, no solo por atraso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31012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CMF sanciona el criterio de inclusión y la exactitud de lo informado: quien decide qué deudor entra en D10 o qué cifra va en un archivo toma una decisión con consecuencia legal.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59936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reputacional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34256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información de deudores o en el reporte al SERNAC afecta a clientes concretos y a la relación con el regulador.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992624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5084064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operativa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358384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sostienen 18 reportes con envíos diarios y semanales; el conocimiento normativo y técnico es escaso.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20240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INVESTIGADOS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08776" y="2286000"/>
            <a:ext cx="0" cy="370332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225856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2194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Deudores (D10)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46888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 Chile, UF 2.500 (Res. Ex. N° 5.664) y Coopeuch, UF 1.000 (Res. Ex. N° 5.666), por incluir a personas que no cumplían las condiciones. Infringidos: números 2 y 5 del Capítulo 18-5 de la RAN y artículo 14 de la LGB.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3282696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1868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tardío de información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493008"/>
            <a:ext cx="5193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bancos sancionados con UF 450 y UF 250 por remitir fuera de plazo información requerida por la Fiscalía.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99592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319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R13, riesgo de mercado del libro de banca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20624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Santander-Chile, UF 2.500 (Res. N° 1.183 del 30 de enero). Entre abril de 2023 y enero de 2025 informó una sensibilidad Delta EVE inferior a la exigida; la CMF citó debilidades en los controles. Infringido: Capítulo 21-13 de la RAN.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5020056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95604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abr.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Ley 21.680 y NCG N° 540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5230368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Infracciones leves hasta 100 UTM; graves (datos inexactos) hasta 5.000 UTM; gravísimas (datos falsos) hasta 10.000 UTM; suspensión del acceso al Registro hasta por un año.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comunicados de la CMF del 4 de julio de 2024, 26 de noviembre de 2024 y 30 de enero de 2026; Ley 21.680 y NCG N° 540. Enlaces en el anexo de fuentes.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Portabilidad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Portabilidad de Entrada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3405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3405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3522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3522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36392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36392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337560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337560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538728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538728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73989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73989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394106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394106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17880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326880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1744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131552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86416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936224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1088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522208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326880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1744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131552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86416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936224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1088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0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80974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9595104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649968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0668000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722864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522208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577072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9595104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649968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10668000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10722864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Comercial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8522208" y="5404104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577072" y="5404104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inst. financieras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6F1D9"/>
          </a:solidFill>
          <a:ln w="9525">
            <a:solidFill>
              <a:srgbClr val="E3D9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5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10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bancos sistémicos ya tratan esta función como especializada; competimos por el mismo talento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especializada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reportería regulatoria opera en unidades dedicadas, separadas de los procesos de producto, con dueños por bloque de archivos del MSI y un responsable del proceso completo.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diferenciada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Analista, analista senior, jefe y subgerente son grados distintos, con separación entre quien prepara y quien firma. Las referencias públicas ubican jefaturas y especialistas contables en bandas distintas a los analistas operativos.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disputadas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plataformas de datos como Databricks y conocimiento del MSI, del REDEC y de Basilea III son el perfil que buscan Riesgo, Contabilidad, las áreas de datos y los pares. Un reemplazo se paga en meses de curva de aprendizaje.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 en expansión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cierre de Basilea III y cambios permanentes al MSI aumentan la carga en todos los bancos, lo que intensifica la competencia por el mismo talento.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cualitativa a propósito: las cifras de mercado llegan al comité con el diagnóstico de la fase 1, validadas con una fuente formal de remuneraciones.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afirmación está respaldada en el documento "Respaldo de afirmaciones de mercado", entregado junto con esta presentación, con sus fuentes públicas.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CAMINOS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equipo plano con un mismo grado a dos caminos para alinear la estructura con el trabajo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20012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0E4E9"/>
          </a:solidFill>
          <a:ln w="12700">
            <a:solidFill>
              <a:srgbClr val="E0E4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56588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305812" y="2706624"/>
            <a:ext cx="0" cy="201168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20012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0E4E9"/>
          </a:solidFill>
          <a:ln w="12700">
            <a:solidFill>
              <a:srgbClr val="E0E4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56588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05812" y="3236976"/>
            <a:ext cx="0" cy="25603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8492" y="3493008"/>
            <a:ext cx="28346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8492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6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03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455420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9938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3596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022348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66316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02892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589276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324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6982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156204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0172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36748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723132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6710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0367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34340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Normativos, un mismo grado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18 reportes se reparten sin diferenciar complejidad ni competencias; la validación y la firma recaen en el Jefe.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37304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20184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 · UN GRADO MÁS PARA TODOS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08676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45252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094476" y="2706624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08676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45252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94476" y="3236976"/>
            <a:ext cx="0" cy="25603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77156" y="3493008"/>
            <a:ext cx="283464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7156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2112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5770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244084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988052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24628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811012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5498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59155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6377940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2190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15848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944868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688836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725412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511796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5576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29234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750308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75030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7236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317236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5884164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884164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451092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451092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018020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0180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7584948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58494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4337304" y="434340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Normativos, grado +1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520184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las competencias adquiridas en todo el equipo y conserva el respaldo mutuo entre pares. La estructura sigue siendo plana.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8125968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308848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 · DOS CARGOS SENIOR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197340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233916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883140" y="2706624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97340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233916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9883140" y="3236976"/>
            <a:ext cx="0" cy="1014984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65820" y="3611880"/>
            <a:ext cx="283464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191500" y="3383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28076" y="33832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9288780" y="3273552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288780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10340340" y="3383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376916" y="33832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TI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(datos y automatización)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1437620" y="3273552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1437620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676132" y="4251960"/>
            <a:ext cx="2414016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676132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319516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356092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9480804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24188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9160764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10285476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928860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965436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11090148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733532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10770108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8868156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8868156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9672828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672828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0477500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0477500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282172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1282172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8125968" y="4828032"/>
            <a:ext cx="3514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seniors, grado +2; cuatro plenos, grado +1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8308848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equipo sube un grado; los dos seniors suben dos, asumen los bloques críticos (Deudores y REDEC; datos, automatización y controles) y la validación. Los plenos ejecutan bajo control dual con ruta a senior.</a:t>
            </a:r>
            <a:endParaRPr lang="en-US" sz="950" dirty="0"/>
          </a:p>
        </p:txBody>
      </p:sp>
      <p:sp>
        <p:nvSpPr>
          <p:cNvPr id="119" name="Text 117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común: quien prepara nunca firma; ningún reporte crítico depende de una sola persona. Grados a validar con Personas en la evaluación.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ALTERNATIVAS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alternativas, criterio a criterio; ambas sin monto en esta etapa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645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 · UN GRADO MÁS PARA TODOS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1645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 · DOS CARGOS SENIOR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1965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reconoce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965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competencias adquiridas con el cambio de tareas, en los seis cargos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965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competencias adquiridas y, además, la diferencia de complejidad entre reportes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423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2423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alinea con las expectativas del mercado para todo el equipo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423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alinea para todo el equipo, con mayor reconocimiento en los dos cargos que asumen los bloques críticos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880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2880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Plana: seis especialistas con el mismo grado, un nivel más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880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Diferenciada: dos seniors dos niveles más y cuatro plenos un nivel más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3337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firma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33375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mantienen en el Jefe Normativo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3375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seniors validan sus bloques; el Jefe firma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37947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3794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Mutuo entre pares: sin dependencia de una sola persona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794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respaldan los bloques críticos; plenos se respaldan entre sí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251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interna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651760" y="4251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para todos, sin criterios de selección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4251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criterios de selección claros y comunicados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7091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" y="4709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651760" y="4709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cargos, un grado cada uno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709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cargos: dos suben dos grados y cuatro suben uno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5166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166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abre expectativa de crecimiento posterior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166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el paso de pleno a senior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parten del mismo diagnóstico y son compatibles con una implementación por etapas. El costo de cada una se presenta al comité con el resultado de la evaluación del perfil de los cargos.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ESCENARIOS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a doce meses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actúa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sigue anclada al proceso de portabilidad de 2020.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una o dos personas clave hacia áreas o bancos que ya reconocen la función; meses de curva de aprendizaje por reemplazo.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diarios del RDC sostenidos con respaldos improvisados; mayor probabilidad de atraso o error, con riesgo de bloqueo de acceso.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conversación sobre remuneración se da igual, pero en modo reactivo, después de un incidente.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aprueba la evaluación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 valorados según lo que hoy hacen: producir, controlar y responder ante el regulador.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y roles alineados con la complejidad de los reportes, según la alternativa que se elija.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del conocimiento normativo y técnico acumulado desde 2022; capacidad para absorber los cambios del MSI.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comité decide sobre cifras validadas, en la fecha acordada, y no bajo presión.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hoy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3464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perfil de los cargos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equipo de reportes normativos junto con Personas, como oportunidad de mejora.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función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crítica de cumplimiento dentro de la estructura.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Patrocinar el proceso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gerente y una fecha de retorno al comité, sugerida a 60 días.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montos ni dotación adicional en esta etapa. Las cifras llegan con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1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los 18 reportes del equipo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657600"/>
                <a:gridCol w="42336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RDC40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diaria de solicitudes de deudores (derechos ARCC); responsable sugerido G4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Riesgo, codificación previa a Basilea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 en el MSI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positiva y negativa de los deudores;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(viernes)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Rectificaciones trazables al RDC01;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Deudores, art. 14 LGB y RAN 18-5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Precedente de multa por criterio de inclusión (2024); frecuencia semanal en consulta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Deudores: identificación, categoría, actividad, activos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 la clasificación de la cartera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E23 · T01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referencia pública encontrada; T01 incorporado en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Sernac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primeros 5 días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21.236 y Circular del SERNAC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Incumplimientos de portabilidad de la institución inicial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P14 · P16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las Colocaciones · Colocaciones por actividad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con balance; contabilidad avanzada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P37 · P38 · P39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Tarjetas de débito y cajeros · Tarjetas de crédito · Uso como medio de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Rutina estadística; candidatos a automatización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P15 · P22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Productos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2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y fuentes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10916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reportes, frecuencias, dotación y riesgos: entregados por el responsable del área (septiembre 2026).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métricas de portabilidad, eficacia de envíos y descripciones de cargo 2020 y 2024: presentaciones internas de la unidad.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Precedentes: CMF, 4 de julio de 2024, Resoluciones Exentas N° 5.664 (Banco Santander Chile, UF 2.500) y N° 5.666 (Coopeuch, UF 1.000) por el Estado de Deudores, RAN 18-5 y art. 14 LGB; CMF, 30 de enero de 2026, Resolución N° 1.183 (Banco Santander-Chile, UF 2.500) por el archivo R13, RAN 21-13. Identificación de archivos: Ley 21.680 y NCG N° 540 del Registro de Deuda Consolidada; Manual del Sistema de Información (Sistema de Productos y de Deudores); Circular N° 2.376; Circular Interpretativa del SERNAC sobre portabilidad.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complejidad × criticidad, escala de grados, perfiles y competencias: documento de respaldo del área, con rúbrica declarada; no es una valoración formal de cargos.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mercado: cualitativa; las cifras se presentarán con el diagnóstico de la fase 1.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presentación no contiene montos ni datos individuales de remuneración por decisión del área. Verificar cada cita en su fuente antes del comité.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2026-09-06T18:09:38Z</dcterms:created>
  <dcterms:modified xsi:type="dcterms:W3CDTF">2026-09-06T18:09:38Z</dcterms:modified>
</cp:coreProperties>
</file>
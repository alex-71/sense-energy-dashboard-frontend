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tiempo (%)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94.4</c:v>
                </c:pt>
                <c:pt idx="1">
                  <c:v>95.7</c:v>
                </c:pt>
                <c:pt idx="2">
                  <c:v>95.8</c:v>
                </c:pt>
                <c:pt idx="3">
                  <c:v>97.2</c:v>
                </c:pt>
                <c:pt idx="4">
                  <c:v>98.6</c:v>
                </c:pt>
                <c:pt idx="5">
                  <c:v>97.1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Meta 95 %</c:v>
                </c:pt>
              </c:strCache>
            </c:strRef>
          </c:tx>
          <c:spPr>
            <a:solidFill>
              <a:srgbClr val="B85C55"/>
            </a:solidFill>
            <a:ln w="19050" cap="flat">
              <a:solidFill>
                <a:srgbClr val="B85C55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C55"/>
              </a:solidFill>
              <a:ln w="9525" cap="flat">
                <a:solidFill>
                  <a:srgbClr val="B85C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tiempo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Diario</c:v>
                  </c:pt>
                  <c:pt idx="1">
                    <c:v>Semanal</c:v>
                  </c:pt>
                  <c:pt idx="2">
                    <c:v>Mensual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11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atraso</c:v>
                </c:pt>
              </c:strCache>
            </c:strRef>
          </c:tx>
          <c:spPr>
            <a:solidFill>
              <a:srgbClr val="C9B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Diario</c:v>
                  </c:pt>
                  <c:pt idx="1">
                    <c:v>Semanal</c:v>
                  </c:pt>
                  <c:pt idx="2">
                    <c:v>Mensual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Observadas</c:v>
                </c:pt>
              </c:strCache>
            </c:strRef>
          </c:tx>
          <c:spPr>
            <a:solidFill>
              <a:srgbClr val="B85C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Diario</c:v>
                  </c:pt>
                  <c:pt idx="1">
                    <c:v>Semanal</c:v>
                  </c:pt>
                  <c:pt idx="2">
                    <c:v>Mensual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GERENCIAL · RESUMEN DEL PERIODO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262872" y="30175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F6F1D9"/>
          </a:solidFill>
          <a:ln w="9525">
            <a:solidFill>
              <a:srgbClr val="C9B45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262872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· EJEMPLO ILUSTRATIVO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gerencial de entrega de reportes normativos · Septiembre 2026 · ningún valor corresponde a entregas reales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de reportes normativos · Septiembre 2026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42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sobre la meta interna; la atención del mes está en los acuses pendientes de conciliar y en los atrasos de los envíos diarios.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esperadas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18 reportes del perímetro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99893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64485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Entregadas a tiempo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64485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5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97,1 %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2964485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-1,4 pp vs. Ago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51146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5738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atraso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215738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E5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215738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máximo 2,0 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02398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66990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Observadas por la CMF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66990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5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66990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reenviadas y cerradas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553651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18243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conciliar con CMF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718243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5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718243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acuses conciliados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2852928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2944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a tiempo por mes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31638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sobre las esperadas · línea: meta interna de 95 % (supuesto de ejemplo)</a:t>
            </a:r>
            <a:endParaRPr lang="en-US" sz="8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40080" y="3355848"/>
          <a:ext cx="55778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6492240" y="2852928"/>
            <a:ext cx="51480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75120" y="2944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por periodicidad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675120" y="31638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de septiembre: a tiempo, con atraso y observadas</a:t>
            </a:r>
            <a:endParaRPr lang="en-US" sz="85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6583680" y="3355848"/>
          <a:ext cx="496519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Shape 37"/>
          <p:cNvSpPr/>
          <p:nvPr/>
        </p:nvSpPr>
        <p:spPr>
          <a:xfrm>
            <a:off x="548640" y="532180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8F0E8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31520" y="539496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borrador que redactaría Gemini a partir de las tablas conciliadas · se emite tras revisión a cuatro ojos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731520" y="5596128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septiembre se esperaban 70 entregas de los reportes normativos del perímetro; 97,1 % llegaron a tiempo. Hubo 2 envíos con atraso, ambos cerrados el mismo día, y 1 archivo observado por la CMF que fue reenviado. Queda 1 entrega sin acuse visible en el portal, pendiente de conciliar. Los archivos en retiro según la Circular 2.376 cumplieron su último envío previsto.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GERENCIAL · DETALLE POR REPORTE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262872" y="30175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F6F1D9"/>
          </a:solidFill>
          <a:ln w="9525">
            <a:solidFill>
              <a:srgbClr val="C9B45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262872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· EJEMPLO ILUSTRATIVO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gerencial de entrega de reportes normativos · Septiembre 2026 · ningún valor corresponde a entregas reales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por reporte y periodicidad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42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reporte. Estado asignado por regla: a tiempo, con atraso, observado, sin conciliar, próximo vencimiento.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868680"/>
                <a:gridCol w="914400"/>
                <a:gridCol w="731520"/>
                <a:gridCol w="685800"/>
                <a:gridCol w="594360"/>
                <a:gridCol w="640080"/>
                <a:gridCol w="594360"/>
                <a:gridCol w="960120"/>
                <a:gridCol w="2267712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R05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· codificación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RDC40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diaria de solicitudes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5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atraso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indisponible el 15-09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deudores (semanal)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D10M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deudores (mensual)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REDEC (semanal)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RDC01M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REDEC (mensual)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Rectificaciones 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5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atraso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Reproceso de origen el 04-09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E23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de operaciones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(en retiro)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previsto sept.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· detalle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85C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de totales con D10; reenviado 12-09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Tasas de interés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colocaciones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(en retiro)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previsto sept.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Colocaciones por actividad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P22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(en retiro)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previsto sept.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 de débito y cajeros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85C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conciliar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 CMF no visible en el 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 de crédito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medios de pago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SERNAC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SERNAC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SERNAC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regulador; misma lógica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D51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· trimestral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A9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Próximo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Vence en octubre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GERENCIAL · INCIDENTES Y CONCILIACIÓN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262872" y="30175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F6F1D9"/>
          </a:solidFill>
          <a:ln w="9525">
            <a:solidFill>
              <a:srgbClr val="C9B45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262872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· EJEMPLO ILUSTRATIVO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gerencial de entrega de reportes normativos · Septiembre 2026 · ningún valor corresponde a entregas reales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Incidentes del periodo y lectura del reporte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42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Atrasos, observaciones y acuses pendientes registrados por la conciliación; reglas con que se asigna cada estado.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280160"/>
                <a:gridCol w="6976872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2026-09-04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Rectificación semanal enviada 2 h después del corte por reproceso en origen.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2026-09-10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 de la CMF por diferencia de totales con D10; archivo reenviado el 12-09.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2026-09-15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RDC40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diario 1,5 h tarde por indisponibilidad de la interfaz de origen.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 pendiente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 de la CMF no visible en el portal; conciliación pendiente con Supervisa.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5C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5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33375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4655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asigna el estado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794760"/>
            <a:ext cx="3209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tiempo: envío registrado antes del plazo y acuse recibido.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atraso: envío después del plazo del calendario normativo.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Observado: la CMF devolvió una observación; se reenvía y se cierra.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conciliar: envío interno sin acuse visible en CMF Supervisa.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sin vencimiento en el periodo.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06824" y="33375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9704" y="34655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Conciliación con el portal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489704" y="3794760"/>
            <a:ext cx="3209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de 70 entregas con acuse conciliado.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portal en sesión asistida: la persona inicia sesión, el asistente solo lee.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primaria: motor de envíos, buzón de acuses y PDF del área.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65008" y="33375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47888" y="34655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 de este ejemplo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47888" y="3794760"/>
            <a:ext cx="3209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interna de 95 % a tiempo: supuesto para ilustrar la lectura.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D02, P15 y P22 en retiro según Circular 2.376 (último envío sept. 2026).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 se entrega a otro regulador; D51 vence en octubre.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valores son ficticios.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2026-10-12T19:24:01Z</dcterms:created>
  <dcterms:modified xsi:type="dcterms:W3CDTF">2026-10-12T19:24:01Z</dcterms:modified>
</cp:coreProperties>
</file>